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fb9428718a47d8" /><Relationship Type="http://schemas.openxmlformats.org/officeDocument/2006/relationships/extended-properties" Target="/docProps/app.xml" Id="Rfe998fecfc2d4915" /><Relationship Type="http://schemas.openxmlformats.org/officeDocument/2006/relationships/officeDocument" Target="/ppt/presentation.xml" Id="R31787bd209834d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4e0d3c572c4943"/>
  </p:sldMasterIdLst>
  <p:notesMasterIdLst>
    <p:notesMasterId xmlns:r="http://schemas.openxmlformats.org/officeDocument/2006/relationships" r:id="Rd3ec172f0a5b420b"/>
  </p:notesMasterIdLst>
  <p:sldIdLst>
    <p:sldId xmlns:r="http://schemas.openxmlformats.org/officeDocument/2006/relationships" id="256" r:id="R270f770693ba48bc"/>
    <p:sldId xmlns:r="http://schemas.openxmlformats.org/officeDocument/2006/relationships" id="257" r:id="R90aafe6b39364120"/>
    <p:sldId xmlns:r="http://schemas.openxmlformats.org/officeDocument/2006/relationships" id="258" r:id="R6d4f2085dd41417b"/>
    <p:sldId xmlns:r="http://schemas.openxmlformats.org/officeDocument/2006/relationships" id="259" r:id="Ree78730fec314ee6"/>
    <p:sldId xmlns:r="http://schemas.openxmlformats.org/officeDocument/2006/relationships" id="260" r:id="R3e958fb03c7c499e"/>
    <p:sldId xmlns:r="http://schemas.openxmlformats.org/officeDocument/2006/relationships" id="261" r:id="R2b7707261c8444dc"/>
    <p:sldId xmlns:r="http://schemas.openxmlformats.org/officeDocument/2006/relationships" id="262" r:id="Re5e0593620754051"/>
    <p:sldId xmlns:r="http://schemas.openxmlformats.org/officeDocument/2006/relationships" id="263" r:id="R06663ed67e074c0c"/>
    <p:sldId xmlns:r="http://schemas.openxmlformats.org/officeDocument/2006/relationships" id="264" r:id="R86ba5dc4dcc649d3"/>
    <p:sldId xmlns:r="http://schemas.openxmlformats.org/officeDocument/2006/relationships" id="265" r:id="R6ae2c1166c9a45c5"/>
    <p:sldId xmlns:r="http://schemas.openxmlformats.org/officeDocument/2006/relationships" id="266" r:id="R0505376eb78b49d0"/>
    <p:sldId xmlns:r="http://schemas.openxmlformats.org/officeDocument/2006/relationships" id="267" r:id="Rbd408fc853124f77"/>
    <p:sldId xmlns:r="http://schemas.openxmlformats.org/officeDocument/2006/relationships" id="268" r:id="R2e91c13c87a24740"/>
    <p:sldId xmlns:r="http://schemas.openxmlformats.org/officeDocument/2006/relationships" id="269" r:id="R439cbefbb4bf46f5"/>
    <p:sldId xmlns:r="http://schemas.openxmlformats.org/officeDocument/2006/relationships" id="270" r:id="Rd674731f70324116"/>
    <p:sldId xmlns:r="http://schemas.openxmlformats.org/officeDocument/2006/relationships" id="271" r:id="R4aa51ad4d480437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71d56d6d45470c" /><Relationship Type="http://schemas.openxmlformats.org/officeDocument/2006/relationships/slideMaster" Target="/ppt/slideMasters/slideMaster1.xml" Id="R214e0d3c572c4943" /><Relationship Type="http://schemas.openxmlformats.org/officeDocument/2006/relationships/notesMaster" Target="/ppt/notesMasters/notesMaster1.xml" Id="Rd3ec172f0a5b420b" /><Relationship Type="http://schemas.openxmlformats.org/officeDocument/2006/relationships/presProps" Target="/ppt/presProps.xml" Id="R64d5e268ea70475f" /><Relationship Type="http://schemas.openxmlformats.org/officeDocument/2006/relationships/tableStyles" Target="/ppt/tableStyles.xml" Id="R4198d3c9da4a400a" /><Relationship Type="http://schemas.openxmlformats.org/officeDocument/2006/relationships/slide" Target="/ppt/slides/slide1.xml" Id="R270f770693ba48bc" /><Relationship Type="http://schemas.openxmlformats.org/officeDocument/2006/relationships/slide" Target="/ppt/slides/slide2.xml" Id="R90aafe6b39364120" /><Relationship Type="http://schemas.openxmlformats.org/officeDocument/2006/relationships/slide" Target="/ppt/slides/slide3.xml" Id="R6d4f2085dd41417b" /><Relationship Type="http://schemas.openxmlformats.org/officeDocument/2006/relationships/slide" Target="/ppt/slides/slide4.xml" Id="Ree78730fec314ee6" /><Relationship Type="http://schemas.openxmlformats.org/officeDocument/2006/relationships/slide" Target="/ppt/slides/slide5.xml" Id="R3e958fb03c7c499e" /><Relationship Type="http://schemas.openxmlformats.org/officeDocument/2006/relationships/slide" Target="/ppt/slides/slide6.xml" Id="R2b7707261c8444dc" /><Relationship Type="http://schemas.openxmlformats.org/officeDocument/2006/relationships/slide" Target="/ppt/slides/slide7.xml" Id="Re5e0593620754051" /><Relationship Type="http://schemas.openxmlformats.org/officeDocument/2006/relationships/slide" Target="/ppt/slides/slide8.xml" Id="R06663ed67e074c0c" /><Relationship Type="http://schemas.openxmlformats.org/officeDocument/2006/relationships/slide" Target="/ppt/slides/slide9.xml" Id="R86ba5dc4dcc649d3" /><Relationship Type="http://schemas.openxmlformats.org/officeDocument/2006/relationships/slide" Target="/ppt/slides/slide10.xml" Id="R6ae2c1166c9a45c5" /><Relationship Type="http://schemas.openxmlformats.org/officeDocument/2006/relationships/slide" Target="/ppt/slides/slide11.xml" Id="R0505376eb78b49d0" /><Relationship Type="http://schemas.openxmlformats.org/officeDocument/2006/relationships/slide" Target="/ppt/slides/slide12.xml" Id="Rbd408fc853124f77" /><Relationship Type="http://schemas.openxmlformats.org/officeDocument/2006/relationships/slide" Target="/ppt/slides/slide13.xml" Id="R2e91c13c87a24740" /><Relationship Type="http://schemas.openxmlformats.org/officeDocument/2006/relationships/slide" Target="/ppt/slides/slide14.xml" Id="R439cbefbb4bf46f5" /><Relationship Type="http://schemas.openxmlformats.org/officeDocument/2006/relationships/slide" Target="/ppt/slides/slide15.xml" Id="Rd674731f70324116" /><Relationship Type="http://schemas.openxmlformats.org/officeDocument/2006/relationships/slide" Target="/ppt/slides/slide16.xml" Id="R4aa51ad4d48043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c98edc7c8b46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06934ca8f54662" /><Relationship Type="http://schemas.openxmlformats.org/officeDocument/2006/relationships/notesMaster" Target="/ppt/notesMasters/notesMaster1.xml" Id="Rd43c6ca7b58c41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9a7cae933349d1" /><Relationship Type="http://schemas.openxmlformats.org/officeDocument/2006/relationships/notesMaster" Target="/ppt/notesMasters/notesMaster1.xml" Id="R8728023ecfb74f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79bf94566614780" /><Relationship Type="http://schemas.openxmlformats.org/officeDocument/2006/relationships/notesMaster" Target="/ppt/notesMasters/notesMaster1.xml" Id="Ra1a291354b5341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42991377c91488e" /><Relationship Type="http://schemas.openxmlformats.org/officeDocument/2006/relationships/notesMaster" Target="/ppt/notesMasters/notesMaster1.xml" Id="Ra137a5d3445e4cb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6be99aea0b4fed" /><Relationship Type="http://schemas.openxmlformats.org/officeDocument/2006/relationships/notesMaster" Target="/ppt/notesMasters/notesMaster1.xml" Id="R7c8e0168336d48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34a7257d9d64032" /><Relationship Type="http://schemas.openxmlformats.org/officeDocument/2006/relationships/notesMaster" Target="/ppt/notesMasters/notesMaster1.xml" Id="R1c5b013fd0374f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322c9dca4954d28" /><Relationship Type="http://schemas.openxmlformats.org/officeDocument/2006/relationships/notesMaster" Target="/ppt/notesMasters/notesMaster1.xml" Id="R6db315745fe24f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65bebfdbe146af" /><Relationship Type="http://schemas.openxmlformats.org/officeDocument/2006/relationships/notesMaster" Target="/ppt/notesMasters/notesMaster1.xml" Id="R0a8993373be24a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7e4360176734c4c" /><Relationship Type="http://schemas.openxmlformats.org/officeDocument/2006/relationships/notesMaster" Target="/ppt/notesMasters/notesMaster1.xml" Id="Re04a02dc2c1b40d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abf414d2b7f4362" /><Relationship Type="http://schemas.openxmlformats.org/officeDocument/2006/relationships/notesMaster" Target="/ppt/notesMasters/notesMaster1.xml" Id="R77c549955c8f482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73295a2aec846a0" /><Relationship Type="http://schemas.openxmlformats.org/officeDocument/2006/relationships/notesMaster" Target="/ppt/notesMasters/notesMaster1.xml" Id="Re332aa5bdb6046b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d641d9172284eaa" /><Relationship Type="http://schemas.openxmlformats.org/officeDocument/2006/relationships/notesMaster" Target="/ppt/notesMasters/notesMaster1.xml" Id="R4026db03fd704ca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057a0c14ffa41b9" /><Relationship Type="http://schemas.openxmlformats.org/officeDocument/2006/relationships/notesMaster" Target="/ppt/notesMasters/notesMaster1.xml" Id="R9fd98832e0324cb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3c20fbf10ae4412" /><Relationship Type="http://schemas.openxmlformats.org/officeDocument/2006/relationships/notesMaster" Target="/ppt/notesMasters/notesMaster1.xml" Id="R37bf24630166415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73f194f96aa4d8a" /><Relationship Type="http://schemas.openxmlformats.org/officeDocument/2006/relationships/notesMaster" Target="/ppt/notesMasters/notesMaster1.xml" Id="Rba5035771f9b410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214c4782d384492" /><Relationship Type="http://schemas.openxmlformats.org/officeDocument/2006/relationships/notesMaster" Target="/ppt/notesMasters/notesMaster1.xml" Id="Re8dfbec66fe049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cd00eb65df45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034d5a6c324b13" /><Relationship Type="http://schemas.openxmlformats.org/officeDocument/2006/relationships/slideLayout" Target="/ppt/slideLayouts/slideLayout1.xml" Id="Rc07f846fe794493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7f846fe794493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fd31a88bc4a88" /><Relationship Type="http://schemas.openxmlformats.org/officeDocument/2006/relationships/image" Target="/ppt/media/image.png" Id="Rd71bea17cdd6467f" /><Relationship Type="http://schemas.openxmlformats.org/officeDocument/2006/relationships/image" Target="/ppt/media/image2.png" Id="Rad5154df3e6f484b" /><Relationship Type="http://schemas.openxmlformats.org/officeDocument/2006/relationships/notesSlide" Target="/ppt/notesSlides/notesSlide1.xml" Id="Rd0dbe0e22d5440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2586d8b0d42c2" /><Relationship Type="http://schemas.openxmlformats.org/officeDocument/2006/relationships/hyperlink" Target="https://support.huaweicloud.com/productdesc-codeartssnap/codeartsdoer_pd_0001.html" TargetMode="External" Id="Rdae8bf8c64bc4cb5" /><Relationship Type="http://schemas.openxmlformats.org/officeDocument/2006/relationships/hyperlink" Target="https://code.claude.com/docs/en/overview" TargetMode="External" Id="R7098644ecc7b442e" /><Relationship Type="http://schemas.openxmlformats.org/officeDocument/2006/relationships/hyperlink" Target="https://docs.qoder.com/" TargetMode="External" Id="R82d969c881164cfb" /><Relationship Type="http://schemas.openxmlformats.org/officeDocument/2006/relationships/hyperlink" Target="https://learn.chatgpt.com/docs" TargetMode="External" Id="R6909db7e8c1849d0" /><Relationship Type="http://schemas.openxmlformats.org/officeDocument/2006/relationships/notesSlide" Target="/ppt/notesSlides/notesSlide2.xml" Id="Rfa5f4e39bf5b4c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d0e486d7824066" /><Relationship Type="http://schemas.openxmlformats.org/officeDocument/2006/relationships/image" Target="/ppt/media/image3.png" Id="Rb5fe3dff75b04c28" /><Relationship Type="http://schemas.openxmlformats.org/officeDocument/2006/relationships/hyperlink" Target="https://docs.bigmodel.cn/cn/coding-plan/learning-resources/how-coding-agent-works" TargetMode="External" Id="R4057885ca4704e73" /><Relationship Type="http://schemas.openxmlformats.org/officeDocument/2006/relationships/notesSlide" Target="/ppt/notesSlides/notesSlide3.xml" Id="R72058508475440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e822afd21a4019" /><Relationship Type="http://schemas.openxmlformats.org/officeDocument/2006/relationships/hyperlink" Target="https://docs.bigmodel.cn/cn/coding-plan/learning-resources/common-workflow" TargetMode="External" Id="Redb69ea069a64ef5" /><Relationship Type="http://schemas.openxmlformats.org/officeDocument/2006/relationships/notesSlide" Target="/ppt/notesSlides/notesSlide4.xml" Id="R04ef0c4bfd4d46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d8ef6f1ad4e8e" /><Relationship Type="http://schemas.openxmlformats.org/officeDocument/2006/relationships/hyperlink" Target="https://support.huaweicloud.com/usermanual-codeartssnap/codeartsagent_ug_0001.html" TargetMode="External" Id="R22b3ee214d254325" /><Relationship Type="http://schemas.openxmlformats.org/officeDocument/2006/relationships/hyperlink" Target="https://docs.qoder.com/user-guide/indexing" TargetMode="External" Id="R12ec681f116d43ae" /><Relationship Type="http://schemas.openxmlformats.org/officeDocument/2006/relationships/hyperlink" Target="https://docs.qoder.com/user-guide/repo-wiki" TargetMode="External" Id="R05696598e1eb493e" /><Relationship Type="http://schemas.openxmlformats.org/officeDocument/2006/relationships/hyperlink" Target="https://docs.qoder.com/account/enterprise/qmind" TargetMode="External" Id="R9a3dedd4d5df41a7" /><Relationship Type="http://schemas.openxmlformats.org/officeDocument/2006/relationships/notesSlide" Target="/ppt/notesSlides/notesSlide5.xml" Id="Rc667ab24b83244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30e6ac2d434599" /><Relationship Type="http://schemas.openxmlformats.org/officeDocument/2006/relationships/image" Target="/ppt/media/image.jpeg" Id="R8affd2efc5374d30" /><Relationship Type="http://schemas.openxmlformats.org/officeDocument/2006/relationships/hyperlink" Target="https://docs.qoder.com/account/enterprise/knowledge-base" TargetMode="External" Id="Rfa8d0510899e4410" /><Relationship Type="http://schemas.openxmlformats.org/officeDocument/2006/relationships/hyperlink" Target="https://qoder.com/blog/qoder-llm?type=%E6%8A%80%E6%9C%AF" TargetMode="External" Id="Rffac09f00f9e4125" /><Relationship Type="http://schemas.openxmlformats.org/officeDocument/2006/relationships/hyperlink" Target="https://support.huaweicloud.com/usermanual-codeartssnap/codeartsagent_ug_0001.html" TargetMode="External" Id="R04c6ece55ad94452" /><Relationship Type="http://schemas.openxmlformats.org/officeDocument/2006/relationships/notesSlide" Target="/ppt/notesSlides/notesSlide6.xml" Id="Rdf5a79eece214d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01bd79fa34a67" /><Relationship Type="http://schemas.openxmlformats.org/officeDocument/2006/relationships/hyperlink" Target="https://code.claude.com/docs/en/workflows" TargetMode="External" Id="R204c3f105c7849ac" /><Relationship Type="http://schemas.openxmlformats.org/officeDocument/2006/relationships/hyperlink" Target="https://code.claude.com/docs/en/goal" TargetMode="External" Id="R8294486ad6934798" /><Relationship Type="http://schemas.openxmlformats.org/officeDocument/2006/relationships/hyperlink" Target="https://docs.qoder.com/user-guide/quest/spec-driven" TargetMode="External" Id="R8052ce668b924742" /><Relationship Type="http://schemas.openxmlformats.org/officeDocument/2006/relationships/hyperlink" Target="https://docs.trae.ai/ide/solo-mode" TargetMode="External" Id="Recf056ac32ec481c" /><Relationship Type="http://schemas.openxmlformats.org/officeDocument/2006/relationships/notesSlide" Target="/ppt/notesSlides/notesSlide7.xml" Id="Re5b4b4cfceff44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5b90d7c220473b" /><Relationship Type="http://schemas.openxmlformats.org/officeDocument/2006/relationships/hyperlink" Target="https://code.claude.com/docs/en/agent-teams" TargetMode="External" Id="Re2cdf5775b06423f" /><Relationship Type="http://schemas.openxmlformats.org/officeDocument/2006/relationships/hyperlink" Target="https://code.claude.com/docs/en/workflows" TargetMode="External" Id="Ra32a9d99c575433f" /><Relationship Type="http://schemas.openxmlformats.org/officeDocument/2006/relationships/hyperlink" Target="https://docs.qoder.com/user-guide/quest/overview" TargetMode="External" Id="R2c15f558863047f2" /><Relationship Type="http://schemas.openxmlformats.org/officeDocument/2006/relationships/hyperlink" Target="https://support.huaweicloud.com/usermanual-codeartssnap/codeartsagent_ug_0052.html" TargetMode="External" Id="Ra836b154dd7547b7" /><Relationship Type="http://schemas.openxmlformats.org/officeDocument/2006/relationships/notesSlide" Target="/ppt/notesSlides/notesSlide8.xml" Id="R558e89da88c14e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6ba6ea1c694c19" /><Relationship Type="http://schemas.openxmlformats.org/officeDocument/2006/relationships/hyperlink" Target="https://github.com/Fission-AI/OpenSpec" TargetMode="External" Id="Rf9a5976cf84248d0" /><Relationship Type="http://schemas.openxmlformats.org/officeDocument/2006/relationships/notesSlide" Target="/ppt/notesSlides/notesSlide9.xml" Id="Ra500f06bfce146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f072925f3148e6" /><Relationship Type="http://schemas.openxmlformats.org/officeDocument/2006/relationships/hyperlink" Target="https://github.com/obra/superpowers" TargetMode="External" Id="R2c83f97408a44840" /><Relationship Type="http://schemas.openxmlformats.org/officeDocument/2006/relationships/notesSlide" Target="/ppt/notesSlides/notesSlide10.xml" Id="Rfec8b9c557e342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2c0ef680244f9" /><Relationship Type="http://schemas.openxmlformats.org/officeDocument/2006/relationships/image" Target="/ppt/media/image.bin" Id="R8b49cf9088c745f6" /><Relationship Type="http://schemas.openxmlformats.org/officeDocument/2006/relationships/hyperlink" Target="https://qoder.com/blog/qoder-v1-mega-rewrite" TargetMode="External" Id="Rbe6df2a330374fda" /><Relationship Type="http://schemas.openxmlformats.org/officeDocument/2006/relationships/hyperlink" Target="https://docs.qoder.com/user-guide/quest/execution-environments" TargetMode="External" Id="R5cf0762b88174d6b" /><Relationship Type="http://schemas.openxmlformats.org/officeDocument/2006/relationships/notesSlide" Target="/ppt/notesSlides/notesSlide11.xml" Id="Rdd6e522aae0d492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4b89ed75e4b75" /><Relationship Type="http://schemas.openxmlformats.org/officeDocument/2006/relationships/image" Target="/ppt/media/image4.png" Id="R495e074d23834461" /><Relationship Type="http://schemas.openxmlformats.org/officeDocument/2006/relationships/hyperlink" Target="https://docs.trae.ai/ide/figma-to-code" TargetMode="External" Id="Rad579d9079924206" /><Relationship Type="http://schemas.openxmlformats.org/officeDocument/2006/relationships/hyperlink" Target="https://help.figma.com/hc/en-us/categories/14559151746583-Dev-Mode" TargetMode="External" Id="R40ec755ed9d54a2a" /><Relationship Type="http://schemas.openxmlformats.org/officeDocument/2006/relationships/notesSlide" Target="/ppt/notesSlides/notesSlide12.xml" Id="R9d52fbac67cd4af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601bcf736c46f7" /><Relationship Type="http://schemas.openxmlformats.org/officeDocument/2006/relationships/hyperlink" Target="https://learn.chatgpt.com/docs/browser" TargetMode="External" Id="R2ea858a3d2f040e6" /><Relationship Type="http://schemas.openxmlformats.org/officeDocument/2006/relationships/hyperlink" Target="https://docs.trae.ai/ide/browser-and-preview" TargetMode="External" Id="R1034756159474cc0" /><Relationship Type="http://schemas.openxmlformats.org/officeDocument/2006/relationships/hyperlink" Target="https://playwright.dev/docs/best-practices" TargetMode="External" Id="R5ff14dbcea0a44bb" /><Relationship Type="http://schemas.openxmlformats.org/officeDocument/2006/relationships/notesSlide" Target="/ppt/notesSlides/notesSlide13.xml" Id="R8622a4172c014f0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9e9fbe57ba4a81" /><Relationship Type="http://schemas.openxmlformats.org/officeDocument/2006/relationships/hyperlink" Target="https://learn.chatgpt.com/docs/pricing" TargetMode="External" Id="R7397732643fb4b4e" /><Relationship Type="http://schemas.openxmlformats.org/officeDocument/2006/relationships/hyperlink" Target="https://platform.openai.com/docs/guides/prompt-caching" TargetMode="External" Id="R4f6caed055a74b40" /><Relationship Type="http://schemas.openxmlformats.org/officeDocument/2006/relationships/hyperlink" Target="https://docs.qoder.com/user-guide/context-compression" TargetMode="External" Id="R0383baa7dcf14fac" /><Relationship Type="http://schemas.openxmlformats.org/officeDocument/2006/relationships/hyperlink" Target="https://docs.anthropic.com/en/docs/build-with-claude/prompt-caching" TargetMode="External" Id="R0601fc48878b456c" /><Relationship Type="http://schemas.openxmlformats.org/officeDocument/2006/relationships/notesSlide" Target="/ppt/notesSlides/notesSlide14.xml" Id="Rb744573f4d48495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f47c4b98a0451a" /><Relationship Type="http://schemas.openxmlformats.org/officeDocument/2006/relationships/hyperlink" Target="https://codearts.huaweicloud.com/pricing.html" TargetMode="External" Id="R3c67089a16074de9" /><Relationship Type="http://schemas.openxmlformats.org/officeDocument/2006/relationships/hyperlink" Target="https://support.claude.com/en/articles/11049762-choose-a-claude-plan" TargetMode="External" Id="R0cefa12f8a1c4589" /><Relationship Type="http://schemas.openxmlformats.org/officeDocument/2006/relationships/hyperlink" Target="https://docs.qoder.com/account/pricing" TargetMode="External" Id="R60be361d43fd40ee" /><Relationship Type="http://schemas.openxmlformats.org/officeDocument/2006/relationships/hyperlink" Target="https://learn.chatgpt.com/docs/pricing" TargetMode="External" Id="Racc37a8f8aeb481d" /><Relationship Type="http://schemas.openxmlformats.org/officeDocument/2006/relationships/notesSlide" Target="/ppt/notesSlides/notesSlide15.xml" Id="R018394ff4d3a4bc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ce9c64abc4dff" /><Relationship Type="http://schemas.openxmlformats.org/officeDocument/2006/relationships/hyperlink" Target="https://codearts.huaweicloud.com/pricing.html" TargetMode="External" Id="R1587ced3e62843e1" /><Relationship Type="http://schemas.openxmlformats.org/officeDocument/2006/relationships/hyperlink" Target="https://docs.qoder.com/account/pricing" TargetMode="External" Id="R481324c21b4e4e85" /><Relationship Type="http://schemas.openxmlformats.org/officeDocument/2006/relationships/hyperlink" Target="https://cursor.com/pricing" TargetMode="External" Id="R45c81025d6f74a78" /><Relationship Type="http://schemas.openxmlformats.org/officeDocument/2006/relationships/hyperlink" Target="https://www.trae.ai/pricing" TargetMode="External" Id="R34060ed266574bdc" /><Relationship Type="http://schemas.openxmlformats.org/officeDocument/2006/relationships/notesSlide" Target="/ppt/notesSlides/notesSlide16.xml" Id="R60e3b0d5963342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1bea17cdd6467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8CE2E1-CD66-436F-B325-AC5A76E5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810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AI Coding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30CBFC-3FA8-470D-A55B-E629281C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38275"/>
            <a:ext cx="571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工具能力赋能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81DB7A-6169-4FF9-8216-FEF7F0F0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118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A90D6E-CB16-4B22-A412-76E1C2B1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能力框架 · 编程模式 · Agent工程实践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9A9194-BA4D-4DEE-BB60-36FE6B7D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0515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华为云码道 / Claude Code / Qoder / OpenAI Codex / Cursor / Trae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F052DB-A8FC-49D1-8A93-EA1A2A1F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部门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0BFB01-C677-4AB5-AC02-144616B3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15BBC0-B3C4-4BD3-930F-89CC8075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E506FA-73D4-4FD5-8B29-2C985CD5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8125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作者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C22820-E852-45A6-ADF0-0B4CBD3CF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48125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____________________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259B69-2586-42E6-992F-FD659554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EF7318-7495-4F05-B7D6-BDEB304F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日期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49DF1-81E3-451D-BD3C-6CC3033C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2026年7月23日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1A83D6-028A-4763-9FBC-FBAF5698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A6F08F-48F2-45A9-9F27-6E14B897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686300"/>
            <a:ext cx="68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安全级别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57518E-02DC-420F-8514-3795F6C3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86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内部公开（可修改）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BF448E-5CC2-40A1-AB9C-DB2AD05A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81575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5154df3e6f484b"/>
          <a:stretch xmlns:a="http://schemas.openxmlformats.org/drawingml/2006/main"/>
        </p:blipFill>
        <p:spPr>
          <a:xfrm xmlns:a="http://schemas.openxmlformats.org/drawingml/2006/main">
            <a:off x="9715500" y="5811861"/>
            <a:ext cx="1885950" cy="42540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4326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EFB73A-200F-473F-8EBE-B2F82B9D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六类能力共同构成 AI Coding 的工程闭环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429E7A-496B-40CE-96F8-EAB0F59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D14715-99EC-4D72-956D-F4A27BFF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805F3B-C017-4FC9-9037-40501BC2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上下文与知识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9C36F9-E2A8-4FDF-A39B-651CE127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Codebase · CodeWiki · 知识引擎 · 规则/记忆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FA3A32-FB42-41F3-9D70-7EF9D1F6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读懂仓库、业务和团队约束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383295-92C0-4755-987D-0C6C83B2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CE2418-B688-4609-9407-AC7BD032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6A2D40-FF2B-4596-AF13-A994CECC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任务与编程模式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C6BD72-58EC-453F-8828-2F5C693E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Workflow · Goal · SDD · Solo · 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7CF9A-7865-43BD-B036-F20BD478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把需求变成可跟踪执行过程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EAD690-3BC3-447A-9DEA-4FD65A8A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66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D6429A-B203-4AD4-9014-205B4BE1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19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3FE442-27EE-4B2B-80C5-54ABEB38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00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Agent协作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94E6C0-E836-420A-86F4-3FA7B297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47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 Agent · Agent Team · Worktree · Cloud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0D123-0228-45FE-A157-319EA7C3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并行分工并隔离上下文与代码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82705D-894F-4107-AE4F-A77711A8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444969-86B2-42F8-BF6B-1376F659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EE5A7C-F42C-447F-BB6D-7EB619D2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工具与交互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761E6B-C51F-43B4-9FD3-BFEBE6CD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CLI · MCP · Hooks · Browser · Figma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0D76E7-60C6-4C1F-8FA2-5B5A928B9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连接终端、浏览器和外部系统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674364-E4DA-4D19-8101-7A43AEA9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7A9BE1-5A9A-406D-89F3-2D52A871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F59869-8F44-4FCB-B73F-30A4900B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体验与交付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5FD209-AAE1-4734-B6A8-0C117AB81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Artifacts · Canvas · LSP · Debug · Channels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C0B58E-0FFE-424D-B586-F498B79B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缩短从想法到可运行成果的路径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710E1E-ED16-415F-82F6-80C6B1A5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71850"/>
            <a:ext cx="33337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494F76-FC6A-4720-A3FF-8824991A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E125B4-5CD4-4682-94F4-5BF1EA4C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05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质量与治理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8187F5-46F0-4007-B38D-2E90EE83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52875"/>
            <a:ext cx="2990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Review · Security · Sandbox · 审计/配置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D378F1-AC36-4850-ADA6-37E6D7C6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让结果可验证、风险可追踪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81FEE3-072B-40AB-9C6E-DF90213F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57825"/>
            <a:ext cx="10801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判断标准：上下文可靠 → 过程可控 → 结果可审 → 风险可追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03A029-B06A-4259-9177-3B233AB2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dae8bf8c64bc4cb5"/>
              </a:rPr>
              <a:t>码道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098644ecc7b442e"/>
              </a:rPr>
              <a:t> · Claude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2d969c881164cfb"/>
              </a:rPr>
              <a:t> · Qoder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909db7e8c1849d0"/>
              </a:rPr>
              <a:t> · Codex</a:t>
            </a:r>
          </a:p>
        </p:txBody>
      </p:sp>
    </p:spTree>
    <p:extLst>
      <p:ext uri="{BB962C8B-B14F-4D97-AF65-F5344CB8AC3E}">
        <p14:creationId xmlns:p14="http://schemas.microsoft.com/office/powerpoint/2010/main" val="16755827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1103384-8B7C-47B7-980F-590824C4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Agentic Loop把模型推理转化为可执行、可观察、可收敛的工程循环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AFF06D-320E-4785-9536-4D3E87156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54673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fe3dff75b04c28"/>
          <a:stretch xmlns:a="http://schemas.openxmlformats.org/drawingml/2006/main"/>
        </p:blipFill>
        <p:spPr>
          <a:xfrm xmlns:a="http://schemas.openxmlformats.org/drawingml/2006/main">
            <a:off x="722173" y="1390650"/>
            <a:ext cx="5127905" cy="2590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547334-129A-46AF-9E53-9A561DF9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239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AD3B66-073E-4D9A-84A9-0948782A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763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E1FAE6-586D-4334-BDFB-D5CDEA6E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4573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获取上下文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CB050D-207C-4682-95D6-F0EBDA9B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8097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搜索代码、读取文件、项目规则、历史状态与用户补充信息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1D409F-DD6F-4A25-86F0-90543B374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383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93192E-21E1-4664-89DE-F621730F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907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03DF6B-7DF6-4FEC-B8F8-E3AAEFEE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717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执行操作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926606-A545-486C-8C0D-74302428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模型选择工具：修改文件、运行命令、访问Web或调用外部服务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9E8048-14E9-4C7E-B4BE-B8543735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52775"/>
            <a:ext cx="523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9FBEFF-CC0D-4AEA-A1BB-464E133E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051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10B833-D09E-4E0B-8A8E-7451DBE0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86125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E969D5-7514-4A8F-85D5-93678B60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638550"/>
            <a:ext cx="489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读取工具观察值，以测试、构建、Diff和验收条件判断下一步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4B7679-4473-4D98-B3CE-79AE48D0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62450"/>
            <a:ext cx="110680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C2CDBB-EDCE-4094-8E42-F1160CD7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3425"/>
            <a:ext cx="1238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循环状态机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FDBB89-FB7B-4847-BF75-D8AA4EFF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8C4F53-2370-498B-A9C3-C515C6B1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E3613E-581A-4BE6-969D-4EA9DC6A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9DE1F3-13E6-4A1F-9984-295F4A0EA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2480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75C56C-780C-4B28-94E4-B453F980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811D80-2CCF-4DD4-9BEB-7EB9AB26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08835E-7602-4548-8186-9DBE3E71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1B5A04-2FE2-452C-8B87-CFA3F4BB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5339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8142A7-93CF-41FE-A7E4-9FC64E30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B5E3A3-DF5F-47F0-9A74-D66B5DA6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DF1783-9607-4C3C-9B61-FECBB6B8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B292B7-FDF2-4B5D-84B0-47BE264F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1977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141024-558A-47CB-8DC3-7870239BD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244FB9-685B-4379-AEE4-B2D4943B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工具调用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493BC0-39D5-40B9-A41D-E55A3124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2631C9-6E8B-49CB-94ED-CFDC776E7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0565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B53CCC-A995-4AF3-92D9-E14241D4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2187CF-E6EE-4BDE-876D-ACE3F10A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DDA6A2C-307B-493F-BE8A-58F815F4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9F4880-F1BB-4D6C-BD69-CAA5F2FF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91525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9F46891-D8C0-42D8-8FD0-FE58EE52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6CF50C-607D-4611-81AC-5F10F493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A0AE342-17EC-41CC-9365-E8EAA24E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577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F387A4-B13A-4031-8A06-3EB22729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77400" y="45910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3E1A5A5-FF17-4182-B4F4-26FFBD25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495800"/>
            <a:ext cx="1066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B9C204-47FF-4C28-BEE8-209C0AB4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5339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继续 / 结束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CCE481-57A3-416D-8185-EAF25B26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14900"/>
            <a:ext cx="895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观察结果会更新上下文并触发重新规划；用户可随时中断、补充上下文或改变方向。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4B32DE-153A-4424-9771-F3989C3F0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C7DD050-DB36-4D31-A4B6-29C12118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定义可验证停止条件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95C05F6-8506-4AB2-8534-98C18F3B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5C4ACA1-D267-49DC-AF5B-26D29E58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在外层编排多个Loop/阶段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D7768AC-384C-46B9-98DE-AACC0881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2925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Subagent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F830C13-136C-4A96-A725-E54771C2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429250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形成嵌套且隔离的子Loop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32B71F2-024F-40AF-ADF3-D1184169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Skills / MCP / Hooks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CD78FA7-9FDD-4E0D-8065-DFC810AB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扩展决策、工具和生命周期动作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459B8E0-8BAF-43F3-9EDD-E8B2ED74E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Memory / Rules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BE9826A-1479-4548-B59A-74562A28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提供跨轮次稳定上下文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AC4C630-F698-4A96-9DC9-48C707BC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819775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Sandbox / Review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7C4446E-4FAD-4CD9-B831-EDA23422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81977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限制动作并形成质量闸门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466468E-554C-4A1C-9AFF-9DC2EED5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057885ca4704e73"/>
              </a:rPr>
              <a:t>智谱：Coding Agent工作原理</a:t>
            </a:r>
          </a:p>
        </p:txBody>
      </p:sp>
    </p:spTree>
    <p:extLst>
      <p:ext uri="{BB962C8B-B14F-4D97-AF65-F5344CB8AC3E}">
        <p14:creationId xmlns:p14="http://schemas.microsoft.com/office/powerpoint/2010/main" val="4055427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FF7B5B6-902C-4AA9-B257-0AEB03ED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常见工作流共享同一主线：探索 → 计划 → 执行 → 验证 → 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3B93E1-06EB-47D1-AD1A-FAA87171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4ADC3-AF6C-47D1-9DB0-4808CF82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E014B8-9B3E-4637-BB3E-6F3AEBED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探索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8D4FC4-0000-447B-83C8-9E8C29BE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从宽到窄理解上下文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D240FC-38E4-4BAB-B76A-53A73877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F3EC9-E192-4839-B11B-74BBAAA7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289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131CD7-FE20-43AF-9492-38D0732E8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41DAFE-56DB-42E8-9E6B-5DE08F11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33ECC4-2F9F-4449-9236-AF97A4EBF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计划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DB165F-92F5-4131-AA76-F01AE99A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明确范围、风险与验收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E8B091-AE14-4A16-A3D2-DCBC32CA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24F72A-A155-4D33-BD13-1D3EF717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387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CBF8F6-7C7D-4C85-8C19-319AD0B7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5D4B0E-36DB-48A1-B254-482864BD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822D16-6271-4C9C-8AD9-E0355A6B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BB8B54-EEB7-4BFD-9684-86E76D8B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小步修改或委派子Agent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3BD036-147F-4038-AC9D-6A1CD0EE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92F864-F2DF-4532-BEB0-5CA9B4665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485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43A3AD-7590-4E1F-B90B-9D8A6C67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950D0C-C1E4-4AC3-8286-107AFDC7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A5B32B-4C01-4519-B6AA-B4DFDCBE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97A206-B277-4ED3-A27F-E2CDB223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测试、构建、Diff和规则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3EC5C4-2B7E-4F44-9788-38CF0D8C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24025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7B95D7-A5F9-43B8-860A-1B9B9B18B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58300" y="16573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19CB84-76C4-4333-A814-0E80DEE4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323975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EAB5FC-49D7-4288-9206-1384FEC4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457325"/>
            <a:ext cx="323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C953BE-BC0E-46C8-BFB1-4A0E5AD3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38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0AB09E-F10F-4C6C-A30D-8BCD215C5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0022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PR、文档、证据与回写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0CC048-9EF7-438C-9F37-89105955D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9F91AE-90FE-4E15-A4BB-6FBD2D54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理解新代码库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D07603-9540-4054-A1B1-570DB4B1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概览→架构/术语→相关文件→追踪端到端流程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B12264-6F10-4DD0-AB15-1973946E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CAF5B7A-3BFA-4BAA-B09A-D45DE4DB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完成标准：架构图、入口、关键模型与调用链可解释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92E965-808B-47F3-85E4-AE28686B0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324306-F2C9-4E2F-861E-BA39F08E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修复 Bug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320543-E18B-472E-A8E3-821630FE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复现→堆栈/日志→提出假设→最小修复→回归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C6B977-4F84-4948-93DF-397E2149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6644128-930E-4905-A0B8-AC0066FF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完成标准：原问题不再复现，相关测试通过且无新增错误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C8A202-06E6-4AA1-AEFB-725726CC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CCC566-DEC7-416D-BE2E-7DEBA27B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6700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重构代码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F36B6B-A694-4A4C-A822-78F963EE6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0990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识别遗留→评估兼容性→小步迁移→行为验证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67F1521-D1C8-446F-B3A5-1FC5446C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71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2EECBFA-6BB9-4562-AB69-D5DB65F7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57575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完成标准：行为保持一致，接口/性能/兼容性满足约束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C4ECFEC-96C7-4381-928A-BBF497F7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EF288C-6E21-49E2-9011-60CE68BD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编写测试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3C5091D-B42D-4ACC-814B-ED1963C6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找覆盖缺口→生成框架→边界/异常→运行修复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61A32C-8FAF-481D-B747-99B6F3A1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45EF7E-B035-4853-A6E2-892CFDC2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完成标准：测试有意义、可重复，失败能定位真实问题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3389DAE-106A-47B7-A5DF-28433A83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736FAED-D728-4F1B-A317-1CDB35E6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创建 PR / Review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B6CBF0-C468-43BE-90F0-F5ED3F42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总结Diff→识别风险→完善说明→运行CI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FF93EAF-C8BC-4762-9AD5-E49569DF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7676510-C1C7-4628-9684-55ADAB6EA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完成标准：审查者能理解目的、影响面、验证和回滚方式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9D662C7-E254-4B4F-A996-61F9179A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971925"/>
            <a:ext cx="3448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5BF4E00-5305-4518-AFBE-0D58D536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05275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处理文档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B86218F-33A0-42ED-89CF-9CE69519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48175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找未记录接口→补说明/示例→规范检查→验证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D5605DA-380A-46E8-8357-347121F1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10125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32FAD0B-2803-40BE-9D37-EDADC9D2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95850"/>
            <a:ext cx="3105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完成标准：公共API与复杂逻辑有准确、可维护的说明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8320532-22D9-4022-A298-1A5AF8F0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1068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1585477-848E-4E16-8525-C18D6EC2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24525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三项横向控制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CCB4199-B823-4D18-BB11-D6D22C7D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715000"/>
            <a:ext cx="9220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Plan Mode：复杂任务先只读分析  |  Subagents：按角色和最小工具权限委派  |  @文件/目录：精准注入上下文，避免全仓粘贴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4F57B03-97BC-496D-B386-C7E5895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db69ea069a64ef5"/>
              </a:rPr>
              <a:t>智谱：常用工作流</a:t>
            </a:r>
          </a:p>
        </p:txBody>
      </p:sp>
    </p:spTree>
    <p:extLst>
      <p:ext uri="{BB962C8B-B14F-4D97-AF65-F5344CB8AC3E}">
        <p14:creationId xmlns:p14="http://schemas.microsoft.com/office/powerpoint/2010/main" val="54397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6AD7F39-023E-4B8B-85F4-6D9AF99E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Codebase解决“找得到”，CodeWiki解决“看得懂”，图谱解决“串得起”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C8041-B95E-419B-A1A8-7420A48C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536D94-E013-4330-B071-743A1AA6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源数据层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3D2F3B-C814-42FC-8BB2-0C246F5B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 / 文档 / 提交 / Issue / 配置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0A0D75-3B03-4679-BB80-7B7B10D7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F129BF-BB3B-4A8C-AA8C-3684BA1F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384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D0C41-9CE6-412D-BB2A-BAF635D2C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BCCC26-FE1A-4628-922A-96452F83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271F0F-DFCD-4D5C-BAEF-43A85300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Tree-sitter / AST / LSP / 符号表 / 依赖解析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6DF054-BC49-41E6-B91F-DD6DF80E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8BC131-BE20-480E-9076-20E0DB0C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482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27CD89-1000-49A1-A4C6-CDEEE753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0A8CCD-2EDA-4BA7-9B6C-CC42EBC7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索引层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C329E1-3E96-4A69-9C49-1E434E44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倒排索引 + 向量索引 + 图数据库 + 增量更新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FCC0E4-9340-4073-9DB3-D978455C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63ED8E-E011-4E89-B7DD-FAFF2439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0580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914D24-14D7-4F50-8FC5-702DA839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0EB91C-D750-4774-8ECA-F9ED2C35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知识层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A4F13A-A9A4-469E-B338-6378A2B6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模块摘要 / API说明 / Repo Wiki / 知识卡片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A6F1E7-D7E1-49A8-B2FC-96967EF0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57400"/>
            <a:ext cx="114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91F53C-B11D-41CD-951E-2A2A8295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67825" y="199072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6DE7E7-D78E-4994-BEFA-9A36DE42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38275"/>
            <a:ext cx="2000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09F840-EF2E-4892-BC74-14D096F9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6002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运行时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F82BE9-54C8-4D7F-9863-4F44528B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意图理解 → 混合检索 → 重排 → 上下文装配 → 引用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E3AC99-3149-426D-855D-D3D7BAF62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技术能力对比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609DA1-9FE9-4CB5-89FD-8E62DE2C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718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DCD3A5-AFA8-429B-BE95-4DBC7D3C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290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AC2B0A-A3E1-4CF2-9750-B868388F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4377B1-CDD0-4AEB-8EFE-18602403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9BC739-7DEE-475B-9AF6-A2B9C4BC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3718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F66636-CFD3-4F98-A754-2D0B5345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4290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优势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B060A2-9D72-4708-AB94-44004EA4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3718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47AF0C-DCAC-4BB7-B78C-75D24715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429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092BCE-9FC0-49AD-AF94-C0BE2818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3718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D77E90-5B6B-47CB-B57D-0AF2C935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4290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FED7CE-5566-4EC3-A735-379EC2BB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719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27F5C10-866C-4319-B6DE-2F3B4E5C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290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Codebase Index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DF7DBA8-2E10-4A0F-85F8-1ABDB770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2D2B27-AC75-43FF-A731-AC024EBE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相关文件/符号/片段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4EBCC6-28BA-4FB5-B0CC-F59CE8D0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7719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FDA69D-65A8-4357-A963-CD34DD3B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8290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实时任务召回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B53693-3774-4CC4-B390-A31D8672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7719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8B3B3A4-EDDE-4FBF-A578-E518D566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8290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噪声、遗漏、权限越界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CFF2D38-CF02-4DBB-A5DB-F68BC17A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7719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5F667CD-E336-4527-A762-3FF7CF45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8290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Recall@K、MRR、时效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80F436-BB30-4619-9140-73AC5CB3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719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DFBF82B-E6BF-4823-8F26-1D3A922F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CodeWiki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685D9A-802D-406E-A639-078E7B94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331D3B-FCB1-450D-8D38-BBF68BDF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架构/模块/API解释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3DB8E4-B84B-4498-A33E-FCF82A29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1719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8FC7519-4636-4211-B00D-68D92E81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2291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新人和存量项目理解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085A2BE-3D7A-43D8-8CA8-97A3D9D9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1719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071D03C-1A76-44CB-ADD6-4FD466AD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2291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摘要过期、事实失真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733EFE5-0556-40B2-A85F-B62DA95E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1719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567D555-2AE3-4329-BBF1-5E242603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2291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覆盖率、引用率、过期率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AAF5E54-49BF-453C-8A42-29EF9348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464777-868B-439C-8C73-FDA6C49B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2915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Knowledge Graph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8726DC3-BCBC-4147-A8AE-04D5CBE4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D665428-FEF9-4A93-B727-5BBD03B8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实体、依赖与调用关系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6B5462F-D8C5-4C89-BD40-37DD4401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572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B635EB4-E830-4969-AE6A-8054C76C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62915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跨模块影响分析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CC41C0D-3E35-49ED-B331-D99E5DDC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572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374BEA4-5F41-4148-B1FE-ED91CB2D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62915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关系抽取成本高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141D57C-81C7-4F81-9626-5BF5CE38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57200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1BB64AB-2CDF-4F15-A254-3CC406D2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2915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边准确率、路径命中率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3B87501-69C5-48AE-8F7A-A8557F38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D656E96-D4EF-46FB-B3C4-012ABB16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1704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Knowledge Card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137BAB0-9926-4DD9-BF0B-5E78A5E6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D9AA384-0AA5-4C0F-B948-7A1DD410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可审阅的经验单元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347730C-00D4-4A66-B1D2-F62B38ED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9720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BA543B7-9373-4A8D-9750-B7EDDE2D8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50292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人工治理与复用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5539742-036B-409F-AD28-7C685951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9720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CD8376B-1421-4AAB-9DC2-FA644266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0292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维护负担、重复知识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574BA59-FDAD-4B62-A522-A5D8D0350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972050"/>
            <a:ext cx="21621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65C30C6-602F-473F-AF2A-C9729CB1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029200"/>
            <a:ext cx="20097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采纳率、修正率、复用率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B091695-2932-4194-9781-2AA3DA46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67375"/>
            <a:ext cx="11068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工程结论：索引必须增量更新；生成内容必须带源码引用；权限过滤必须发生在检索前。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97363E5-2B6D-4C8F-A3CA-6627C6D6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2b3ee214d254325"/>
              </a:rPr>
              <a:t>码道 Codebase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12ec681f116d43ae"/>
              </a:rPr>
              <a:t> · Qoder Indexing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5696598e1eb493e"/>
              </a:rPr>
              <a:t> · Qoder Repo Wiki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9a3dedd4d5df41a7"/>
              </a:rPr>
              <a:t> · QMind</a:t>
            </a:r>
          </a:p>
        </p:txBody>
      </p:sp>
    </p:spTree>
    <p:extLst>
      <p:ext uri="{BB962C8B-B14F-4D97-AF65-F5344CB8AC3E}">
        <p14:creationId xmlns:p14="http://schemas.microsoft.com/office/powerpoint/2010/main" val="2644887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F71AE5-3745-4ACC-B404-32209DC8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知识引擎让 Agent 从“每次重读”变成“持续积累与按需召回”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354451-BF96-4F25-B4FD-7E2D3B1C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481012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ffd2efc5374d30"/>
          <a:stretch xmlns:a="http://schemas.openxmlformats.org/drawingml/2006/main"/>
        </p:blipFill>
        <p:spPr>
          <a:xfrm xmlns:a="http://schemas.openxmlformats.org/drawingml/2006/main">
            <a:off x="619125" y="2069012"/>
            <a:ext cx="4676775" cy="13102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F59CCD-D5C2-4669-BF33-01736514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4287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F2A1E3-821F-45EF-BD9A-8EAE55FB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4001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采集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972A4-456F-44EE-B51A-B192D38A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409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代码、文档、提交、任务与人工知识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3C3E17-2FF6-4F1B-90BF-4BB16827F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87642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2D7E08-1057-49B4-BC8C-75896535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29552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B90BD7-A6D5-461F-B813-F37E4270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结构化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0E6258-9AD0-4662-8268-A9074B21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7647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解析符号/依赖/业务实体，生成可引用知识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A1FF4E-BBF6-4A6B-BF22-65C8EF2A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74320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1FB5AA-F160-423F-846E-CF182029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6230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86547C-66BE-4BB2-A0FA-9D6BB3B02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1337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索引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CABE1-5941-4B72-A116-36C16F5C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43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关键词 + 向量 + 图关系，支持增量更新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F78697-047C-492E-831B-AC2140B6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6099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9AD514-E24E-486C-A8D8-528EE854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29075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21E414-1F32-4B9D-8D2C-9CC6145D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005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检索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156AAB-111D-490D-AF47-377E3CD2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10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按任务、文件、角色和权限选择上下文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51FEDE-D263-4020-A89C-B9B841B9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476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8D8"/>
          </a:solidFill>
          <a:ln xmlns:a="http://schemas.openxmlformats.org/drawingml/2006/main" w="0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2C8168-D22B-4EEA-AB07-8647E1A9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895850"/>
            <a:ext cx="381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B7D6E2-480D-46E3-BF84-4D647B7F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86727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反馈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CA08EF-A48B-4445-B5B4-3A85B897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8768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把验证结果、修正与新知识写回资产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04B0FE-5BB2-4578-BB79-4B32F200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33875"/>
            <a:ext cx="4810125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FC8D96-D610-48FD-904E-270FA36B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实践闭环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BA9827-50DA-4AEA-9765-0E33F268C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97FB72-C15F-47E4-BBE9-66871F48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434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冷启动先生成Repo Wiki/知识卡，再由负责人校准关键领域。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54F5D7-37D0-491C-A850-BA2BD031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DD0F3C-5748-4E1E-994B-CB6DA59D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6732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任务只召回相关片段，输出必须保留文件、符号和版本依据。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E4ABC0-3E0B-497A-8D8E-59EC5D3F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57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F48850-96E9-43A6-94AE-26676C3C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91175"/>
            <a:ext cx="411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用命中率、过期率、采纳率和任务成功率评估，而非只看索引规模。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A6C85B-025C-40CD-B1A6-8003CA2C2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a8d0510899e4410"/>
              </a:rPr>
              <a:t>Qoder Knowledge Engine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fac09f00f9e4125"/>
              </a:rPr>
              <a:t> · Qoder 技术博客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4c6ece55ad94452"/>
              </a:rPr>
              <a:t> · 码道 Codebase</a:t>
            </a:r>
          </a:p>
        </p:txBody>
      </p:sp>
    </p:spTree>
    <p:extLst>
      <p:ext uri="{BB962C8B-B14F-4D97-AF65-F5344CB8AC3E}">
        <p14:creationId xmlns:p14="http://schemas.microsoft.com/office/powerpoint/2010/main" val="20137881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6234069-B645-4C38-82F5-48D72840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五种模式分别解决流程复用、目标收敛、规范约束和自主执行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8F954-5A43-4A0C-ACB6-178681C2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430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F2BDF0-331D-48C9-9BC8-B6FF45A3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01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2F6E92-BE9C-45D3-8638-56F9D5F3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3430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97FB87-CC4B-4988-ABF8-23CFCE0C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4001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谁持有计划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12F176-DEA8-4E5A-A236-3AE27203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3430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7D2F83-ABE7-4D40-826F-78CE29B0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4001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核心输入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12F082-5BCF-47F8-B9EF-D3BCF74E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3430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915B8C-C432-43CD-A2CD-768781C6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4001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主要产物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44E8DC-5AEF-4CC4-92E9-13ADAA9A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3430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6C0B39-4E40-4F9A-AC1C-9AF9DFEB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4001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人工闸门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3047F6-1E0C-409D-9702-95178D15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3430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D843E2-61BC-4F1F-9E55-F293321C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4001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最适用任务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B542F4-1EC8-4FE9-81ED-510EBE17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70723C-BC17-4427-93BC-5172F61F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8C536C-45DE-4411-92EA-894B1913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8669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AAF915-79E5-43BF-85E4-08B4CFD2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240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脚本/运行时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BEADFF-605E-4A78-9A6E-2C9AA457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8669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3F6016-DAB2-4DC5-B51C-CE6790E6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19240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阶段、分支、Agent编排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3F065D-3CD5-4DBE-BC56-6A95B7AA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8669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BA77EB-5920-4EC3-98B3-2FD8E0819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9240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可复用JS流程与汇总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A59028-5CF5-48E3-83B5-389289DC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18669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7962E0-8550-45F1-B97C-7E4812F2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9240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运行前审脚本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78067F-9164-4ED8-8A0D-019E74FD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18669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9181BB-B7AB-4FF0-BBA0-E876C2DF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19240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大规模审计、迁移、研究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04FD9B-6172-42EE-B28A-E992DF5E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9077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753C23-E89B-4E11-841D-70578AF7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Goal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9037E9-A51C-4349-8EF3-E8F6DC17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39077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4AE0EE-CDB6-46F3-878B-2BD782D6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44792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当前会话+评估器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0B5E15-3184-484D-9D41-08DF5F5D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39077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DE2232-19FC-4F77-9182-BD889D55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44792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可验证完成条件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065930-9C4E-42D6-9710-61D636A9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39077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42C21A-3323-4EC5-B840-829B7EA4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44792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连续多轮执行与状态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8B5C3D-6357-4A44-946F-FDA80BD5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39077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2C8E17-FD98-4D92-8776-782FEC13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44792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可随时清除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CDC5BE9-345F-4A4D-8873-043F971A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39077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D2E955-62E4-4047-868B-C2AA5B2F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44792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测试全绿、队列清空、迁移完成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99816F-5CEB-4594-8132-226D1187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36ED6D-6CC1-4BC9-BA2D-B4563EF9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SDD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3D580F-2A62-4240-92D6-0FC3D356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91465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35016D-0B1C-4568-AD80-241E49EC3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7180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Spec文档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44C2F4-CB1F-47E5-9913-F2B789CB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91465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825D77-3EBD-4B29-A811-2DD7DE74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97180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需求、设计、任务、验收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3D59BC-1BEA-4D50-966C-4D1C8011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91465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1F22C6-4471-4E1C-AF4A-2D142427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97180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可审查规格与实现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D876865-6D8E-47A1-B6C3-C003F317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91465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E84BAF-7E6A-4560-A197-E2C11EB1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97180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Spec批准后执行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F44AFAD-AA2C-4EDC-A4A7-BFB8A415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291465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AE1BA3A-196F-401F-B42D-6F30295C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97180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跨文件功能、变更可追溯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F5A7C1D-0E91-43BF-BF82-885053B51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38525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9335271-89D8-4033-928B-F1588C26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95675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Solo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820FB1-AFC8-4083-94B3-45A8E710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438525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52E6A0-E5AB-4BAB-B494-40C2F004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95675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产品内置自主Agent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A509442-3558-44D3-9142-8EBF38A2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438525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8E3240A-D01A-4DA2-8BC7-6CA0414E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3495675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自然语言目标+项目上下文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9DC3722-33D5-45D5-8D3D-8F2C80FF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438525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B4022C-5A69-4BAA-9D7A-B8155EF4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3495675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端到端应用与预览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43BEC0A-C1BF-4C55-900C-4DBD88E6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438525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BB066E7-5847-468A-B7CA-583FD772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495675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关键动作确认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DFA19BE-C2DC-4AF8-B8F3-183DA5B3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438525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9EC4CE6-0ECA-44A2-81A4-C04557E2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495675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快速原型、前后端一体任务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267E748-8907-46CB-8D73-892994CC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1333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B988E92-5AD6-49BE-A1C3-464B98B0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19550"/>
            <a:ext cx="1181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Quest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71E1A0A-F456-4663-AF25-73022B82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96240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F1AF214-74D0-413D-990C-9249C06B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019550"/>
            <a:ext cx="17049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任务工作台/Agent团队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E5A06A2-3B8B-4287-B721-4FAE91A2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3962400"/>
            <a:ext cx="20955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1FF41FD-611F-404A-874C-E4CFEE90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4019550"/>
            <a:ext cx="1943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目标或Spec场景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129CC4A-4D62-49A5-BF12-1D153CD3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962400"/>
            <a:ext cx="21907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0E044D6-4BAF-4512-93CD-EE92973C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4019550"/>
            <a:ext cx="20383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任务、Artifacts、代码与评审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817C8D5-1E5A-4318-9FC3-4FC0C2CD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962400"/>
            <a:ext cx="1619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B01DB1D-0C47-4BF4-8E00-2D3027AF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01955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Accept/Reject/PR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5D39F83-E81E-4B95-A783-E2E951BF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962400"/>
            <a:ext cx="19716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A0FB46E-5330-45E6-A0BC-8AE91DEE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019550"/>
            <a:ext cx="18192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长任务、多项目与多Agent协作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9DF02B2-EB6D-4E02-8B95-15E021BE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32FAD45-91CD-48E0-A595-42799FEE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要重复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AAE3949-9A00-49FA-97B7-9C79490A8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Workflow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6942076-34DD-4A49-8EA5-52B1F5280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同一流程会重复运行，编排本身需要版本化。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6FCAF26-CE5A-4D61-8DA8-B9DB3D8F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BA49EA5-DA9F-41D9-83ED-1A80DF89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要完成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3288ED7-AAF9-4E8A-85D0-07084B79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Goal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DDF9BC3-5F0C-49FC-A6DA-6F49CFC5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终态可测量，但路径允许动态调整。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54519FB-34A0-40FC-8353-88EE058C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B2280B4-57D0-403B-855A-10FACCCC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要对齐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008BC76-FDD4-44CE-9F00-B48D7346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SDD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80A6487-5C94-4CE7-B671-3C7F7F69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多人/多模块开发前必须冻结需求与验收。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1948900-C288-41DA-91F8-31C93699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62500"/>
            <a:ext cx="25527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622620D-D1E7-4262-A933-1D759B0A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05375"/>
            <a:ext cx="742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要自主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084576B-F5C1-4CF6-B590-02D5652A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876800"/>
            <a:ext cx="150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 Solo / Quest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9C3B955-DFD5-40F3-82A3-A9FFE7E9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2578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把较完整任务交给Agent，并保留关键审批点。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0380A42-3301-454B-AC79-C181A521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04c3f105c7849ac"/>
              </a:rPr>
              <a:t>Claude Workflow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294486ad6934798"/>
              </a:rPr>
              <a:t> · Claude Goal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8052ce668b924742"/>
              </a:rPr>
              <a:t> · Qoder SDD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cf056ac32ec481c"/>
              </a:rPr>
              <a:t> · Trae SOLO</a:t>
            </a:r>
          </a:p>
        </p:txBody>
      </p:sp>
    </p:spTree>
    <p:extLst>
      <p:ext uri="{BB962C8B-B14F-4D97-AF65-F5344CB8AC3E}">
        <p14:creationId xmlns:p14="http://schemas.microsoft.com/office/powerpoint/2010/main" val="14212836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F5DB1F-E5D6-4909-943C-806E0915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多Agent协作的核心不是数量，而是角色、隔离、依赖和汇总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1B9976-37DB-4D40-81F2-4542EE82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90650"/>
            <a:ext cx="3086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D93DC2-097D-4BCC-B174-A1E3C3EC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543050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Lead / Supervisor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FF0697-799E-4F0C-899E-03D73294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85737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拆任务 · 管依赖 · 分配预算 · 汇总决策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86913D-B928-4409-AC29-431296A7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71700"/>
            <a:ext cx="19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2B2167-7036-4C5A-AE3D-AC5E1B09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00BB7E-B7A2-445E-953E-1C0E8E30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探索Agent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4BABEC-69FF-4D1D-95A5-37AE9D98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代码结构 / 影响面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AB2F75-8641-450E-BECB-1B725760F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4EC12B-7A99-4F7C-9C40-7187C91E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实现Agent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EF36D4-9714-4C2E-9970-6A21E0DF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模块开发 / 测试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631958-EE04-4AC4-A513-2E0BD966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A9EB27-F2EE-4204-A560-E2124301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审查Agent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9E4D6D-2A57-44A2-8202-3ECFB1D0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规范 / 质量 / 安全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30D1D9-1118-4F0B-B91F-EF1D2075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533650"/>
            <a:ext cx="25527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110890-64D6-4D42-853F-E931B377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714625"/>
            <a:ext cx="2209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验证Agent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AB8B88-D782-48A1-A262-44B39CE3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124200"/>
            <a:ext cx="2209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构建 / UI / 回归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268F97-7BD0-4028-BB34-3F87AB89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766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四个工程控制点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AD7DC-16AD-4189-A003-74C9DD99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3AFA90-B97E-476E-B3B3-42F13235F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FC790A-0030-418D-9E95-BFBF233B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上下文隔离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A35BFE-8609-4F91-900C-A3720F75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每个Agent只拿任务所需上下文，降低串扰与Token。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D962E-ECB8-4F8D-9CC5-8C364AE3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5D67E3-82DC-40E2-8DD9-6506A50D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A534D2-0422-4895-BA35-A50801E6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代码隔离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B18D9C-A232-4996-893F-6BEBCAB9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Worktree/VM/容器分支，明确文件所有权，避免覆盖。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BDA19E-FAE1-4E1E-94E0-B755616C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E269B8-9A3F-4544-B9BE-409574BF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CEAFC6-D256-42CF-AFF4-1EA78C8D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依赖调度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EDDA6B-E070-4EA1-B314-5B753E12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任务DAG、状态机、重试与超时，禁止无边界并发。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325645-C992-4128-B5D1-151AA3D6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276725"/>
            <a:ext cx="25527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BCAE65-4EFD-4A3B-8299-2948E94C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42912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62D26B-F6C6-4C09-96DB-3708D02A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410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质量汇总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27D1CF-1E47-48EC-A56D-350F35D3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762500"/>
            <a:ext cx="2209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独立审查、证据合并、冲突裁决，Lead不盲信摘要。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B483D4-C9E4-4BE8-834B-D99CD12B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67375"/>
            <a:ext cx="1104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8CAD9B-2A64-48A4-83E5-1E3822451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706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适用：任务可分解且结果可独立验证；不适用：多人同时改同一核心文件、需求仍高度不确定。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5EC19C-5DAE-40F2-AAD6-463E9BEF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e2cdf5775b06423f"/>
              </a:rPr>
              <a:t>Claude Agent Teams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32a9d99c575433f"/>
              </a:rPr>
              <a:t> · Claude Workflows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c15f558863047f2"/>
              </a:rPr>
              <a:t> · Qoder Quest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836b154dd7547b7"/>
              </a:rPr>
              <a:t> · 码道 AgentTeam</a:t>
            </a:r>
          </a:p>
        </p:txBody>
      </p:sp>
    </p:spTree>
    <p:extLst>
      <p:ext uri="{BB962C8B-B14F-4D97-AF65-F5344CB8AC3E}">
        <p14:creationId xmlns:p14="http://schemas.microsoft.com/office/powerpoint/2010/main" val="4396744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03C4C8-13BD-46B3-9C3F-CF35706E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OpenSpec用“当前规范 + 变更提案”控制存量项目的需求漂移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EB9D15-635C-4A4A-ACBE-4193ED6B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8AA066-263C-4875-96AA-3F29D2FB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90675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openspec/specs/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AD3DB-D78F-4B6A-82EA-A971D3D0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85975"/>
            <a:ext cx="29146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当前已生效的事实来源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Requirements + Scenarios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供所有Agent读取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7FCBE-DDED-4C6E-8B1E-EC552EFA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699B9D-3E71-4A6E-8A57-9B23B18B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243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EBF3A6-542F-4FFA-852F-3E4E167E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371600"/>
            <a:ext cx="3371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695732-939D-413D-B532-13AE19EF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59067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openspec/changes/&lt;id&gt;/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F7079B-FE2B-40F5-A693-FC665240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09775"/>
            <a:ext cx="2933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proposal.md  为什么/改什么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design.md  怎么实现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tasks.md  实施清单</a:t>
            </a:r>
          </a:p>
          <a:p xmlns:a="http://schemas.openxmlformats.org/drawingml/2006/main">
            <a:pPr algn="ctr">
              <a:def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specs/  规格增量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6EEF17-DDD2-46E4-AEC0-C4BD5F98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2574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F85ACB-6A25-4E6D-8DDA-29999E7E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62950" y="219075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A2F33-3BE7-48D9-80D8-B09E40B7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371600"/>
            <a:ext cx="29908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EA843-5889-40C5-90DC-83BB36B9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90675"/>
            <a:ext cx="2533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Archive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0E8D2F-7E0C-4A85-B844-18C43E47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05025"/>
            <a:ext cx="25336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实现并验证后归档变更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把批准的规格增量合并回</a:t>
            </a:r>
          </a:p>
          <a:p xmlns:a="http://schemas.openxmlformats.org/drawingml/2006/main">
            <a:pPr algn="ctr">
              <a:def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当前规范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A03EA2-AFC2-49D1-9765-6D035429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74EC18-70DA-4FA9-9F1F-ECF5C013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/opsx:explore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39447E-7181-4A13-A5F9-B0E8E6848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理解存量代码、权衡方案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01BD15-B69D-40D5-97C3-2F586328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817347-E0FE-477E-B6B9-853282A1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/opsx:propose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0D663C-59E8-4C1E-BB25-58984933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生成提案、规格、设计、任务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68F2FD-D505-46F1-AB51-6D2B8980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069BEC-0A03-4D47-827E-0078D448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/opsx:apply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9D55C7-3173-4D94-A831-48C1C372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按任务实现并持续更新状态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2E580F-8AB2-4214-9A67-8747120D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CEE6B4-8593-4323-AA0C-8EC79C56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6671D7-8F64-401B-B489-043DA0A8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核对实现、场景和验收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55FDD7-A9BA-46FD-A382-7138E596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7665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7243E2-E941-4DB4-80DD-0092F0C1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85762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/opsx:archive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F76E98-73A8-42D9-B7D9-1C905DDF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67200"/>
            <a:ext cx="177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归档变更并更新当前规范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B41F9A-D811-4316-82BC-6846C079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1068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666E89-31E2-4B4D-8A13-9A88B655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与其他机制的关系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9E2C83-911C-4201-BA87-A894199C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5229225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AGENTS.md / Rules 管“Agent如何工作”；OpenSpec 管“系统当前应是什么、这次要改什么”；Quest/SDD 管“如何生成并执行任务”。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026B4A-B270-4D68-A934-427E5FBB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f9a5976cf84248d0"/>
              </a:rPr>
              <a:t>OpenSpec GitHub</a:t>
            </a:r>
          </a:p>
        </p:txBody>
      </p:sp>
    </p:spTree>
    <p:extLst>
      <p:ext uri="{BB962C8B-B14F-4D97-AF65-F5344CB8AC3E}">
        <p14:creationId xmlns:p14="http://schemas.microsoft.com/office/powerpoint/2010/main" val="19946689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6ECDD6B-0AA3-422D-84E7-593BEFEB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Superpowers把成熟研发方法封装成可组合、自动触发的Skills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A6469-D03A-46B9-A031-CB75848A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FF4A0F-365D-4151-88ED-61D1AAC3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32C51-8084-4B81-A6A1-E0E4AEC0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Brainstorm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085D42-394D-4AA6-8724-BC54238B8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澄清需求与方案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3F9700-E660-4C3A-8FD5-CC3F2599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2F260F-7283-46D7-BC07-CECB0871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097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25665-F7A4-4581-A04B-228EF7D4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EFE0C8-64FF-46F0-812F-73ADF905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26B38C-2915-46B0-8751-17F12C89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D5C057-5505-4694-984C-E056CEBF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分段评审设计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877BC2-1B11-44F4-B436-6CF2BEDC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BDD55A-1862-469C-80D7-54DC92FF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6671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AE021A-A7D8-427F-B3C7-30859012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60DFDC-8091-43A2-8A3C-5D9540A0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8FA382-D9D0-4E6D-BE76-98F09298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FD3EC6-9C89-4D88-B524-2F2E2BCA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拆成可执行小任务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759767-FD84-498D-90B6-E4ED4DBF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F9E083-D349-4302-BC21-2C786CF7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244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B7CD41-7095-43EE-B80D-787AA51D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C39B6C-C2E5-4CE1-904F-0775BEC5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B209C9-5BC7-4524-8389-2964BFAA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Worktree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7C4B20-3908-4C48-BC7F-175A66D3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建立隔离工作区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685DD1-8F7D-48B2-8877-54524BC6C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D2C021-DE04-41CD-8A71-7D5FF2CE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9818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3A7040-5596-47F3-8994-8424A9CB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FC02CE-2BB4-4DC7-9049-F0C9A76B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F1C24D-C508-40D6-B776-016CEBBC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TDD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7916C4-CB07-4017-89C2-748685A6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769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RED→GREEN→REFACTOR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C50506-3E2B-4B42-A4A2-FB6D3521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C66F4D-31FF-46B6-968C-2A0C67C7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63917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B23892-0A61-4E89-A9BE-647E0D01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A0C52E-5FB4-4A38-8AE7-EC24A639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6D8101-5E84-44F2-B5DB-CD764821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Subagents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6AA34F5-5878-44DD-A39D-7F1A4A89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逐任务实现与双重审查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0DA2A2-BD28-4DB3-A89A-85251AA2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9621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214C74F-704C-4A50-8EFB-6336A9E8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296525" y="18954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718498-707E-4B34-B131-F954FE4E9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438275"/>
            <a:ext cx="14668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ECD17A5-2A08-4826-A263-3B8F2CB2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562100"/>
            <a:ext cx="2857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49761AF-CA19-4320-98DF-6AE48F0A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838325"/>
            <a:ext cx="1276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Finish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332C3B5-5B8E-4497-A7CE-BB2B9DEC9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143125"/>
            <a:ext cx="1276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测试、PR/合并、清理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A5FA31C-0434-4718-BEBC-77BD908E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220BA26-F38F-494F-B037-C8148C57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它是什么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8DEC4E-213F-46CC-870B-8D9FFF7E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6DBA8EF-9987-4BCA-A604-219848E9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开源Agentic Skills框架 + 软件开发方法论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213F22E-A89F-47A6-8EC9-7718593A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060E8A-C6A4-4783-9F2E-83729F70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通过技能触发器把流程变成强制检查点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07B637-D88D-410C-BF1B-8078C8B0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1AA5ADD-9581-40D4-AF7C-EF04627D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支持Claude Code、Codex、Cursor等多种Harness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B2F16E-F353-4F24-8E17-94CF472F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739CCF0-DA5E-4DDB-BBC9-B2EDE358B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核心价值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B9B77CB-4CB1-4477-9811-86BC98AC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A09C465-8C9B-4900-A201-CA30BD25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减少Agent跳过设计、测试和验证的随机性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9A9681A-1332-439D-ABA4-E538F733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4B72E5A-0E0B-4226-AEBF-50389042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把团队方法沉淀为可版本化Skills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5BD9530-DA7B-450A-853C-2E3AEC9D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5A74A00-9A61-480A-AD1E-958E97B6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Subagent每任务新上下文，降低长会话漂移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06FB7D0-26CD-43C8-BE7C-F97E2311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28950"/>
            <a:ext cx="3448050" cy="2390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2D6FE28-BCF7-4806-9BC8-61B99BBB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边界与风险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8CD4410-354C-418C-99D5-27CB1A26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90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216F641-907C-480A-BBEF-A31CA4C2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242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不是模型、IDE或项目管理系统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8432465-16B6-42DF-AB68-C930853A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86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0BFC139-C1E1-44FA-A707-403AF32A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195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强流程会增加小任务的时间与Token开销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7AE543A-3DB0-40D2-9A12-6C6DB3DE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815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6923F40-DFFF-473A-B24C-AAB473C2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14875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需结合团队规范裁剪，避免机械执行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37B67A9-C765-4E5D-B2FD-2883EF86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落地建议：先在一个可测试项目启用 Brainstorm → Plan → TDD → Review 四项核心技能。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993146A-45AE-415B-8AA1-7A6C3FA5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c83f97408a44840"/>
              </a:rPr>
              <a:t>Superpowers GitHub</a:t>
            </a:r>
          </a:p>
        </p:txBody>
      </p:sp>
    </p:spTree>
    <p:extLst>
      <p:ext uri="{BB962C8B-B14F-4D97-AF65-F5344CB8AC3E}">
        <p14:creationId xmlns:p14="http://schemas.microsoft.com/office/powerpoint/2010/main" val="6098154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E44AC22-0538-486A-B444-AA6E7239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存量项目重写应先建立认知与验证基线，再并行迁移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CC6D9A-2A6D-41BF-BF3A-464A4550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4762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49cf9088c745f6"/>
          <a:stretch xmlns:a="http://schemas.openxmlformats.org/drawingml/2006/main"/>
        </p:blipFill>
        <p:spPr>
          <a:xfrm xmlns:a="http://schemas.openxmlformats.org/drawingml/2006/main">
            <a:off x="619125" y="1398709"/>
            <a:ext cx="4629150" cy="2117482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FA8BE-342B-458F-9B7E-F327EFA77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B98446-450D-4DDC-9101-5D3932D9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AAC006-A30E-491B-96C4-8AD8492C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8CDD8-DB51-4B31-A271-F87872DD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锁定现有行为、接口、性能和测试覆盖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B13E10-383C-4F96-BCE3-C6C3261D6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01E626-9BA9-4E23-AA5E-15400CA3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AC0458-C868-49E9-812D-A2A460F4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40F1A4-F0D1-4889-A3C8-DD5F3BEC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A6895A-B117-4A1F-8651-15904987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Understand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7DDC78-8B74-4A60-81CE-293B6A0E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Codebase/图谱识别模块、依赖、热点和隐式约束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B32BD8-01B8-4F52-B577-9B342475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A4A652-363F-4B48-A59A-9099D08F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8086FA-CCC6-4B27-952E-80C499C7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5B3E45-3B29-4E41-8B29-43217E90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FE495F-435E-41D2-BE26-B871A280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Plan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631BCF-4331-42D7-B299-D33FCB03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按领域边界拆分迁移批次，定义验收与回滚点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1368B7-6026-4BB4-915D-9B8D90A8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FBE546-DAE4-421D-AD8A-AC75949A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60E683-D223-4ED1-8DA8-C8BDCD86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C9286F-E818-4089-B33D-F991E952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FD75FC-C370-40FD-967F-9CE523B9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Parallel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F81680-B11B-4114-9746-FB84B932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多Agent分模块实施，Worktree隔离文件冲突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A66A28-755D-4292-9526-14DE7E18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C9C62D-805B-47D5-8D85-A78BE5CF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7918FE-0478-4440-B0D4-C95F32EB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9BCBBA-A7E7-4899-B5DE-1CC4CE9C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46EB58-D27B-4EA7-A260-34280E20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AA248C-6340-47A6-8CA6-590E4093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双跑、契约/回归/性能/安全测试和人工审查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27131C-44F6-45D8-985F-A03FFCE0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00575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6D033B-CE56-46B7-8CE6-EBBA3FA8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4533900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86B29F-821D-48B8-9E7D-B7008E42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000500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599917-8994-48D4-A07A-95B8FA16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143375"/>
            <a:ext cx="3333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314FE7-4680-4818-B7E9-F6D52908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1148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Cutover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0260041-E175-48B1-8111-A8361819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533900"/>
            <a:ext cx="1362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小流量切换、指标观察、问题回写知识资产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DBB170-FE40-4994-9969-FDE0E376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323975"/>
            <a:ext cx="5905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53E339-B573-4E97-91DB-BF64F575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525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必须设置的四道闸门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5BA5C74-D7ED-4E63-A3F3-7F4839A6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8120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5BDBB52-179D-405A-90AD-DBA56B28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3835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闸门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078AAE7-85D4-4EED-8406-E7642443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8120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5A98421-0B29-4A00-B970-A3082BBC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通过条件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EF952F7-BAA4-497F-9450-D44792AB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98120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6C2532-E0CF-4D47-9886-BBE207323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03835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失败动作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11768E7-60B9-4B40-8365-F12C6A40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25171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A9C076-3951-487F-9AFE-5542E0EE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30886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行为一致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FE9A75-4F7B-4960-88F9-EB2563F9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5171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ED8691-7CAE-4E57-AE7D-EB13B6E4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0886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契约/黄金样本通过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D2E691F-B447-41D4-9073-93BA0BC2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25171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898CD8C-6810-4486-9F26-550B1D1A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30886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回到模块级修复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0269CE3-3FB1-430E-B919-473D15A3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2222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9A396C5-35BC-4C51-8111-EB0E6A2C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937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质量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0903E7E-03E2-428C-B64A-8ACA29D1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2222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713712F-182D-4EBE-A754-FE9930CA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7937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回归、性能、静态扫描达标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21CBE3F-4A72-4A26-95C0-EEE82D35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52222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139FE6C-BAC5-4885-AD4C-3B91BA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57937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阻断合并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3FD5DD7-7D89-48D5-959C-5B4F163F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9273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775B61E-0E1C-49A2-A91B-F0A13E8D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4988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可回滚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65A5520-5415-4381-AB8D-68EEF44A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79273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41585B5-4450-467B-98E8-AFAE8B13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4988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旧版本与数据路径可恢复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0C7AD32-F2EE-4559-8F12-6934A6B5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79273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3D17F1B-EF1E-4D16-826D-F1FBB03B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84988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禁止切流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9A364BC-82CC-4A8F-A5F4-056D1E24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63240"/>
            <a:ext cx="123825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F7C2756-E95C-4931-B275-6B5CC288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20390"/>
            <a:ext cx="108585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可观测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B83DD3D-0BD1-4F0F-BFD5-940EA16E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63240"/>
            <a:ext cx="2619375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C18D238-3C3A-4EA3-B27B-0589A0E2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20390"/>
            <a:ext cx="2466975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指标、日志、告警完整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5AB81F9-6C4D-4BB8-9043-FF8602B6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63240"/>
            <a:ext cx="1524000" cy="2705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6B390F-E9CF-4E27-900D-16AD58B11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120390"/>
            <a:ext cx="1371600" cy="15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延长双跑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BB89712-5CB9-475F-8633-F0848823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81650"/>
            <a:ext cx="11068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关键原则：Agent提升并行度，人负责边界、验收和切换决策。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3CBE653-4F64-4885-B858-4FA70037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be6df2a330374fda"/>
              </a:rPr>
              <a:t>Qoder 存量重写案例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cf0762b88174d6b"/>
              </a:rPr>
              <a:t> · Quest Worktree</a:t>
            </a:r>
          </a:p>
        </p:txBody>
      </p:sp>
    </p:spTree>
    <p:extLst>
      <p:ext uri="{BB962C8B-B14F-4D97-AF65-F5344CB8AC3E}">
        <p14:creationId xmlns:p14="http://schemas.microsoft.com/office/powerpoint/2010/main" val="1835414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EE8A504-E23E-4943-A236-09599E3A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Figma对接不是截图转代码，而是设计约束到视觉回归的闭环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1EFBB2-76EE-4D14-91BA-44EA15F5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44577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5e074d23834461"/>
          <a:stretch xmlns:a="http://schemas.openxmlformats.org/drawingml/2006/main"/>
        </p:blipFill>
        <p:spPr>
          <a:xfrm xmlns:a="http://schemas.openxmlformats.org/drawingml/2006/main">
            <a:off x="1015276" y="1400175"/>
            <a:ext cx="3532048" cy="27432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E69419-2E0C-4048-AF36-246086CA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4F3A5D-7A65-4133-A164-60F482B9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D20D3D-8811-4E0A-A8B2-18BD2363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选定Frame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D83AC4-FE3F-4DA1-8857-1EC1C1B5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明确页面、状态与响应式范围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B4CBDC-9A92-498C-A6D2-9DC681E48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3335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4881B0-FEB8-47BC-8A53-963969A9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85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FA1915-7C6C-480C-A2C6-60E0025D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668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读取语义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725F27-EC4E-42B9-80F4-57642829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192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组件、变量、Auto Layout、间距、字体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C082F-321E-4FD3-AF12-ACC10B18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B17504-3076-4503-B11E-1A17545B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785B34-5B52-45BB-82B5-E4ED8348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映射工程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F5C092-F29B-416A-96E0-31AEF51DE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复用现有Design System与组件，不复制像素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8FEAD5-574C-4BE0-94F0-79135E11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5745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577F21-F7B5-4F41-9E4E-D2148BA0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098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97274C-2BD0-4D89-957C-89F24386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9080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生成实现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A655DD-17F4-45CF-B3A1-3530D950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4322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页面结构、样式、交互、数据Mock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26E651-5349-4431-85C2-89DC91C19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1FA74-1FC2-49B3-8276-3B916BF2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212902-6E20-4FBE-9640-A4C0C619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运行预览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97B0CF-9695-467E-8E1A-8AFFCED8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桌面/移动视口，检查控制台与网络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3F249-CAA2-4098-8175-55236AE8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81400"/>
            <a:ext cx="285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3248AB-7C12-4F09-94E9-13692A2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33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D08DAE-452C-4AD6-ADA8-5FDBA14C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14750"/>
            <a:ext cx="2114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视觉回归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EBBFB1-A589-46F1-BA60-CF7AD368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67175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截图Diff→定位差异→迭代至阈值内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682C83-4BF6-42F3-B8D0-75AAE918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11068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3328D1-7BB5-43A3-AA2C-82DF8C8A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验收清单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FDBC7E-3130-4763-A2F6-E03DAD53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147B81-080D-45B4-B1E9-E48973EB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组件复用率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FF8C3A-EE4D-4739-B94B-A1871DDB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BBD493-5B81-4EED-8E7A-61A189F5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设计Token一致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3AD51A-367E-4DB1-BA54-8975D363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191125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D6B2D1-C92F-46A5-9B30-EC190735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53025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响应式断点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A18E65F-6544-4FDF-AB3F-3BD7254C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9DE94FF-BB59-42A2-8C88-2FD908B9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交互/空态/错误态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3A8D33-4039-42CE-9865-C50A98E0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2381A5-EE9C-4C0B-9ABF-4290E9C5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可访问性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08D21A2-2650-4753-9AF4-BC7720B1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5626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8B8B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979181-445A-46AF-B5CD-AFDEFDFD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2450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视觉Diff阈值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DF8214-9AA8-45D9-9D86-43702936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d579d9079924206"/>
              </a:rPr>
              <a:t>Trae Figma to Code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0ec755ed9d54a2a"/>
              </a:rPr>
              <a:t> · Figma Dev Mode</a:t>
            </a:r>
          </a:p>
        </p:txBody>
      </p:sp>
    </p:spTree>
    <p:extLst>
      <p:ext uri="{BB962C8B-B14F-4D97-AF65-F5344CB8AC3E}">
        <p14:creationId xmlns:p14="http://schemas.microsoft.com/office/powerpoint/2010/main" val="213084867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75D4C4A-99D7-4AC9-8F66-B5693EB64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Browser Use要把“看起来正常”转成可重复、可定位的断言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885204-FB5B-4F1B-949D-77146C3B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051B0-E2FD-416F-82B6-BBD15E4C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9E7E13-352F-4635-8401-9B9E8A91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启动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E95CF-E2F2-4A35-B6E7-D4445C02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固定环境、账号、数据与视口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BA7B22-1D72-4B02-85DC-FEED99EA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05BDF9-7632-4B63-A03F-DB6F2760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574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268D5B-AF40-413A-852C-551FA8E2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E4332-377D-46F2-9542-2C4127DC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1F4C20-3BA1-46FC-9EF8-A1AA7187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操作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D666D1-7B80-4B3A-B98F-836FE741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按真实用户路径点击、输入、上传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39955-3C3D-418E-B262-C9C0AB34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5AA073-7750-43BF-BBB0-FCFFEAF6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09575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4A0A71-625A-4775-803F-75B9E24B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2E1CC7-EA8A-4D0D-B853-5A1C424B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8E706A-DF08-4F49-A859-5DC3DAC3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C7CF07-580F-496A-80D6-4955FA782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DOM、截图、控制台、网络、存储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A381C2-8D11-4228-AE45-84D2C3ED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C9D60B-7BB9-493D-A3AF-1507EE53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3407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F102DE-3A12-422E-8627-A996FFB4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81E472-11E1-44B1-B46B-E7452BA0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4A3663-DA9B-4843-9F37-88B2B492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断言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885B64-C8B9-4A30-857A-4D4429AB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功能、视觉、可访问性、性能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75C321-7431-44AE-A8F0-CBCDDBA0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32490A-188F-4A06-81B2-DA2CCCA3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72400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B3DDCD-57C4-40B8-B97D-51818543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6FD607-322A-4D70-9A45-49091475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DCF3E2-5A00-44BC-9E6F-27046112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28CB1C-BDB4-46FB-8D5D-9D3AE083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Trace、截图、日志、失败步骤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28C2A9-C04C-4BC7-ADD6-CF8E89E6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76450"/>
            <a:ext cx="76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2931AE-5099-468F-AE8E-34DEB90B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610725" y="2009775"/>
            <a:ext cx="123825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98989"/>
          </a:solidFill>
          <a:ln xmlns:a="http://schemas.openxmlformats.org/drawingml/2006/main" w="0">
            <a:solidFill>
              <a:srgbClr val="89898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11F002-2E66-434D-8DE9-75CE48A7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1438275"/>
            <a:ext cx="16287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7BF3DE-5BAB-4188-B41F-0D0CFEB6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590675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9A98D6-E5E6-49D8-B97B-F0D6B462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1571625"/>
            <a:ext cx="885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修复复测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280EF8A-322C-45F2-97DB-EE3973BE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2405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最小改动→相关场景→回归集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9EC79D0-3550-4953-BC84-8E8EE3BC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测试组合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3F1898-F895-438A-8AC1-91DFFB60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2638" y="3524250"/>
            <a:ext cx="38576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209F33-2135-4B11-98CB-6976C052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4088" y="36480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关键旅程 E2E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B3C817-5E4C-41A0-83AB-A57895B8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513" y="3657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登录、下单、发布、审批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9DD97BA-CF2B-4011-BABC-8363832D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48150"/>
            <a:ext cx="5334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D86E7D-CEBF-4231-A27A-E5D98D13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719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组件 / 页面集成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8FB896-0A79-4E09-B4A0-56C5E284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381500"/>
            <a:ext cx="3095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状态切换、表单、路由、权限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54F7AB0-9144-4A51-BE0B-04052B70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72050"/>
            <a:ext cx="6858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64D6C12-E66A-40E1-8B6D-F5C6B833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静态与单元检查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7FA8BC-B812-4B3E-9DB6-DC07C203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05400"/>
            <a:ext cx="4619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类型、Lint、逻辑、可访问性规则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915199E-D450-457C-929F-154DE0620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7338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EABBCDF-2043-4F83-AC09-200486DD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33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Agent测试提示词必须包含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7026EC-5A1C-414A-9F46-B65FEF0D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67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AC01F64-EA1D-4139-B499-29CC2FD2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004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起始URL、账号、测试数据与禁止动作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D4F508C-4A80-4B9A-98AA-9CFB86C0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2005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4F631B6-B916-4A76-83EA-34F8DB46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3385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关键路径及每步预期可见结果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EE9F5DF-0C25-45DB-8DEB-72AA9482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B113C4A-4CCD-4B83-8256-EF3BAADF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6722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桌面/移动视口与截图命名规则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E63A4D4-3189-42E5-9CA0-AE9CC022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672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2F7B1B3-92CD-43F6-AC5E-50F10385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00600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控制台错误、失败请求、可访问性检查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C2B8798-5CB9-4208-8A8E-24C39FB3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006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80CDD19-0BF0-482D-B042-5FCFE0F7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33975"/>
            <a:ext cx="2971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失败时保留证据，不自行跳过断言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7376D22-98B3-4714-8420-ADBAE0D5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9775"/>
            <a:ext cx="11068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结论：浏览器Agent负责探索与取证，Playwright脚本负责稳定回归。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3BB3ED1-8EF2-4167-923C-42610D70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2ea858a3d2f040e6"/>
              </a:rPr>
              <a:t>Codex Browser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1034756159474cc0"/>
              </a:rPr>
              <a:t> · Trae Browser &amp; Preview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5ff14dbcea0a44bb"/>
              </a:rPr>
              <a:t> · Playwright Best Practices</a:t>
            </a:r>
          </a:p>
        </p:txBody>
      </p:sp>
    </p:spTree>
    <p:extLst>
      <p:ext uri="{BB962C8B-B14F-4D97-AF65-F5344CB8AC3E}">
        <p14:creationId xmlns:p14="http://schemas.microsoft.com/office/powerpoint/2010/main" val="19666270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2C0C4B8-54FA-4E28-AF7E-0BFFC613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省Token的本质：减少无效上下文、重复推理和失败重试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550D59-3DB7-43D5-A169-BA669332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23975"/>
            <a:ext cx="11068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8429BE-71FE-4940-BD4E-79869EFA4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04950"/>
            <a:ext cx="10610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总消耗 = 稳定上下文 + 本次检索 + 对话历史 + 工具结果 + 输出 + 重试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0BEED5-7139-4A37-9BFA-EF67F289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7B2FB5-2FD4-4A6A-8FF5-16DFC24B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01  控制输入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34D12C-3441-4891-8652-EFC093EC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4F3EBC-0E8A-4D1A-9837-0568442C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写清目标、范围、验收和禁止项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CC6F37-D4F2-4231-AA98-DF23C9FA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3ED753-4B0B-4539-B353-82F79344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只附相关文件/章节，先定位再展开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DA7BA1-F862-4606-980B-7C82246F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EA5103-B9FB-4A8E-97F5-762C855F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02  分层规则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88A0ED-19BA-4666-9EB8-8BD4559CF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9F6BE6-7183-42D8-885C-21BA1230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根AGENTS.md保留全局约束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223870-D47B-4E19-87C0-2767D232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D8CD64-EBB9-4E0D-A07D-7419E02F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子目录规则就近生效，避免全仓注入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897A6D-0AF6-4D85-89D2-CDF75DE9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E50EEF-1481-4480-8A2F-0C252561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03  检索替代粘贴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496D27-5422-4F11-B9CA-1B6052F2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F2A7AF-1AB4-48C3-A360-B64748F3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用Codebase/Repo Wiki召回Top-K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26759E-3B8C-4EFA-B852-48E11A1F4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41E814-11A0-4F6B-A5AE-DEC5DD88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输出带引用，发现缺口再二次检索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77F0AA-0B76-4080-BFE6-8D8A4B6C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3241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00BE2F-1CBB-4BD6-A70B-1462E66B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4765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04  复用稳定前缀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B35781-BF40-4F83-A15F-C13806BF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432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E7C056-0D7E-447E-9822-0450CA5B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8765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固定系统提示、工具定义和规则顺序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AA6BA0-EEAC-486E-AFDD-BF863EC7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352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4538F0-168E-4ED5-9248-C4779A14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861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利用Prompt Cache，避免轻微改写失效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C673CB-3ABA-4A14-9246-093E47A7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5743C8-AF19-4C87-818B-8FEF9D22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05  控制工具结果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3FB43E-50FD-47C6-8B6D-C415E75C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8AFC8A-5EBE-401C-A7C0-C7C5E2AA4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日志先过滤、分页、聚合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3D673D-03A4-45B0-AA26-8196AF7B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761747-2D96-4AE2-AD4F-A81ABE7E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截图/DOM/Trace只在需要时展开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93B53F-55CC-4DB6-99B6-CF7DED4F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5F88C1-D2B5-4AF9-8B8C-636B8FD0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06  模型与模式分级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DFD97F6-F945-4CA6-B7B0-A493C68B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CB0AAA-C1A6-4B56-B24D-554AABAFC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小模型做搜索、分类、格式化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C600A1-F92C-4B6F-A217-EC28B1F8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F3C9376-5D4E-414A-A67D-C60EA5EC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高推理/多Agent只用于高价值复杂任务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8420CBA-AA01-41AF-A1C7-29CD99B1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12BF7FC-0F91-406B-BB8E-2D628FF2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07  缩短会话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4937528-F008-4FD8-9862-8F0F04A0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A143E4-CBCA-46AA-B246-56B15D82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阶段结束写摘要/Artifact后新开任务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DB29D1-0620-460D-A318-4F2A9255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8479611-EAB0-4F5D-BD22-7E557F23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长任务使用Compaction，保留决策与证据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4A2FE25-631E-4E36-9D8A-085690E3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4000500"/>
            <a:ext cx="2552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E7CF8C9-61E6-4EAA-BD45-6A75DA04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152900"/>
            <a:ext cx="2247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08  降低重试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E2153E-51FB-457C-AE30-709102A3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619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9951A49-24F8-4F16-BF58-F3A35A83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552950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先跑最小验证，再扩大修改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0216FD5-80A5-4E61-BED7-CD33A0F9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029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0">
            <a:solidFill>
              <a:srgbClr val="8A0F1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5B67CB7-982A-4A95-BFEC-3634D2CD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962525"/>
            <a:ext cx="20764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失败必须读取错误根因，禁止盲目重复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122085D-4032-40D0-817E-52A76BBE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62625"/>
            <a:ext cx="11068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F4A10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8262B3B-C5BD-4BBB-9527-B718F5A3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38825"/>
            <a:ext cx="1074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F4A100"/>
                </a:solidFill>
                <a:latin typeface="Microsoft YaHei"/>
                <a:ea typeface="Microsoft YaHei"/>
                <a:cs typeface="Microsoft YaHei"/>
              </a:rPr>
              <a:t>团队度量：每个成功任务的输入Token、输出Token、缓存命中率、工具结果量、重试次数和人工复核时间。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6616F12-0E9D-430E-A241-430CE1F8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7397732643fb4b4e"/>
              </a:rPr>
              <a:t>Codex节省用量建议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f6caed055a74b40"/>
              </a:rPr>
              <a:t> · OpenAI Prompt Caching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383baa7dcf14fac"/>
              </a:rPr>
              <a:t> · Qoder Context Compression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601fc48878b456c"/>
              </a:rPr>
              <a:t> · Anthropic Prompt Caching</a:t>
            </a:r>
          </a:p>
        </p:txBody>
      </p:sp>
    </p:spTree>
    <p:extLst>
      <p:ext uri="{BB962C8B-B14F-4D97-AF65-F5344CB8AC3E}">
        <p14:creationId xmlns:p14="http://schemas.microsoft.com/office/powerpoint/2010/main" val="22869070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84ED028-9688-4ACE-89A4-B37D03CA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套餐升级的本质：从个人用量走向团队资产与企业治理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AD505-5E2E-4872-AF27-D2F8D59E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4CB777-C330-4F03-A2E9-5A1DCC8C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864B5-F437-482C-AB98-741B5C10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352550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ECA3C7-8465-4F89-90DF-5EB49C8B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409700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个人主线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93267-C114-4C30-A435-50EC24DD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352550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ED4B84-FAC8-4191-8368-6E159440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409700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 / 企业主线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615E54-0F8C-470F-B46D-3D26806B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352550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F1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1B65C5-6110-46F8-BE88-A2779AC4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409700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升级后获得的关键能力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842C8D-8D49-4DA3-84D5-2AB2AEF6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3639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C90E3E-95A5-490F-B71E-231F3024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0789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华为云码道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B572C2-7E14-4383-BD2B-48558FAA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1903639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63BF85-EEBE-4A9E-A086-06DB3F5C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960789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体验版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28E418-857D-435C-9A2F-C2EB0EA2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03639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2B8866-039E-4215-ACEC-FB16B670E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60789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基础版 / 专业版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D6AFC-4DFD-4A3C-A2F5-F14F861BC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903639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956A6D-08E8-4525-B5F3-A1FC83BC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1960789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Token、Codebase容量；专业版增加SSO、日志、模型与用量管理、IP白名单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370174-3E70-4CDE-B991-D90835DF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54729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F2127B-401A-4FE7-9C7C-26BC186F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1879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Claude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B879EE-6001-435C-ABA6-63CF25497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2454729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E3300B-4F26-4CE7-9630-F5938509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511879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Pro / Max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48C0E5-BC87-4D6A-8736-1A973C32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54729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A35BBD-5E4F-4D28-A85C-196D903B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11879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 Standard / Premium / Enterprise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56093D-3BAF-4535-BB92-0D82645F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454729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6D76D1-B1B5-494D-A49A-E1103EBA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511879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成员管理、RBAC、SSO、连接器、Spend Controls与更高用量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545672-8DC7-4518-887A-D043E49F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5818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1915D7-4E53-48EE-B749-377CCE0D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62968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Qoder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FE794B-8433-45C3-BDCF-9B1710D6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005818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EEBC8E-9426-4426-B150-68DD67FF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062968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Pro / Pro+ / Ultra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983C86-D062-4C73-9135-E0B681B7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05818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CFC9C7-648C-4DCD-9660-48DA241E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62968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Teams / Enterprise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93C5DD-25E3-4D81-B845-4E946327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005818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7DAE06-3466-46F6-B952-643A8CFD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062968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每席Credits或共享池；集中分发、模型路由、内容安全、审计与OpenAPI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C520F0-D999-4A14-90FF-7A155A69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56907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8C3FBA-7499-4A48-9BA0-A7C46716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4057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DA5932-9E12-401E-A3A4-8CA3DFA5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556907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269485-85AE-46BE-8D30-C3D02593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3614057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Go / Plus / Pro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01A11D-A36D-4311-A57C-73DDAE320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56907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3CFECF-3736-4AFA-9FDE-F4BBBEA3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14057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Business / Enterprise / Edu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BEA2A9-85C0-4CD4-9D72-A419438B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3556907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3A3E67-D6DB-4FFF-B5F8-09D40F94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614057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安全工作区、更大VM、SAML；再升级到SCIM、EKM、审计与数据驻留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F590BF-9B81-4BBC-AC4F-A1001148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07996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CCAB5A2-C8C2-4C5F-A226-C2E038D4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65146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A00180-D745-44CA-9993-DFD3280C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107996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43441FA-90CF-404D-B1E4-BD6E8E54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165146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Hobby / Pro / Pro+ / Ultra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382E33B-D29D-4EC7-BCF5-67CB64D4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07996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84B0271-D07B-4E26-8254-7E03BEEA3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165146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Teams / Enterprise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0538F2-4C71-4475-B75C-B0A2343B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107996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78410E4-47D5-452D-B4A2-B6526437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65146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共享上下文、内部Marketplace、Bugbot；企业级访问控制、审计与Pooled Usage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12AF9C6-12D2-4875-A0F2-DD8EB4AD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9086"/>
            <a:ext cx="166687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657ED93-EE9B-42C4-BEF8-F59C1DB3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16236"/>
            <a:ext cx="151447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Trae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60C2BC2-1361-442A-93B7-2ECA0ACA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659086"/>
            <a:ext cx="23336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2774386-9C7E-410A-9B92-9EBC57BA5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716236"/>
            <a:ext cx="21812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Free / Lite / Pro / Pro+ / Ultra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EA9587E-AD75-4E13-9B56-5506C95B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59086"/>
            <a:ext cx="25241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0135AAC-8944-45EF-83CA-35D398A6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16236"/>
            <a:ext cx="23717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企业方案需询价确认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4480C32-2C93-4F01-ABE4-4B783AD6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4659086"/>
            <a:ext cx="4543425" cy="55108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7620">
            <a:solidFill>
              <a:srgbClr val="D8D8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F89F8BE-A67D-4518-B886-95F11077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716236"/>
            <a:ext cx="4391025" cy="4367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个人档主要按Basic Usage与Solo并发分层；企业治理细节需单独核验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65F0ADB-CEED-4077-BD8E-52A266B2A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10200"/>
            <a:ext cx="1106805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3D891F7-EFE1-4512-9729-2AB9E4FC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选型顺序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A1A00A2-F34C-47DE-9B1D-BAACF291A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0225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先看数据边界和治理要求，再看团队资产复用，最后按重度用户比例配置高额度席位。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640E00A-7861-42D0-814F-047418CF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c67089a16074de9"/>
              </a:rPr>
              <a:t>码道定价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0cefa12f8a1c4589"/>
              </a:rPr>
              <a:t> · Claude Plans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60be361d43fd40ee"/>
              </a:rPr>
              <a:t> · Qoder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acc37a8f8aeb481d"/>
              </a:rPr>
              <a:t> · Codex Pricing</a:t>
            </a:r>
          </a:p>
        </p:txBody>
      </p:sp>
    </p:spTree>
    <p:extLst>
      <p:ext uri="{BB962C8B-B14F-4D97-AF65-F5344CB8AC3E}">
        <p14:creationId xmlns:p14="http://schemas.microsoft.com/office/powerpoint/2010/main" val="167732152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040D1E6-5BD8-4B3F-A885-6B97D4BE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Tokens、Credits与Usage Limits不可直接等值横比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2D5979-F542-49C4-B18D-7155FE40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C1E1CA-BB0B-4598-BB50-68E72969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华为云码道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E70E0-6D4E-49D4-9C51-96925A14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485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1DD5F3-19E2-43BE-9379-31417441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24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公开Token包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7A7FBA-AB54-4BE9-9D1B-C7161E5D3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57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¥0 / ¥39 / ¥139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E546B1-D542-498A-9261-C3A9345C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38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500万 / 2000万 / 6000万 Tokens/月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FDACD1-9337-4081-BC9B-DD735FF9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14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129C48-2695-4EA5-ADC0-81EDE5B1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Claude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6DF7EA-6F35-4A47-B1D2-1DF9DDF2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628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8ECCB8-31CD-4C75-AB3B-60B7CA89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667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订阅容量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EA3D00-51DA-44C4-B4E9-F7600CFB2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 / $100 / $200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9D8911-5E82-4946-9C3F-9FB7D687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81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Pro；Max约5x / 20x会话容量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6588FE-640F-4602-BBDC-3B12EC02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57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8C514A-D46B-4AC0-93DE-755823B8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90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Qoder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32DA6-7360-4212-A65F-51885A2C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771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4B45B9-602A-4143-A527-ED6B4D53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0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Credits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AF5BB9-05B1-4B9B-8AE9-7FE93A52A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 / $60 / $200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31FFE1-7372-423C-A84A-328C43C6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124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2,000 / 6,000 / 20,000 Credits/月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CEA70F-BCEF-4BB2-80BE-95689618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71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047015-469D-4C47-8B9B-A7252EAA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695847-6344-4FAF-8C3D-B2531B1A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485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D91257-8C75-47E7-88A4-1C844015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524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订阅+Credits/API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8CF72D-79B2-4B94-BECB-C880CEB4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57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09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Plus $20；Business $20年付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85E479-455B-4D12-9D43-33CE6C57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38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订阅用量限制；API按输入/缓存/输出Token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D3F39D-390F-4C8B-96FE-27CFB188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14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9D2705-1E7D-4D65-9AC7-CA81DAF8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47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Cursor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585B8F-5D97-4EDE-9D70-4F563197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628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ABA30D-B0FA-4FFA-8656-EDC14939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667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含量+按量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74DDDE-5F27-4E23-9E1A-59092210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00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$20个人；$40团队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9325B4-953F-4000-B540-893BFE77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81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套餐含模型用量，超额可On-demand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C1C7F8-BB4F-4A96-8A97-9261D41F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57600"/>
            <a:ext cx="54673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5E9F70-2E64-45D7-91BE-90832131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909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0F17"/>
                </a:solidFill>
                <a:latin typeface="Microsoft YaHei"/>
                <a:ea typeface="Microsoft YaHei"/>
                <a:cs typeface="Microsoft YaHei"/>
              </a:rPr>
              <a:t>Trae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555457-4207-4672-B136-AB750C7D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7719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8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7B6A91-3C06-44A2-AB22-6A0B3D3D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810000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Basic Usage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019ACF-3C3B-4CBE-A5B0-1AD6AA87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4337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活动与档位动态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C45BA1-A417-4D9E-BB2F-AFDA10E2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24325"/>
            <a:ext cx="320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595757"/>
                </a:solidFill>
                <a:latin typeface="Microsoft YaHei"/>
                <a:ea typeface="Microsoft YaHei"/>
                <a:cs typeface="Microsoft YaHei"/>
              </a:rPr>
              <a:t>按模型API价格折算Dollar Usage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0C9EA60-14F6-4449-B27C-845DF974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29200"/>
            <a:ext cx="11068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5F5"/>
          </a:solidFill>
          <a:ln xmlns:a="http://schemas.openxmlformats.org/drawingml/2006/main" w="9525">
            <a:solidFill>
              <a:srgbClr val="557F8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D72167-BA1F-4354-900C-2E43ED3E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建议统一核算单位：每个可验收任务的完全成本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FA7944-5EBE-432F-9722-46D07827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5334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席位费 + 超额用量 + 云执行资源 + 人工复核时间 + 失败重试成本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8BA5D04-CF06-45D3-8F7C-0635F8B5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219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7F89"/>
                </a:solidFill>
                <a:latin typeface="Microsoft YaHei"/>
                <a:ea typeface="Microsoft YaHei"/>
                <a:cs typeface="Microsoft YaHei"/>
              </a:rPr>
              <a:t>试点至少记录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5332F1D-E01C-4B5B-A869-566B45F2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581650"/>
            <a:ext cx="4286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D1D1A"/>
                </a:solidFill>
                <a:latin typeface="Microsoft YaHei"/>
                <a:ea typeface="Microsoft YaHei"/>
                <a:cs typeface="Microsoft YaHei"/>
              </a:rPr>
              <a:t>成功任务数 · 平均Tokens/Credits · 重试率 · 人工复核分钟数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BBC349D-1824-4922-8408-60DEF3B8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53200"/>
            <a:ext cx="11068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1587ced3e62843e1"/>
              </a:rPr>
              <a:t>码道定价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81324c21b4e4e85"/>
              </a:rPr>
              <a:t> · Qoder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45c81025d6f74a78"/>
              </a:rPr>
              <a:t> · Cursor Pricing</a:t>
            </a:r>
            <a:r>
              <a:rPr sz="713" u="sng">
                <a:solidFill>
                  <a:srgbClr val="898989"/>
                </a:solidFill>
                <a:latin typeface="Microsoft YaHei"/>
                <a:ea typeface="Microsoft YaHei"/>
                <a:cs typeface="Microsoft YaHei"/>
                <a:hlinkClick xmlns:r="http://schemas.openxmlformats.org/officeDocument/2006/relationships" r:id="R34060ed266574bdc"/>
              </a:rPr>
              <a:t> · Trae Pricing</a:t>
            </a:r>
          </a:p>
        </p:txBody>
      </p:sp>
    </p:spTree>
    <p:extLst>
      <p:ext uri="{BB962C8B-B14F-4D97-AF65-F5344CB8AC3E}">
        <p14:creationId xmlns:p14="http://schemas.microsoft.com/office/powerpoint/2010/main" val="273895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2026-07-23T03:55:22.9550000Z</dcterms:created>
  <dcterms:modified xsi:type="dcterms:W3CDTF">2026-07-23T03:55:22.9550000Z</dcterms:modified>
</coreProperties>
</file>