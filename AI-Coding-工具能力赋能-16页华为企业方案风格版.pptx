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ab87ec02f94970" /><Relationship Type="http://schemas.openxmlformats.org/officeDocument/2006/relationships/extended-properties" Target="/docProps/app.xml" Id="R408189a4085f4589" /><Relationship Type="http://schemas.openxmlformats.org/officeDocument/2006/relationships/officeDocument" Target="/ppt/presentation.xml" Id="Rb5c7e6c4e0f541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9214cd09364326"/>
  </p:sldMasterIdLst>
  <p:notesMasterIdLst>
    <p:notesMasterId xmlns:r="http://schemas.openxmlformats.org/officeDocument/2006/relationships" r:id="R57f492dcbc9745e0"/>
  </p:notesMasterIdLst>
  <p:sldIdLst>
    <p:sldId xmlns:r="http://schemas.openxmlformats.org/officeDocument/2006/relationships" id="256" r:id="Ra4a901955cbe44ed"/>
    <p:sldId xmlns:r="http://schemas.openxmlformats.org/officeDocument/2006/relationships" id="257" r:id="Rdad88f072ed14ad5"/>
    <p:sldId xmlns:r="http://schemas.openxmlformats.org/officeDocument/2006/relationships" id="258" r:id="Rd17fc8f3a0c14680"/>
    <p:sldId xmlns:r="http://schemas.openxmlformats.org/officeDocument/2006/relationships" id="259" r:id="Rfd7fc11d4d7046e6"/>
    <p:sldId xmlns:r="http://schemas.openxmlformats.org/officeDocument/2006/relationships" id="260" r:id="Reaf50a09ea7b4c98"/>
    <p:sldId xmlns:r="http://schemas.openxmlformats.org/officeDocument/2006/relationships" id="261" r:id="R4bcfba23d25c4e35"/>
    <p:sldId xmlns:r="http://schemas.openxmlformats.org/officeDocument/2006/relationships" id="262" r:id="R1a96f9aa71fd4f4f"/>
    <p:sldId xmlns:r="http://schemas.openxmlformats.org/officeDocument/2006/relationships" id="263" r:id="R773a305020c644df"/>
    <p:sldId xmlns:r="http://schemas.openxmlformats.org/officeDocument/2006/relationships" id="264" r:id="R107b5a0fb780441a"/>
    <p:sldId xmlns:r="http://schemas.openxmlformats.org/officeDocument/2006/relationships" id="265" r:id="R7b595d70e4864086"/>
    <p:sldId xmlns:r="http://schemas.openxmlformats.org/officeDocument/2006/relationships" id="266" r:id="R3f1c380dfbfa4f10"/>
    <p:sldId xmlns:r="http://schemas.openxmlformats.org/officeDocument/2006/relationships" id="267" r:id="R0e22b01e7fb3424a"/>
    <p:sldId xmlns:r="http://schemas.openxmlformats.org/officeDocument/2006/relationships" id="268" r:id="R1a7e5bab2f6549a4"/>
    <p:sldId xmlns:r="http://schemas.openxmlformats.org/officeDocument/2006/relationships" id="269" r:id="Rb3ed9336c8434a92"/>
    <p:sldId xmlns:r="http://schemas.openxmlformats.org/officeDocument/2006/relationships" id="270" r:id="R13ab154834da466c"/>
    <p:sldId xmlns:r="http://schemas.openxmlformats.org/officeDocument/2006/relationships" id="271" r:id="R250e83a68fa9448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1ee62704d94a7f" /><Relationship Type="http://schemas.openxmlformats.org/officeDocument/2006/relationships/slideMaster" Target="/ppt/slideMasters/slideMaster1.xml" Id="Ra89214cd09364326" /><Relationship Type="http://schemas.openxmlformats.org/officeDocument/2006/relationships/notesMaster" Target="/ppt/notesMasters/notesMaster1.xml" Id="R57f492dcbc9745e0" /><Relationship Type="http://schemas.openxmlformats.org/officeDocument/2006/relationships/presProps" Target="/ppt/presProps.xml" Id="R9fab4750ebf94ebf" /><Relationship Type="http://schemas.openxmlformats.org/officeDocument/2006/relationships/tableStyles" Target="/ppt/tableStyles.xml" Id="R7926c97cbee54617" /><Relationship Type="http://schemas.openxmlformats.org/officeDocument/2006/relationships/slide" Target="/ppt/slides/slide1.xml" Id="Ra4a901955cbe44ed" /><Relationship Type="http://schemas.openxmlformats.org/officeDocument/2006/relationships/slide" Target="/ppt/slides/slide2.xml" Id="Rdad88f072ed14ad5" /><Relationship Type="http://schemas.openxmlformats.org/officeDocument/2006/relationships/slide" Target="/ppt/slides/slide3.xml" Id="Rd17fc8f3a0c14680" /><Relationship Type="http://schemas.openxmlformats.org/officeDocument/2006/relationships/slide" Target="/ppt/slides/slide4.xml" Id="Rfd7fc11d4d7046e6" /><Relationship Type="http://schemas.openxmlformats.org/officeDocument/2006/relationships/slide" Target="/ppt/slides/slide5.xml" Id="Reaf50a09ea7b4c98" /><Relationship Type="http://schemas.openxmlformats.org/officeDocument/2006/relationships/slide" Target="/ppt/slides/slide6.xml" Id="R4bcfba23d25c4e35" /><Relationship Type="http://schemas.openxmlformats.org/officeDocument/2006/relationships/slide" Target="/ppt/slides/slide7.xml" Id="R1a96f9aa71fd4f4f" /><Relationship Type="http://schemas.openxmlformats.org/officeDocument/2006/relationships/slide" Target="/ppt/slides/slide8.xml" Id="R773a305020c644df" /><Relationship Type="http://schemas.openxmlformats.org/officeDocument/2006/relationships/slide" Target="/ppt/slides/slide9.xml" Id="R107b5a0fb780441a" /><Relationship Type="http://schemas.openxmlformats.org/officeDocument/2006/relationships/slide" Target="/ppt/slides/slide10.xml" Id="R7b595d70e4864086" /><Relationship Type="http://schemas.openxmlformats.org/officeDocument/2006/relationships/slide" Target="/ppt/slides/slide11.xml" Id="R3f1c380dfbfa4f10" /><Relationship Type="http://schemas.openxmlformats.org/officeDocument/2006/relationships/slide" Target="/ppt/slides/slide12.xml" Id="R0e22b01e7fb3424a" /><Relationship Type="http://schemas.openxmlformats.org/officeDocument/2006/relationships/slide" Target="/ppt/slides/slide13.xml" Id="R1a7e5bab2f6549a4" /><Relationship Type="http://schemas.openxmlformats.org/officeDocument/2006/relationships/slide" Target="/ppt/slides/slide14.xml" Id="Rb3ed9336c8434a92" /><Relationship Type="http://schemas.openxmlformats.org/officeDocument/2006/relationships/slide" Target="/ppt/slides/slide15.xml" Id="R13ab154834da466c" /><Relationship Type="http://schemas.openxmlformats.org/officeDocument/2006/relationships/slide" Target="/ppt/slides/slide16.xml" Id="R250e83a68fa9448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7aae993e0549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7b9479be9347a8" /><Relationship Type="http://schemas.openxmlformats.org/officeDocument/2006/relationships/notesMaster" Target="/ppt/notesMasters/notesMaster1.xml" Id="R4ccbab6abb7948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1ed224d56f4e76" /><Relationship Type="http://schemas.openxmlformats.org/officeDocument/2006/relationships/notesMaster" Target="/ppt/notesMasters/notesMaster1.xml" Id="Rd120a84b74a741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910cecc9a31470b" /><Relationship Type="http://schemas.openxmlformats.org/officeDocument/2006/relationships/notesMaster" Target="/ppt/notesMasters/notesMaster1.xml" Id="R2f13e7bbba7544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639147d3ee4bc7" /><Relationship Type="http://schemas.openxmlformats.org/officeDocument/2006/relationships/notesMaster" Target="/ppt/notesMasters/notesMaster1.xml" Id="R7019e8e6ab5849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f36bdb7d229455e" /><Relationship Type="http://schemas.openxmlformats.org/officeDocument/2006/relationships/notesMaster" Target="/ppt/notesMasters/notesMaster1.xml" Id="Rb543f6ba9da442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34fc482fb4f4594" /><Relationship Type="http://schemas.openxmlformats.org/officeDocument/2006/relationships/notesMaster" Target="/ppt/notesMasters/notesMaster1.xml" Id="Rab882a930d9e4a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26830b38e584e11" /><Relationship Type="http://schemas.openxmlformats.org/officeDocument/2006/relationships/notesMaster" Target="/ppt/notesMasters/notesMaster1.xml" Id="R7d22e2f7f660409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185289840af401d" /><Relationship Type="http://schemas.openxmlformats.org/officeDocument/2006/relationships/notesMaster" Target="/ppt/notesMasters/notesMaster1.xml" Id="Rc1f6fccded1c495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14dece63aeb4aca" /><Relationship Type="http://schemas.openxmlformats.org/officeDocument/2006/relationships/notesMaster" Target="/ppt/notesMasters/notesMaster1.xml" Id="Re7e0c29f77b1459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f1596968c164180" /><Relationship Type="http://schemas.openxmlformats.org/officeDocument/2006/relationships/notesMaster" Target="/ppt/notesMasters/notesMaster1.xml" Id="R9c3e1f5e26ae471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58da0d7d6ec4e4a" /><Relationship Type="http://schemas.openxmlformats.org/officeDocument/2006/relationships/notesMaster" Target="/ppt/notesMasters/notesMaster1.xml" Id="R70531e20b05646a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5673ca162af422c" /><Relationship Type="http://schemas.openxmlformats.org/officeDocument/2006/relationships/notesMaster" Target="/ppt/notesMasters/notesMaster1.xml" Id="R10148eb3ea3647d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cbda430d34c4471" /><Relationship Type="http://schemas.openxmlformats.org/officeDocument/2006/relationships/notesMaster" Target="/ppt/notesMasters/notesMaster1.xml" Id="R4d6394ea7a0f475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dc9077332414b2d" /><Relationship Type="http://schemas.openxmlformats.org/officeDocument/2006/relationships/notesMaster" Target="/ppt/notesMasters/notesMaster1.xml" Id="R920697b422ea486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db3de9e132147bb" /><Relationship Type="http://schemas.openxmlformats.org/officeDocument/2006/relationships/notesMaster" Target="/ppt/notesMasters/notesMaster1.xml" Id="R3067d4ecb1124ba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e6047d0784645e9" /><Relationship Type="http://schemas.openxmlformats.org/officeDocument/2006/relationships/notesMaster" Target="/ppt/notesMasters/notesMaster1.xml" Id="R82a4b0bf83fd4b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faebbd45bd438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2d3005415914d42" /><Relationship Type="http://schemas.openxmlformats.org/officeDocument/2006/relationships/slideLayout" Target="/ppt/slideLayouts/slideLayout1.xml" Id="R75b586b749c1438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b586b749c1438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e4b5fac2074e02" /><Relationship Type="http://schemas.openxmlformats.org/officeDocument/2006/relationships/image" Target="/ppt/media/image.png" Id="Rebc0580bcf2e4b69" /><Relationship Type="http://schemas.openxmlformats.org/officeDocument/2006/relationships/image" Target="/ppt/media/image2.png" Id="R148baed64042495c" /><Relationship Type="http://schemas.openxmlformats.org/officeDocument/2006/relationships/notesSlide" Target="/ppt/notesSlides/notesSlide1.xml" Id="R014ebfb640ff4d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0a816402004604" /><Relationship Type="http://schemas.openxmlformats.org/officeDocument/2006/relationships/hyperlink" Target="https://support.huaweicloud.com/productdesc-codeartssnap/codeartsdoer_pd_0001.html" TargetMode="External" Id="Re70eb5e474044db5" /><Relationship Type="http://schemas.openxmlformats.org/officeDocument/2006/relationships/hyperlink" Target="https://code.claude.com/docs/en/overview" TargetMode="External" Id="R88ef45eb07664fc8" /><Relationship Type="http://schemas.openxmlformats.org/officeDocument/2006/relationships/hyperlink" Target="https://docs.qoder.com/" TargetMode="External" Id="Rc9ca48fc6a084edf" /><Relationship Type="http://schemas.openxmlformats.org/officeDocument/2006/relationships/hyperlink" Target="https://learn.chatgpt.com/docs" TargetMode="External" Id="R74db4c8ab89c4dd4" /><Relationship Type="http://schemas.openxmlformats.org/officeDocument/2006/relationships/notesSlide" Target="/ppt/notesSlides/notesSlide2.xml" Id="R86913dec99074c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da4fcdecd74ede" /><Relationship Type="http://schemas.openxmlformats.org/officeDocument/2006/relationships/image" Target="/ppt/media/image3.png" Id="Rd7fef45fc5ec46ee" /><Relationship Type="http://schemas.openxmlformats.org/officeDocument/2006/relationships/hyperlink" Target="https://docs.bigmodel.cn/cn/coding-plan/learning-resources/how-coding-agent-works" TargetMode="External" Id="R434e549b539f4b8c" /><Relationship Type="http://schemas.openxmlformats.org/officeDocument/2006/relationships/notesSlide" Target="/ppt/notesSlides/notesSlide3.xml" Id="Rdfb2690f5bc444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3bbd0a32d841ef" /><Relationship Type="http://schemas.openxmlformats.org/officeDocument/2006/relationships/hyperlink" Target="https://docs.bigmodel.cn/cn/coding-plan/learning-resources/common-workflow" TargetMode="External" Id="Re811cd77faeb4b05" /><Relationship Type="http://schemas.openxmlformats.org/officeDocument/2006/relationships/notesSlide" Target="/ppt/notesSlides/notesSlide4.xml" Id="R4206f334af0a4c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ad2845b2c4a4c" /><Relationship Type="http://schemas.openxmlformats.org/officeDocument/2006/relationships/hyperlink" Target="https://support.huaweicloud.com/usermanual-codeartssnap/codeartsagent_ug_0001.html" TargetMode="External" Id="Rb384b4c579b04a4a" /><Relationship Type="http://schemas.openxmlformats.org/officeDocument/2006/relationships/hyperlink" Target="https://docs.qoder.com/user-guide/indexing" TargetMode="External" Id="R45e608bf94be4eaa" /><Relationship Type="http://schemas.openxmlformats.org/officeDocument/2006/relationships/hyperlink" Target="https://docs.qoder.com/user-guide/repo-wiki" TargetMode="External" Id="R3922bbb67e6a484e" /><Relationship Type="http://schemas.openxmlformats.org/officeDocument/2006/relationships/hyperlink" Target="https://docs.qoder.com/account/enterprise/qmind" TargetMode="External" Id="R6291d19f232c4291" /><Relationship Type="http://schemas.openxmlformats.org/officeDocument/2006/relationships/notesSlide" Target="/ppt/notesSlides/notesSlide5.xml" Id="R5eae0604697f44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56939e793441d" /><Relationship Type="http://schemas.openxmlformats.org/officeDocument/2006/relationships/image" Target="/ppt/media/image.jpeg" Id="Rf480dce79cb5402e" /><Relationship Type="http://schemas.openxmlformats.org/officeDocument/2006/relationships/hyperlink" Target="https://docs.qoder.com/account/enterprise/knowledge-base" TargetMode="External" Id="Rbaf32cb97fd14aa6" /><Relationship Type="http://schemas.openxmlformats.org/officeDocument/2006/relationships/hyperlink" Target="https://qoder.com/blog/qoder-llm?type=%E6%8A%80%E6%9C%AF" TargetMode="External" Id="Re97f82be6a8d419d" /><Relationship Type="http://schemas.openxmlformats.org/officeDocument/2006/relationships/hyperlink" Target="https://support.huaweicloud.com/usermanual-codeartssnap/codeartsagent_ug_0001.html" TargetMode="External" Id="Rad3d143b8bad46c5" /><Relationship Type="http://schemas.openxmlformats.org/officeDocument/2006/relationships/notesSlide" Target="/ppt/notesSlides/notesSlide6.xml" Id="Rbf96e59d945748a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8500171d24889" /><Relationship Type="http://schemas.openxmlformats.org/officeDocument/2006/relationships/hyperlink" Target="https://code.claude.com/docs/en/workflows" TargetMode="External" Id="Rf1472b5ceac84173" /><Relationship Type="http://schemas.openxmlformats.org/officeDocument/2006/relationships/hyperlink" Target="https://code.claude.com/docs/en/goal" TargetMode="External" Id="R89d78eb05e944e64" /><Relationship Type="http://schemas.openxmlformats.org/officeDocument/2006/relationships/hyperlink" Target="https://docs.qoder.com/user-guide/quest/spec-driven" TargetMode="External" Id="R552231b3184a4360" /><Relationship Type="http://schemas.openxmlformats.org/officeDocument/2006/relationships/hyperlink" Target="https://docs.trae.ai/ide/solo-mode" TargetMode="External" Id="Rf9fda4d944e840ae" /><Relationship Type="http://schemas.openxmlformats.org/officeDocument/2006/relationships/notesSlide" Target="/ppt/notesSlides/notesSlide7.xml" Id="Rd9d02e2a383848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a83180750a4c26" /><Relationship Type="http://schemas.openxmlformats.org/officeDocument/2006/relationships/hyperlink" Target="https://code.claude.com/docs/en/agent-teams" TargetMode="External" Id="R8b6f32c874da463c" /><Relationship Type="http://schemas.openxmlformats.org/officeDocument/2006/relationships/hyperlink" Target="https://code.claude.com/docs/en/workflows" TargetMode="External" Id="Rd248b7dc2e4c4cbc" /><Relationship Type="http://schemas.openxmlformats.org/officeDocument/2006/relationships/hyperlink" Target="https://docs.qoder.com/user-guide/quest/overview" TargetMode="External" Id="R0d53de04498d4524" /><Relationship Type="http://schemas.openxmlformats.org/officeDocument/2006/relationships/hyperlink" Target="https://support.huaweicloud.com/usermanual-codeartssnap/codeartsagent_ug_0052.html" TargetMode="External" Id="Re9a0c9f6556942c8" /><Relationship Type="http://schemas.openxmlformats.org/officeDocument/2006/relationships/notesSlide" Target="/ppt/notesSlides/notesSlide8.xml" Id="R5eee19ddb30446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8505804e4a42dc" /><Relationship Type="http://schemas.openxmlformats.org/officeDocument/2006/relationships/hyperlink" Target="https://github.com/Fission-AI/OpenSpec" TargetMode="External" Id="Rd4130325cd0844ae" /><Relationship Type="http://schemas.openxmlformats.org/officeDocument/2006/relationships/notesSlide" Target="/ppt/notesSlides/notesSlide9.xml" Id="R2cca978105ca4fe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c9d72a25fe41c2" /><Relationship Type="http://schemas.openxmlformats.org/officeDocument/2006/relationships/hyperlink" Target="https://github.com/obra/superpowers" TargetMode="External" Id="R5c4ff6a0e0674f9e" /><Relationship Type="http://schemas.openxmlformats.org/officeDocument/2006/relationships/notesSlide" Target="/ppt/notesSlides/notesSlide10.xml" Id="Rf7a47e4a7eb74ed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9da2f53cf24b34" /><Relationship Type="http://schemas.openxmlformats.org/officeDocument/2006/relationships/hyperlink" Target="https://qoder.com/blog/qoder-v1-mega-rewrite" TargetMode="External" Id="Ra78d461ec8a74318" /><Relationship Type="http://schemas.openxmlformats.org/officeDocument/2006/relationships/hyperlink" Target="https://docs.qoder.com/user-guide/quest/execution-environments" TargetMode="External" Id="Rcbabb25059934d3a" /><Relationship Type="http://schemas.openxmlformats.org/officeDocument/2006/relationships/notesSlide" Target="/ppt/notesSlides/notesSlide11.xml" Id="Rb639baedb88941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975e96b8c0492e" /><Relationship Type="http://schemas.openxmlformats.org/officeDocument/2006/relationships/image" Target="/ppt/media/image4.png" Id="R1a0adca1af844ba9" /><Relationship Type="http://schemas.openxmlformats.org/officeDocument/2006/relationships/hyperlink" Target="https://docs.trae.ai/ide/figma-to-code" TargetMode="External" Id="R3e64542d1c0141a2" /><Relationship Type="http://schemas.openxmlformats.org/officeDocument/2006/relationships/hyperlink" Target="https://help.figma.com/hc/en-us/categories/14559151746583-Dev-Mode" TargetMode="External" Id="R2fe6d190633048d5" /><Relationship Type="http://schemas.openxmlformats.org/officeDocument/2006/relationships/notesSlide" Target="/ppt/notesSlides/notesSlide12.xml" Id="Re4e72b7650c54d9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ae6a9daa38453a" /><Relationship Type="http://schemas.openxmlformats.org/officeDocument/2006/relationships/hyperlink" Target="https://learn.chatgpt.com/docs/browser" TargetMode="External" Id="Rf2e79cf0153149c1" /><Relationship Type="http://schemas.openxmlformats.org/officeDocument/2006/relationships/hyperlink" Target="https://docs.trae.ai/ide/browser-and-preview" TargetMode="External" Id="R9a8ab5413691490e" /><Relationship Type="http://schemas.openxmlformats.org/officeDocument/2006/relationships/hyperlink" Target="https://playwright.dev/docs/best-practices" TargetMode="External" Id="R0f7a8e1a61b34503" /><Relationship Type="http://schemas.openxmlformats.org/officeDocument/2006/relationships/notesSlide" Target="/ppt/notesSlides/notesSlide13.xml" Id="Racf0457a2f7b4b7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807027f2f448ab" /><Relationship Type="http://schemas.openxmlformats.org/officeDocument/2006/relationships/hyperlink" Target="https://learn.chatgpt.com/docs/pricing" TargetMode="External" Id="R3bd649b69eb145e9" /><Relationship Type="http://schemas.openxmlformats.org/officeDocument/2006/relationships/hyperlink" Target="https://platform.openai.com/docs/guides/prompt-caching" TargetMode="External" Id="R13b93eec10ac4ad4" /><Relationship Type="http://schemas.openxmlformats.org/officeDocument/2006/relationships/hyperlink" Target="https://docs.qoder.com/user-guide/context-compression" TargetMode="External" Id="R36236337c8d1494c" /><Relationship Type="http://schemas.openxmlformats.org/officeDocument/2006/relationships/hyperlink" Target="https://docs.anthropic.com/en/docs/build-with-claude/prompt-caching" TargetMode="External" Id="R911fdf5002e44376" /><Relationship Type="http://schemas.openxmlformats.org/officeDocument/2006/relationships/notesSlide" Target="/ppt/notesSlides/notesSlide14.xml" Id="R8e3be2ecbac04c9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e0a66e3c1e4c03" /><Relationship Type="http://schemas.openxmlformats.org/officeDocument/2006/relationships/hyperlink" Target="https://code.claude.com/docs/en/security" TargetMode="External" Id="R7e921dcf09af4398" /><Relationship Type="http://schemas.openxmlformats.org/officeDocument/2006/relationships/hyperlink" Target="https://code.claude.com/docs/en/sandboxing" TargetMode="External" Id="R74fecc01f4db4465" /><Relationship Type="http://schemas.openxmlformats.org/officeDocument/2006/relationships/hyperlink" Target="https://owasp.org/www-project-top-10-for-large-language-model-applications/2_0_vulns/LLM06_ExcessiveAgency.html" TargetMode="External" Id="Rf776f096e63e43ff" /><Relationship Type="http://schemas.openxmlformats.org/officeDocument/2006/relationships/hyperlink" Target="https://support.huaweicloud.com/usermanual-architecture/architecture_03_0073.html" TargetMode="External" Id="R9a43750d6946445e" /><Relationship Type="http://schemas.openxmlformats.org/officeDocument/2006/relationships/notesSlide" Target="/ppt/notesSlides/notesSlide15.xml" Id="Rf22b7dcc333243c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34e7f8bb4a48ae" /><Relationship Type="http://schemas.openxmlformats.org/officeDocument/2006/relationships/hyperlink" Target="https://support.huaweicloud.com/usermanual-architecture/architecture_01_0001.html" TargetMode="External" Id="R3a1acc28c7aa424c" /><Relationship Type="http://schemas.openxmlformats.org/officeDocument/2006/relationships/hyperlink" Target="https://docs.bigmodel.cn/cn/coding-plan/learning-resources/how-coding-agent-works" TargetMode="External" Id="Red731483a5544459" /><Relationship Type="http://schemas.openxmlformats.org/officeDocument/2006/relationships/hyperlink" Target="https://owasp.org/www-project-top-10-for-large-language-model-applications/" TargetMode="External" Id="Rf8f585c17457481c" /><Relationship Type="http://schemas.openxmlformats.org/officeDocument/2006/relationships/notesSlide" Target="/ppt/notesSlides/notesSlide16.xml" Id="Rbe346418230444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c0580bcf2e4b6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0C5075-7121-4C97-88C4-22CCBC72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810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AI Coding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67E405-1B2F-4AD3-B415-CC35F269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38275"/>
            <a:ext cx="685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技术原理与工程实践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EC844-140F-4DD4-988D-00E2616E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118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754B21-6766-4CEC-84D5-D5FC1E56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华为云解决方案架构师赋能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B4241B-F89C-4905-BCE3-9E315E6C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05150"/>
            <a:ext cx="704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Agentic Loop · 上下文工程 · 多Agent协作 · 质量与安全治理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890410-4556-41A5-B121-795A495F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部门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254FD2-AD16-4359-B6E3-22DB55C3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48125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____________________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156AF4-8A98-4A3E-BF87-20427F5D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11E754-FDD2-4AE1-BB6E-26A1A6E6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48125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作者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8BCA8A-CCEC-4429-BA97-D4EEF55C0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48125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____________________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0341F9-B09F-4860-9B86-EF7251C1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A5061C-229E-4ADC-8839-545EDDC28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863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日期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30FF89-D18D-40F1-A7B8-086679F8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6863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2026年7月23日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131CB8-0AEB-49F9-A3A6-8115A683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81575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A3950A-69BD-413E-8DD8-B61EBDAB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863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安全级别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189CC1-BBA6-49D8-85F8-DF47934D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6863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内部公开（可修改）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B49F47-7AAD-486E-A29B-6C252CC3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981575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8baed64042495c"/>
          <a:stretch xmlns:a="http://schemas.openxmlformats.org/drawingml/2006/main"/>
        </p:blipFill>
        <p:spPr>
          <a:xfrm xmlns:a="http://schemas.openxmlformats.org/drawingml/2006/main">
            <a:off x="9715500" y="5811861"/>
            <a:ext cx="1885950" cy="42540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970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E61C7A-AC78-4CFB-80AD-00A799715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六类技术机制共同构成 Coding Agent 系统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6423D4-510E-4BF8-9E2F-56883724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A0494-8FB8-46D6-9577-ABFEA664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56A52-F564-4EA7-A81C-3C8C3467D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上下文与知识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F9D47B-0EBF-4940-89D5-49AA6730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Codebase · CodeWiki · 知识引擎 · 规则/记忆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376B1C-08D2-44EF-9C3D-49EE98D9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为模型提供可追溯的任务事实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5ABA5D-3A3E-4BCC-926B-FE20A247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8F38E6-5B88-47F7-8F40-0AF97819F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41DC44-C374-497E-AA4F-62187D3B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任务编排与状态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0051EE-F9E1-49CE-A9B5-BA924104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Workflow · Goal · SDD · Solo · Quest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F09B65-7207-4880-8015-F3664985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把非确定推理约束为可观察执行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2B827C-03CF-4E26-98D3-BFC01759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4C5CD8-A501-4317-921C-EB33FCF1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B95DDF-2680-4BF9-95FC-D208BD69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Agent协作与隔离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5A4FF2-8B06-45C0-894E-48EDC1CF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Sub Agent · Agent Team · Worktree · Cloud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98FBC9-BA48-4684-84C6-3376481BB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并行分工，同时隔离上下文与代码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EB4FE7-916D-449F-B2B0-CE249425B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CC6B09-C94A-4E69-A1E1-DDF83CD8A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6D0B72-036A-443E-BAAF-7C358EE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工具执行与集成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576FC0-19C8-4F82-A474-EE3F7469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CLI · MCP · Hooks · Browser · Figma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D16EFE-B63C-42C1-B71B-AC2DFF0B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把模型决策映射为外部系统动作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FD98CD-7862-44E0-812D-80B19B65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202D13-0BD7-44DA-B221-F1221DCA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7A2384-09F3-4C84-AB51-FC7E5885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交付与反馈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96759F-EF56-449B-A612-62C70996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Artifacts · Canvas · LSP · Debug · Channels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61F124-071B-4139-BF3C-B3B061D5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将运行结果转成证据并反馈下一轮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E4864B-00FC-4414-B7D7-AD604092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1A6D74-85F4-4FBA-91A9-03BFC498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1E973E-A27C-4403-8428-CF74A0A8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安全与治理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D78862-D0AE-4C65-9CC1-02CB8B39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Review · Security · Sandbox · 审计/配置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D5C5CE-6D67-465C-A2A6-AC03134E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在模型之外强制权限与质量边界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F3D16E-E361-459D-B94C-1F840AFE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57825"/>
            <a:ext cx="10801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SA学习主线：信息如何进入 → 决策如何形成 → 动作如何受控 → 结果如何验证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A671E3A-C6F7-4181-ADDF-297A2538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70eb5e474044db5"/>
              </a:rPr>
              <a:t>码道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8ef45eb07664fc8"/>
              </a:rPr>
              <a:t> · Claude Code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c9ca48fc6a084edf"/>
              </a:rPr>
              <a:t> · Qoder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4db4c8ab89c4dd4"/>
              </a:rPr>
              <a:t> · Codex</a:t>
            </a:r>
          </a:p>
        </p:txBody>
      </p:sp>
    </p:spTree>
    <p:extLst>
      <p:ext uri="{BB962C8B-B14F-4D97-AF65-F5344CB8AC3E}">
        <p14:creationId xmlns:p14="http://schemas.microsoft.com/office/powerpoint/2010/main" val="16965055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8A3688E-B397-4F85-BD6E-66A49E51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Agentic Loop把模型推理转化为可执行、可观察、可收敛的工程循环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A978E4-C1D4-402F-A4A9-72BD6F663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54673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fef45fc5ec46ee"/>
          <a:stretch xmlns:a="http://schemas.openxmlformats.org/drawingml/2006/main"/>
        </p:blipFill>
        <p:spPr>
          <a:xfrm xmlns:a="http://schemas.openxmlformats.org/drawingml/2006/main">
            <a:off x="722173" y="1390650"/>
            <a:ext cx="5127905" cy="2590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D5E586-2264-4B9A-9518-01EA79D42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239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DD0755-8E25-4642-8CFE-4DD7D8A6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763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7B1AC7-B5C5-4727-AB50-CB2D8CAA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4573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获取上下文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75D984-757F-4110-A581-CE1ABF61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8097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搜索代码、读取文件、项目规则、历史状态与用户补充信息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6AAACA-ED6B-45D0-89BC-370E5129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383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068ADD-5206-42A6-984F-6F841220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907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645146-7798-489B-9B1D-625553ACD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17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执行操作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22BF4-C0C3-4C14-AC41-3323BE70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模型选择工具：修改文件、运行命令、访问Web或调用外部服务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32DBD0-A391-4326-AE1B-E474A621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527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3F0BE4-3C48-4B44-B0FF-F3F6DD9B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05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008B57-797B-4772-AA80-050E9B691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861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验证结果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3E4A00-B5F1-4BE3-8B3B-4FCE5AFA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6385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读取工具观察值，以测试、构建、Diff和验收条件判断下一步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06583D-5E70-48FB-B381-637AFB962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62450"/>
            <a:ext cx="110680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B431CD-2CC9-4D0D-B761-2FBAEA31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43425"/>
            <a:ext cx="1238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循环状态机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49DF5A-A281-41AE-903A-9E02398A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EEAF1E-AAC8-40FD-937F-91D3E964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041E80-C63B-4162-8531-F54A0A02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4C0DD8-2172-418D-8E01-4064F33E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24802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95908A-4BFB-447D-B72C-4F8CC761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8C4F3D-25F2-4745-A65D-F54030C7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检索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504B88-CF3D-4D9E-9476-B4CC363E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B264FF-A233-406D-952D-BAFB1361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53390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B76280-1437-40CE-965D-50DB5C6C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8253F3-0C73-450D-9438-6A5E987E8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801B46-B401-4242-92F2-39476BDCC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4EA092-851F-4F57-81AD-810259F3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1977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8B2ED0-97CB-4434-9526-4C28AA71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6CB509-4393-4B71-8326-B7364030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工具调用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10B8CBE-A5EB-4AA2-8BDB-7B2CE599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F7DA72-8259-40C1-8619-476E43296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10565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EBB3E0-2424-4DAF-905D-B714E0A7F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019EEE-DCFC-4E70-9A73-C2096B52F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988E8B-CFBB-45FA-AEE4-FE66ED179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169973-A2C0-4D2C-9159-FABE1AAB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39152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A144A7-B139-42B2-A8B4-6A478A6B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2A47D1E-49D5-4C1D-B92A-ADC419AB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F885B5B-3CA5-4788-8A30-B172FF83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43821C-862D-48A4-9FBB-51A9FD4DC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7740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E05915-702E-46C2-A4D5-0728FBB3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B0ECBFB-BC66-469C-95B8-3B7938891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继续 / 结束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0739ED9-12EC-4E35-90B2-E25B1FDE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14900"/>
            <a:ext cx="895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观察结果会更新上下文并触发重新规划；用户可随时中断、补充上下文或改变方向。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D342C64-76EF-46C4-AB9B-F3556819A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Goal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80F5D1B-321C-4C73-9B79-9695E086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定义可验证停止条件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B17EDD1-7B22-466C-AECC-8ACA9AED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F82EF30-1784-43DC-8099-F9C74896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在外层编排多个Loop/阶段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32A9AB-DAEE-496B-9125-F14AB033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Subagent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DD75C56-31BC-46E3-80B2-E110E74D6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形成嵌套且隔离的子Loop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25BC939-0620-4E89-B73C-9B970AAA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Skills / MCP / Hooks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A728D37-53B3-4A82-96CA-F9C71A8A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扩展决策、工具和生命周期动作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D82A4B9-2780-4B9A-B0F2-62CB096A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Memory / Rules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EF587BA-251D-484E-A7FB-58B457B0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提供跨轮次稳定上下文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F809C32-08A2-4C7A-A8CD-35CC080F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Sandbox / Review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077CC12-BDA7-4F8B-8B04-3EFFE616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限制动作并形成质量闸门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2295CE7-7357-4E0C-A24A-0F64F5A9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34e549b539f4b8c"/>
              </a:rPr>
              <a:t>智谱：Coding Agent工作原理</a:t>
            </a:r>
          </a:p>
        </p:txBody>
      </p:sp>
    </p:spTree>
    <p:extLst>
      <p:ext uri="{BB962C8B-B14F-4D97-AF65-F5344CB8AC3E}">
        <p14:creationId xmlns:p14="http://schemas.microsoft.com/office/powerpoint/2010/main" val="7480631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2F54C50-AC71-4281-87EC-02AFA6F9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Coding Agent工作流是在Agentic Loop外层增加阶段、闸门与交付状态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2BA0AA-4175-42BA-B49A-12C8E2B2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4B88A0-1B41-429E-BD53-A4DC24C8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F6A1F3-0996-4638-9933-1C645C76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探索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09060C-873E-4901-8107-5BDF0968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从宽到窄理解上下文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866304-5A4D-4C51-B710-D3DC23D8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C4A659-DFD8-438D-8646-15A9153D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289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80F773-FC95-4430-ABD7-364D01DC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17F942-3076-4332-8FE1-DAABB0E8B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3E0BA0-7D1F-4F94-BE14-1464A483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计划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7B52BC-11C6-4F8E-A74E-1A41885E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明确范围、风险与验收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7EB18C-A023-49C1-B383-759F4CFDA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377113-045B-4038-8B67-76203A78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387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BEFB97-C4B2-47D3-8253-89980C33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003612-E5FC-4BFB-9CF6-AC811A1D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D8309D-C2A7-466F-A7F3-B5224DF1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EC3707-096B-4988-80D4-26E152E3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小步修改或委派子Agent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FFBCDF-1D8F-4559-9551-6F0372B7D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A71691-AFD1-4A0D-A0E3-E60C609B8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0485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967A29-00FB-4BE4-9C36-767B1DCB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318A7E-1383-4C34-A05D-4BC0AFCC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D663F3-D9C0-4E9E-9487-D25FDF66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B1E114-7B89-42B9-A628-00587639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测试、构建、Diff和规则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172BFC-A742-49AD-91E1-1AC6B87C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A17C93-605A-4744-8D0B-406588C4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583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1DD3B8-36C9-4329-941E-53BA899F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5DC049-FEAB-4B4D-BD90-0B4B0DB2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BF4D56-8E1F-498E-88E4-4C873D91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E87A51-21C6-44AF-B675-E68E5B93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PR、文档、证据与回写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6A9883-EF7C-4369-BC1C-38CC140B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452BE6-D33A-47B6-89CD-B784B648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理解新代码库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6CF2AE-9077-45E5-BBD6-ECD382BA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概览→架构/术语→相关文件→追踪端到端流程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EE35285-7DED-4C13-BA8E-31712415C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F195E6-7FEA-4BCC-9E78-BEE53EDD0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完成标准：架构图、入口、关键模型与调用链可解释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B5156B-2678-4C98-8CB1-56EAEF31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EBAFB61-DC63-478B-81C9-2F7DADF2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修复 Bug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3C2F50-92FA-4E9D-9756-673D4EEC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复现→堆栈/日志→提出假设→最小修复→回归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1863360-525C-4D39-9803-C7A8B397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19100F-EB4A-48F2-BD3F-02B0595A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完成标准：原问题不再复现，相关测试通过且无新增错误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A031A6E-AAC9-464D-B004-D4751FBE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68F1294-1BF4-4F44-A1D8-4D2884FA5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重构代码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61B5B5E-46F1-46EE-941B-80964A1C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识别遗留→评估兼容性→小步迁移→行为验证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24BCFF7-089A-443F-926D-6EE9B83A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431C60D-0978-4FD1-AAD8-A2229EF6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完成标准：行为保持一致，接口/性能/兼容性满足约束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0E0F166-3D65-49F5-A6D1-8AF4BCC1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5DDB0AF-F904-48D9-9F52-7D939E6A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编写测试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1493BF0-5641-4098-8034-9D0230BC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找覆盖缺口→生成框架→边界/异常→运行修复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9F9F296-4F1C-4869-94D3-7DE776E4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C94712E-C6D6-4104-BAFE-DB817C5D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完成标准：测试有意义、可重复，失败能定位真实问题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24B7594-2C75-4B58-B211-2EBC549F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D786098-543C-4F5F-A47A-2312C0A9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创建 PR / Review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5DCD9F1-9F68-4810-8D02-D2022B5D6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总结Diff→识别风险→完善说明→运行CI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A54F01D-A07B-4F0D-87DB-213DEAFB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1B30EE2-4E62-4875-A2C4-DD8458C6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完成标准：审查者能理解目的、影响面、验证和回滚方式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FA57DF3-2548-4440-9718-801BB1400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2F86DD-F2C6-428F-A422-6B4F8CD6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处理文档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F6276F7-83ED-4E13-9211-F4C68E72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找未记录接口→补说明/示例→规范检查→验证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A83B893-AFC9-4A2D-93A4-3D08E959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54B7C02-B9E9-4C43-B65F-8AFDF549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完成标准：公共API与复杂逻辑有准确、可维护的说明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96F797E-801B-4CEF-BD26-26CE62BA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1068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4C97775-0A12-4E60-8646-1A82E780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2452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三个跨阶段控制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B13D5D6-0EAE-414F-9603-DB5B4D2A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715000"/>
            <a:ext cx="922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6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Plan Mode：复杂任务先只读分析  |  Subagents：按角色和最小工具权限委派  |  @文件/目录：精准注入上下文，避免全仓粘贴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EA5C67D-ADD6-4DFF-856E-EBD24B72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811cd77faeb4b05"/>
              </a:rPr>
              <a:t>智谱：常用工作流</a:t>
            </a:r>
          </a:p>
        </p:txBody>
      </p:sp>
    </p:spTree>
    <p:extLst>
      <p:ext uri="{BB962C8B-B14F-4D97-AF65-F5344CB8AC3E}">
        <p14:creationId xmlns:p14="http://schemas.microsoft.com/office/powerpoint/2010/main" val="16507011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C41E13E-F1C3-4A50-83FB-0EF11758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Codebase解决“找得到”，CodeWiki解决“看得懂”，图谱解决“串得起”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722504-76C1-45A7-AB20-A88AC0946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590BC1-4FC3-46E5-80B1-703CEC86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源数据层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E876CE-360C-4356-AFC3-091223C4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代码 / 文档 / 提交 / Issue / 配置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6E7B5-0090-4283-9B0F-11AE20605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0BBD88-8C56-4B8C-96B2-65A33F70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384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1CEF4E-75FD-4154-8885-BD20F513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D90D51-5338-4C9F-A8DC-C6F81C69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解析层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253D96-253E-4B60-979F-A43B43051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Tree-sitter / AST / LSP / 符号表 / 依赖解析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8CAE8F-5FD7-4482-A1D7-9CE1B598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95F79D-A018-4D80-A0EC-963C4670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482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719B42-2C2F-4181-9608-C86C5589E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ABFBFD-AC06-45B6-B550-F2D31505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索引层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4BCE67-BA8F-4035-B223-E4596A54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倒排索引 + 向量索引 + 图数据库 + 增量更新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598518-EB8F-447F-8A27-0B38B755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A7CD39-A996-454A-95C8-73929CDD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0580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5FB518-C7D6-4166-8389-57AC4AB83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51796-B22B-4740-9652-F68794B5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知识层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6384BC-BF71-44B1-B683-349797D01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模块摘要 / API说明 / Repo Wiki / 知识卡片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1C6797-24CF-40B1-925C-D1E62C28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3CB359-FAAD-45BA-A479-593281D3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678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809A20-828B-4512-9F0C-A625AF591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0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F0994B-6938-40EA-B59E-8BDF9505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运行时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6F762E-FC4A-403B-A52E-7A6F11767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意图理解 → 混合检索 → 重排 → 上下文装配 → 引用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C3A2A2-35D5-4DA8-B7FB-6F4CF44A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技术能力对比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D769A5-7285-4A7A-A66C-FAEC18B8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718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7253E0-3874-489A-9C51-F5DA975F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6F810F-4A01-407D-8312-CD8E9B03D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3718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826499-D4D0-45CD-8FA9-5AE5B86F5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4290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核心输出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399375-9B19-49A6-BE41-9C4E050A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3718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787D9F-B1FF-4FEC-B80F-6855E77A8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4290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优势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064674-63CD-4A5E-BE39-42FFD81A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3718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23799F-4792-4407-9F0B-F3A400B1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4290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主要风险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DA3677E-BF73-40BD-9290-9BC95B57B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3718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7D431F-FC23-4C6B-9DA8-FED6C9D5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4290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BD6C44-4A8D-4251-A467-BC96F5B4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7190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750243-9A47-476E-B682-73B0ECDE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2905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Codebase Index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ED0A43-72B0-412B-94D4-85CE4D4F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7719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E44C3EA-7444-4D48-9442-5D719815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8290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相关文件/符号/片段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A82B044-F44A-4344-B22A-8AF7735B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7719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FFC521D-E707-419A-A1DE-E4066A5CB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8290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实时任务召回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48F9D4-73B1-427B-8855-EEE76713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7719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2B8BFF-40E9-41F7-BB62-89592655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8290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噪声、遗漏、权限越界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55CC20-9206-4A8C-8F6A-0EDBA4CF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77190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7ADEBA-CBCB-44E2-A5DC-1493E997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82905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Recall@K、MRR、时效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82E6182-DA36-45E3-B17E-A2F60A883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719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D19FDC6-784D-4D05-9E69-F9648F51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291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CodeWiki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35ECE94-28FD-4C11-9DBA-8A1814E4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1719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0ED7C1E-2C55-4804-B994-36E3832E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2291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架构/模块/API解释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F9C97E5-E116-4452-9C17-7A8AFD33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1719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20C2BD-A282-48D7-A0CF-F6A3F179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2291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新人和存量项目理解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49466E8-0606-4ADB-A48E-E77B1BFB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1719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FD0CB23-6D19-42A3-B124-DC707245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2291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摘要过期、事实失真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75808A3-D23C-4493-8B54-497A7402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1719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AE88475-0681-4F71-937C-EFF806069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2291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覆盖率、引用率、过期率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42A4829-C4D3-4A4F-9F49-835A229A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FE13580-E911-432C-B643-5E9218DD7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2915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Knowledge Graph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B0C723D-9233-4512-B2A6-4D5B650B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72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AF18438-A83B-4ECB-AF62-33B3FD91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6291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实体、依赖与调用关系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42D828F-8BF8-4898-9F71-444D91D3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572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39D8E18-4E6D-4549-A486-8BC726B0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6291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跨模块影响分析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B8CA254-7FB5-4695-ADD4-684A14C7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572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7F17C1D-6545-4D1D-A34E-DAF6B21D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6291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关系抽取成本高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AC9C4E7-1F7A-4F39-AA09-70D49EC57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57200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6873B96-F671-4C59-9F48-6587B4DA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2915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边准确率、路径命中率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B9E8436-68AF-45B2-8252-B0A7FD0B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720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8B6D983-535A-44A9-98F5-620BC67E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292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Knowledge Card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6D7DF8B-AB30-4043-8EBA-64452A3E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9720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E7C29AD-6611-4EB9-828A-92E8FCFF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50292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可审阅的经验单元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E573855-426B-4374-968D-E914B3F8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9720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2C6DEAA-24D6-4507-AAF1-4AB0422B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50292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人工治理与复用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BF68496-8237-4240-96FD-C4C4D1A2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9720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31EFCF5-D24D-4851-9995-4B47DCB1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50292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维护负担、重复知识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8AA229C-696C-48F7-AB5C-47E7FFD4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9720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5BA3751-0AEA-4A94-BBD4-33FEAC811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0292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采纳率、修正率、复用率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49D4B41-91E9-4E29-B933-A3437F26F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67375"/>
            <a:ext cx="11068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架构结论：索引必须增量更新；生成知识必须带源码引用；权限过滤必须发生在检索前。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65C23D8-6553-4A5F-95CB-7D0C0FDD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384b4c579b04a4a"/>
              </a:rPr>
              <a:t>码道 Codebase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5e608bf94be4eaa"/>
              </a:rPr>
              <a:t> · Qoder Indexing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922bbb67e6a484e"/>
              </a:rPr>
              <a:t> · Qoder Repo Wiki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291d19f232c4291"/>
              </a:rPr>
              <a:t> · QMind</a:t>
            </a:r>
          </a:p>
        </p:txBody>
      </p:sp>
    </p:spTree>
    <p:extLst>
      <p:ext uri="{BB962C8B-B14F-4D97-AF65-F5344CB8AC3E}">
        <p14:creationId xmlns:p14="http://schemas.microsoft.com/office/powerpoint/2010/main" val="13603405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F8EC36-3945-44C5-98C9-46DD52E6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知识引擎本质是带版本、权限和反馈的上下文供给系统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F9D617-0887-4194-B138-F5E690BC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481012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80dce79cb5402e"/>
          <a:stretch xmlns:a="http://schemas.openxmlformats.org/drawingml/2006/main"/>
        </p:blipFill>
        <p:spPr>
          <a:xfrm xmlns:a="http://schemas.openxmlformats.org/drawingml/2006/main">
            <a:off x="619125" y="2069012"/>
            <a:ext cx="4676775" cy="13102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29C9C8-AAC2-4BF8-A7ED-70F8E4EF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42875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0622A1-35F1-4D84-8018-35697F61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4001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采集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66A6CD-9410-4893-A3F4-8A59E323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409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代码、文档、提交、任务与人工知识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592119-781E-44EB-961E-F9E1D2E8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87642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74DEAF-BA9A-4CE9-86D7-3E234BEF7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295525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99A015-6D22-4CAD-8437-936DDD94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结构化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03CF4-77B3-461B-96CB-BDAD2935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7647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解析符号/依赖/业务实体，生成可引用知识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B66F44-D2CD-47FF-81F6-09AFC73F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74320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F21FF7-C84F-4332-8178-F1945505D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6230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175B2B-5091-4354-96AD-CA2FD976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1337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索引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5A08CF-A080-4A96-A0A5-C2F09401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1432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关键词 + 向量 + 图关系，支持增量更新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1E7C7E-1CE6-481E-B757-91A78C52B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6099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FDEB6C-335F-41B9-BB3D-32D914CB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29075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703B7F-DCB8-4D74-BBD7-699A6238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005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检索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7BB841-4702-4243-8762-1690391E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010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按任务、文件、角色和权限选择上下文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0E10F2-4CE4-462F-B34D-4705C964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476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1AD56F-22AE-415C-A5B8-296CDDDA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89585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4C3FC5-3B8C-4E64-AF20-52F29E03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8672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反馈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D8C7F4-07E5-4DEA-8DBB-D06037DE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8768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把验证结果、修正与新知识写回资产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F67F68-C89E-4EFB-B753-B71EA3553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33875"/>
            <a:ext cx="48101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F3DBE0-4B23-492C-A4AA-D699EED1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运行机制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5641BF-4B88-4E83-9F0B-11B1F789D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945349-C109-4AB7-921B-88EB12B0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4347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冷启动先生成Repo Wiki/知识卡，再由领域专家校准关键事实。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7CABC0-E0B7-405F-8714-38BD64D8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D6F22E-F101-4AD7-B113-87CC266B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6732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任务只召回相关片段，输出必须保留文件、符号和版本依据。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80E875-EBBC-4AE5-A3BD-104EDE03D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7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68B5E4-C0A2-40C5-A7C0-E18067CC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9117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用命中率、过期率、采纳率和任务成功率评估，而非只看索引规模。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4A0425-2FA5-483A-8A5C-E1AE1900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af32cb97fd14aa6"/>
              </a:rPr>
              <a:t>Qoder Knowledge Engine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97f82be6a8d419d"/>
              </a:rPr>
              <a:t> · Qoder 技术博客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d3d143b8bad46c5"/>
              </a:rPr>
              <a:t> · 码道 Codebase</a:t>
            </a:r>
          </a:p>
        </p:txBody>
      </p:sp>
    </p:spTree>
    <p:extLst>
      <p:ext uri="{BB962C8B-B14F-4D97-AF65-F5344CB8AC3E}">
        <p14:creationId xmlns:p14="http://schemas.microsoft.com/office/powerpoint/2010/main" val="18291022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84829D2-136D-4EC2-88C8-8CC43213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五种编程模式的差异，在于计划持有者、状态管理和人工控制边界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718385-D139-4D69-8344-F9CEE384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4302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663287-944B-419E-AAB4-9499BB0B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017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C13A6A-7457-4A29-8105-E209B437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34302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2CF723-C029-49D0-A6BE-9FF214FF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40017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谁持有计划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A27D33-6359-48BA-937B-E1106C2E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34302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D12005-20A2-4F9F-9A6B-091CEED2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40017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核心输入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831045-7F91-4BDB-B968-335B633A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34302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05BF2D-DA94-49CE-8241-FBE2944C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40017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主要产物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65E20F-317C-4C3A-81C7-20BA5E13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34302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758E3D-5101-4DED-B80B-4D1A72506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40017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人工闸门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9839EF-1059-48BC-8B98-D3DEC0BE6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134302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DE13F4-F60B-4FC2-A4D8-1C9AF4E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40017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最适用任务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192B32-DAD1-4F2B-B362-CCEEECFF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FDFAB9-8F03-496C-A80B-C9300858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2405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8C613B-3898-4732-B7D9-FBD86BDA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86690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87E7E7-3DEC-48A2-BBE7-8E1F9D44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92405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脚本/运行时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E4E468-A6CD-4578-94B4-200258C0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86690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C84CF5-0BE9-4D3A-B61F-C73B28EB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92405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阶段、分支、Agent编排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5B5445-4269-4877-9159-506CFB31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86690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5F294C-EDE2-453F-9E77-7FF27555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92405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可复用JS流程与汇总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31FA0B-D398-48F5-8039-F9BB4201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8669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F8C561-FE16-4FF9-8967-163BDCD33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92405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运行前审脚本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036A3E-E566-404D-903A-E65F653E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186690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2B3B57-E24C-439C-94EC-47B87753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92405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大规模审计、迁移、研究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A19B38-5760-4BF5-A0ED-528BEDD61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9077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773B57-6B7A-4784-A505-2A75216D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Goal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B5396B-60F0-4766-A8B1-1EE89A59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39077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B070DF-9E95-41D7-BD9E-38298EC62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44792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当前会话+评估器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E3BEEF-180B-45FC-9E90-CC51B7AD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39077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464108-9210-40D5-8901-D2EE0E97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44792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可验证完成条件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A8997B-17FB-41AC-9E52-3B2673EC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39077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CCF81A-F3F1-4692-9813-9D99975D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4792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连续多轮执行与状态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3FE951-915A-418A-97E8-D7751F224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39077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DBEB7F-0213-41B9-9852-297CC0577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44792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可随时清除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FC652F-F4D5-4D35-B067-5814DC4C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239077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E5E5E9-B342-426C-A76A-C15CDB19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44792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测试全绿、队列清空、迁移完成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EBD33A2-592B-4B3C-92B8-90E29766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8C87A9-6184-4E66-B410-216008A0E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7180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SDD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B4CF396-C7BF-4C64-821C-9F58C84AE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91465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BD0B7DD-4001-4C22-974C-C87E2688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7180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Spec文档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87281F-0A97-495A-ADD9-B58F4569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91465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EC6AAE0-AD43-40EE-AF19-0B27BEDA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97180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需求、设计、任务、验收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5215EB-5194-4827-B6A2-ED4BB18A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91465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9FEE2B9-B58E-44F3-AE48-2DD47ADF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97180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可审查规格与实现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8D07989-51A3-44E6-86C5-2ED05F85D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91465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0401DC7-DDA4-4A16-AB60-1BAD8269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97180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Spec批准后执行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BF37634-0441-4A5E-88E4-05EBD6BE6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291465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44A0CF9-0C4F-44CA-B0DC-3B211C5E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97180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跨文件功能、变更可追溯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A0580D0-F6F4-47BF-83E8-5C3085E6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3852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0FC8A28-89ED-44B0-B8C6-00709D04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9567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Solo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2B26576-EE73-4474-A41D-10433BB7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43852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BCFC47E-8308-423A-8C33-C983060A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9567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产品内置自主Agent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A431B20-FB02-467F-9A6C-730308797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43852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99F547A-3025-4827-83C8-32F15AAD5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349567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自然语言目标+项目上下文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B7B75F5-F3DE-4C33-B0A4-C3846E73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43852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74D0C54-3C82-4093-B8DE-894215CEE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49567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端到端应用与预览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6C02B42-67F7-4DFD-8EE2-C2CA78572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43852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7AB0AA8-2DF8-436A-A319-E244525C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49567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关键动作确认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E2A17E1-7D62-4B7A-B86D-2E3659DFB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43852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49BC227-73DD-4664-B451-02C646CF9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49567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快速原型、前后端一体任务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3202E92-15E2-47F4-A1A9-19B78C88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B78C71B-A0D5-4FD5-81C7-BD2C7E16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1955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Quest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0C9869D-6A9A-43D6-8E8C-C39E5CDD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96240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C80C129-1522-4740-B82F-76F485F0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01955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任务工作台/Agent团队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B5E1F53-DAF8-4A0F-BACE-79DBD243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96240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23C7EF5-9096-4F19-8F1C-7A6F6D5A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401955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目标或Spec场景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FFEB2BB-F04A-42F5-A570-F5FB34911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96240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9628054-E9AD-4E65-B97F-A486D0AC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01955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任务、Artifacts、代码与评审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CCA7038-48E0-4050-B31D-5C0EDBAD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9624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52BD71B-D8A0-41B9-9366-B8729321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401955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Accept/Reject/PR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39B639A-AF3E-4048-AF4F-C64BE5A0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96240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94B9CC1-9AC8-4EBA-9B1A-9875B3D2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01955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长任务、多项目与多Agent协作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B837A55-824D-42DB-B29B-13D7E752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883F225-5809-4946-AC15-E4B5538E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要重复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C270B70-EBBF-453D-AF5B-D10827D8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 Workflow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0786411-1C51-49B2-BED5-5BB97B69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同一流程会重复运行，编排本身需要版本化。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0A20413-3F43-4D30-BD2B-387FCCC6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249248E-8BA8-419E-AE6D-DA61F65F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要完成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F913371-7203-441D-9427-0FA00A61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 Goal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98A0CCF-164F-4323-86F9-B472137DB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终态可测量，但路径允许动态调整。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9271805-CF29-4DFB-A533-1189F0B8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19FAC1B-FD98-44B6-8C4F-C5CE9D1F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要对齐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648C274-E601-4E4C-9A52-19577A2B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 SDD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FDC006E-47C2-456E-ACB9-6B548964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多人/多模块开发前必须冻结需求与验收。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FA26766-2A8E-4C4E-BB17-D231ECF9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27C49C9-9E63-4DAF-B55B-BF603F692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要自主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39851BA-D0EE-461D-A755-1BA2516E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 Solo / Quest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1F93DBE-578E-4AA3-8EC2-A4BB9BB6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把较完整任务交给Agent，并保留关键审批点。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82F3CA7-550E-4D73-8DEE-BD346A3D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1472b5ceac84173"/>
              </a:rPr>
              <a:t>Claude Workflow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9d78eb05e944e64"/>
              </a:rPr>
              <a:t> · Claude Goal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552231b3184a4360"/>
              </a:rPr>
              <a:t> · Qoder SDD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9fda4d944e840ae"/>
              </a:rPr>
              <a:t> · Trae SOLO</a:t>
            </a:r>
          </a:p>
        </p:txBody>
      </p:sp>
    </p:spTree>
    <p:extLst>
      <p:ext uri="{BB962C8B-B14F-4D97-AF65-F5344CB8AC3E}">
        <p14:creationId xmlns:p14="http://schemas.microsoft.com/office/powerpoint/2010/main" val="5574387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C6E5499-E472-474B-9C81-79BE9544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多Agent协作的核心不是数量，而是角色、隔离、依赖和汇总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56B89D-CBFE-4FA0-BA09-1BCF420A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390650"/>
            <a:ext cx="3086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8B4853-799B-41F4-84C5-8BB6D68F3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5430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Lead / Supervisor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A74B87-4224-44FE-AB69-453EED8C7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85737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拆任务 · 管依赖 · 分配预算 · 汇总决策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71EC2-C479-44AA-9BDD-003AC7C12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71700"/>
            <a:ext cx="19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5E5C2-AAF2-4081-B1BA-F3263D16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C28FA-A9F9-4F76-B26E-255161F0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探索Agent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E69BAF-741D-4CB1-AB63-B846F120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代码结构 / 影响面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BAC6F9-C4EF-415C-969C-D1BA6F66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B26CB2-E2A7-4E1D-BC48-10C1CD00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实现Agent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0F1975-674B-4219-A4E2-ADA2E4C7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模块开发 / 测试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B6557-028B-41CB-B616-A43B6201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4F36B6-2482-4316-BC32-FB3A9E4D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审查Agent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B443F1-BA51-402C-A62B-DD60835A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规范 / 质量 / 安全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BA331D-64DC-4D52-B384-33262684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DF7276-B635-4F09-8FC0-8297798CF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验证Agent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1DB21C-EA88-4E86-A4E2-19C46BC05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构建 / UI / 回归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AC6E76-5F5F-4E69-9E5F-BA6AD407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766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四个工程控制点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F0CEFD-65C8-428A-88B0-92CF89B1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47030E-8076-46B7-86D9-BEB34D1E9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E9D436-EC7C-4A07-934E-ECDC1CA08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上下文隔离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52E123-46A9-4AFC-A42A-DEF4686B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每个Agent只拿任务所需上下文，降低串扰与Token。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2CE287-C5CE-4D4A-B793-0A64D69A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892BDD-791A-428F-AF20-3871C9CA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D0A216-E07B-4F6F-9A29-352491C37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代码隔离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C67CB3-8888-4F98-979E-D582595D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Worktree/VM/容器分支，明确文件所有权，避免覆盖。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010DEC-C8DE-467B-9365-77A865C4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F59CC3-1F07-44A2-B9EA-8B7B6F540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25739D-8EED-4234-96CF-0C9ED3926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依赖调度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DA269D-3029-4681-87A2-06C0F714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任务DAG、状态机、重试与超时，禁止无边界并发。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B46B2A-E5CB-4652-8CA5-1687CC49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3D7C35-836F-4924-9414-8CDFEE59D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5B7B8F-8E73-4F5E-8DA8-BDB1A004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质量汇总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8F5B51-BB28-4F89-88FF-5AF61B4C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独立审查、证据合并、冲突裁决，Lead不盲信摘要。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6C821A-46BF-44C3-9E81-16018D80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67375"/>
            <a:ext cx="1104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1B8839-1CCB-4847-AA70-A7EB7AFB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706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适用：任务可分解且结果可独立验证；不适用：多人同时改同一核心文件、需求仍高度不确定。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41241B-EF2B-442F-B5D9-FE9D991C7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b6f32c874da463c"/>
              </a:rPr>
              <a:t>Claude Agent Teams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248b7dc2e4c4cbc"/>
              </a:rPr>
              <a:t> · Claude Workflows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d53de04498d4524"/>
              </a:rPr>
              <a:t> · Qoder Quest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9a0c9f6556942c8"/>
              </a:rPr>
              <a:t> · 码道 AgentTeam</a:t>
            </a:r>
          </a:p>
        </p:txBody>
      </p:sp>
    </p:spTree>
    <p:extLst>
      <p:ext uri="{BB962C8B-B14F-4D97-AF65-F5344CB8AC3E}">
        <p14:creationId xmlns:p14="http://schemas.microsoft.com/office/powerpoint/2010/main" val="227283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B6DDD6-6593-46B2-823C-90B4CE39A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OpenSpec用“当前规范 + 变更提案”控制存量项目的需求漂移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13C411-4701-499A-8C89-F40A3EF9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3371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ECC436-5EB4-4505-997A-7CAD1FDB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90675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openspec/specs/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328CED-BF40-4F59-B087-AC2988E2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85975"/>
            <a:ext cx="29146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当前已生效的事实来源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Requirements + Scenarios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供所有Agent读取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61FE92-750A-4726-B81A-147AA357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2574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94C811-1FAF-462D-B0B3-6A83B1CFF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24350" y="21907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FCA4A-DA55-422B-88AA-8B6741F7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371600"/>
            <a:ext cx="3371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F32DF2-6B2D-45A9-93FE-EF621C71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59067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openspec/changes/&lt;id&gt;/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43ACA-A7A7-4F73-AA55-0428E018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09775"/>
            <a:ext cx="2933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proposal.md  为什么/改什么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design.md  怎么实现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tasks.md  实施清单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specs/  规格增量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8A5863-BB9F-4CFD-855C-8D74544E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2574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33EF49-063D-4302-9588-2F01153D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362950" y="21907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06504-0E5C-46BD-A6E2-C3FF6CE8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371600"/>
            <a:ext cx="2990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23FC44-6BEC-44A0-BFFE-C560FCD9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90675"/>
            <a:ext cx="2533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Archive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48632F-1E09-465A-B7BE-F295E727F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05025"/>
            <a:ext cx="2533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实现并验证后归档变更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把批准的规格增量合并回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当前规范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7CFEB3-0F24-4F6B-802B-B850863A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6FB76F-B751-42F0-8917-8792C12E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/opsx:explore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816725-25DE-49D1-9D0F-28563D41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理解存量代码、权衡方案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84B637-BAF1-4782-9087-ECC908EB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BC4635-D7ED-4C6E-A09B-07569963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/opsx:propose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DD6689-B961-435C-A7E3-EB13263A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生成提案、规格、设计、任务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060078-1D57-4D13-986C-26F882D02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C13143-CA76-4398-BAEC-69F78CB9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/opsx:apply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5331B4-BB76-4B3E-A09A-FD3EE7146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按任务实现并持续更新状态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47D20E-F929-43A3-956D-BF23C678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83C2CE-69C3-42AF-8E1D-A6B1417E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F48DC0-77DA-4916-B75B-D5F36346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核对实现、场景和验收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8DFD50-E87C-4807-83DF-2419DCF6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4D8062-2F19-4CF9-90BD-10BBA2F0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/opsx:archive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B8E4E9-50CD-43A9-B82E-AF705E51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归档变更并更新当前规范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7D9D86-12B5-4E74-8FAC-A86086960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1068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AE8B6D2-3C61-4632-8575-77E72771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与其他机制的关系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B683E8-5FB0-4B09-9504-692F803D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5229225"/>
            <a:ext cx="857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AGENTS.md / Rules 管“Agent如何工作”；OpenSpec 管“系统当前应是什么、这次要改什么”；Quest/SDD 管“如何生成并执行任务”。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6952F2-AB10-44C0-9C0C-0BD2D1A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4130325cd0844ae"/>
              </a:rPr>
              <a:t>OpenSpec GitHub</a:t>
            </a:r>
          </a:p>
        </p:txBody>
      </p:sp>
    </p:spTree>
    <p:extLst>
      <p:ext uri="{BB962C8B-B14F-4D97-AF65-F5344CB8AC3E}">
        <p14:creationId xmlns:p14="http://schemas.microsoft.com/office/powerpoint/2010/main" val="20280291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48D9BC6-48AF-423E-A8C7-AB067230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Superpowers用Skills把研发方法转成可组合的生命周期控制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6F4392-C3FE-4826-816A-DB4EAEA1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732466-CCA8-4083-8308-809C15AC2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D43EC3-41FD-4207-9E3D-02328C45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Brainstorm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208327-5F88-4354-911E-5BA2390C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澄清需求与方案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793D4F-A38C-4DF0-A94F-9712841A5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96605E-768C-49BB-A497-69A10BBF5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0097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D1229C-0018-4505-8B47-FA027863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348868-BC19-45EC-9394-535942B1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FF99D2-AB47-4CBC-AB8D-08E03DFB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Design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99B7A0-F85E-4898-AE0A-726C3CF3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分段评审设计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2ECEC6-2F7B-4B14-B1D8-5E0DA547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A201C8-A6A8-4B4E-9F3C-CC2C2022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6671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C99B46-1C32-48EE-9BE0-0D6DA721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AFCABA-1757-4723-BC5B-1E6C01DA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337A60-487A-4F3E-86BD-FA3D93198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11FF16-FE65-4444-88D8-4E1ABB492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拆成可执行小任务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1F1AA1-8517-4105-B8D3-1477E946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7ADF33-F8A2-420E-995D-5FB2A4B0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244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1A68B1-DBBE-4062-9534-04C82510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0B60BC-5261-468F-8733-4FEF8CF6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4E2BC0-CA1C-4FFA-8D0D-0F686396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Worktree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61A4F1-9521-44F4-B12B-090399C6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建立隔离工作区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6CDDD7-3F6C-415D-AA75-A72441E3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840F0C-B729-4FC5-955E-7F1EECFA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9818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5950DA-EA8F-43F9-87A5-FABED597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85E386-785F-4EEC-84CD-BB6EA19D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8D779F-4C8C-4BB2-AA34-A80806D9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TDD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0C0FC8-6BB3-406E-BADB-454A3F96E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769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RED→GREEN→REFACTOR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A4F0BB-E206-4095-99CB-260488B7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7077A2-8884-432D-AF67-6F7D551D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6391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FDC0C4-10AD-4A35-9F91-686463A6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5C8CC1-9A4A-41AF-ACBF-BA3DF1C3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2C1AAF-E663-4CBA-A6ED-6592ED1D1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Subagents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0FDE26F-D81F-4404-A738-7DCA7E51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逐任务实现与双重审查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075DB26-BACB-4FD8-92A1-7C1767AC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B767F9-58E9-4E48-829C-0181C5C9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2965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30DD138-D388-486F-805E-844E0A6D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9AD5DA-A6FD-4244-9E34-E437E968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96438F9-7134-4BE6-ADAB-C1428ED5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Finish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615AAAF-1E43-4748-B552-1D920473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测试、PR/合并、清理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53B5EBF-885B-40A6-8F25-7E66AC71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2E0C12-8055-4464-9A8F-E0E1D3C4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它是什么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164D6A-F398-468A-A59D-5330DB705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0E41E60-FB3F-4172-8EEF-2E5F0CAB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开源Agentic Skills框架 + 软件开发方法论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E25C9D4-7C55-4F20-A84E-0D04230CA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95AD190-F3E0-44BB-9017-E9157FBB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通过技能触发器把流程变成强制检查点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D6EB7E3-68A9-4FAC-8324-48AA13BF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40A6EC3-D967-4BDF-83E2-A188376E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可运行在不同Agent Harness之上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CCF3729-D0BA-4298-841D-815EE789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68CE038-09B9-4E91-B45D-4E8DB2F5A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技术作用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2C9A91F-3994-4A98-B373-972292D0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74BF01C-207D-4E91-BF23-DDCCA31D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减少Agent跳过设计、测试和验证的随机性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C874939-5230-42C9-AFBE-E4A4B948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3B2E9B5-74BF-4F9D-A592-94222D28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把工程方法沉淀为可版本化Skills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F0DFD8A-FB7D-40C3-8B21-990167572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078D4AB-083A-4897-B6EF-A173D43B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Subagent每任务新上下文，降低长会话漂移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444445C-DCD1-42FC-909C-1BCCA237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3A6D1A6-60C8-44E9-A260-A15C1A80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边界与风险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F3F66D0-E3B2-44C1-9CD5-667030DF3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80D4B62-9B71-437C-9B8B-60A064B1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不是模型、IDE或项目管理系统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1AD04F7-8170-4E35-BF42-EBE1A7CF7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DE0CE28-127B-423A-9300-298F9B64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强流程会增加小任务的时间与Token开销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B74104D-0C7A-4808-97EB-1A261361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04E5A89-3008-42CB-B886-747D1553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必须按任务复杂度裁剪，避免机械执行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8435BFB-6B39-4203-9AE5-54C1D931F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1068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原理结论：Skills的价值不是提示词复用，而是把设计、测试和审查转成生命周期闸门。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E4FA763-0154-4588-903F-44E71020F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5c4ff6a0e0674f9e"/>
              </a:rPr>
              <a:t>Superpowers GitHub</a:t>
            </a:r>
          </a:p>
        </p:txBody>
      </p:sp>
    </p:spTree>
    <p:extLst>
      <p:ext uri="{BB962C8B-B14F-4D97-AF65-F5344CB8AC3E}">
        <p14:creationId xmlns:p14="http://schemas.microsoft.com/office/powerpoint/2010/main" val="14557891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BD00E29-201D-4685-985C-44594753D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存量项目重写应先建立认知与验证基线，再并行迁移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8A4E2D-BC99-461C-A0D3-4A7AE55C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4762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4F7BC1-3F2F-47BB-AD95-B6BF40256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240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并行迁移控制面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76FC6E-FB47-44CB-80CC-64A0396A5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200275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6590D0-07DE-4C60-8DAD-23B8F932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124075" y="21336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3B6388-7B40-4603-8991-FE7C7F35E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200275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9B5B69-CEA9-440E-B76C-EAC9FD4BC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581400" y="21336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E74E71-6230-40E5-86F1-5CC5AA58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524125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88B8B-4028-47AD-8852-08798CFC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1257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C25ACD-F3FC-4A00-8900-BD8F4D7F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764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存量系统基线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37E284-76DB-4B09-B5F0-C89045B0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1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行为 · 接口 · 数据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A7E48D-15CC-4B3F-98D8-0BD9613A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1257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3D1FB9-E0BA-43EC-A1A4-63AE855C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20764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知识与依赖模型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9866F-36D8-4C60-85BB-BB624C1F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236220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1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模块 · 调用 · 约束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E90E6A-60F7-4DC4-A52B-57BD4ECF7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952625"/>
            <a:ext cx="1257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2BD2A4-F034-43ED-A772-59CE621F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0764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并行迁移单元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24D00E-798F-4C62-99ED-C431F4AB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6220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1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Worktree ·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FC4122-BD08-495A-B044-19ED6C1A1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4305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F63B2C-6032-407A-AB77-25A5E090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43225"/>
            <a:ext cx="403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验证闸门：契约 / 回归 / 性能 / 安全 / 可回滚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644F97-72D1-4E39-B2C3-25792E110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18EB7A-7F72-4F12-8FFF-1989E630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45B481-DB0A-4FDB-80DB-2A3B14912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5E885B-A530-4925-8E7F-F8B90471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锁定现有行为、接口、性能和测试覆盖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072EBB-2D54-4921-845B-4D757E0A4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C26D7E-CA10-4E8A-A5EB-841209F0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5742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EDF6AF-1493-4BED-AE09-23B1B35CC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40F554-2167-4927-9135-0457DDE7D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A42402-4ECE-4B90-AB10-70FC1C02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Understand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F7FCCE-56FE-43B0-8918-8FBC4DCEF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Codebase/图谱识别模块、依赖、热点和隐式约束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0C08E6-70BA-43EA-8AE4-A31F9DB4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802679-E80D-40B9-A0F7-AA93CBC4C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095750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1E4D64-B397-4205-8060-70DE27A0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5EFECC0-D12C-4BA7-B6B0-64AAC1A2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1D32B3-C781-4852-991F-686C027C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F28C05-4CCB-4584-882A-4FF30958A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按领域边界拆分迁移批次，定义验收与回滚点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529143F-F8E1-4E80-B14A-BE35DB674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D094D3-1ECB-4092-9E99-459555AF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0B18F85-2071-4834-9C85-45A0F881B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7FCAB23-4253-4B54-A6D9-54B410174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E30BC8-C212-42FC-AACC-26704795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Parallel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F6005E-EFAE-4F2C-99AD-BEA21E19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多Agent分模块实施，Worktree隔离文件冲突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29E824-01C5-470D-A8E5-3FA92887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459CF7-292E-48AA-9138-82257A87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72400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3C039C8-9194-47C3-A23C-CCBFBF6A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7D8AAF7-BF9E-4BCE-8740-A48CA829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2135EBC-36E9-44A6-8F89-44037737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035D89D-015E-4550-8EB0-00B8C32A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双跑、契约/回归/性能/安全测试和人工审查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CDFE3E2-2C67-46EB-A762-313DE079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24E41D4-99DF-493D-82EA-B0B17912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1072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327E45B-3B2D-4EDA-929D-9AFA484BE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3ADF35A-DB83-4287-88B9-FD9CF229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6451B3E-F850-49E1-B689-45C302417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Cutover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D1500D0-D2D3-4743-B78E-2D21C957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小流量切换、指标观察、问题回写知识资产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28747C7-F422-44D0-B00E-9E126B2B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323975"/>
            <a:ext cx="5905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D3C1187-3BC8-4523-9A23-EE5BF3D9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5525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必须设置的四道闸门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AF5BDE7-2594-4A4E-AC7C-A964E64C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8120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B08DB5D-D81D-48C7-878A-CB9866D1E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3835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闸门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EA42EC0-D214-4AEF-A51A-2D514498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8120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9CC30E7-EBD0-43C7-89B0-8843D855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3835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通过条件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CA1C37F-0B0D-4791-8013-55D24C7B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98120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A13DD9B-045C-4280-B141-FF3BC983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03835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失败动作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7A6BFC9-7D0A-4AE2-A931-A4E15BF7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25171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CD08915-3D46-493F-96C6-A1D5280C5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30886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行为一致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7517596-7105-42B5-B661-AD408601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5171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9681FC5-1CC1-43A3-9BF5-440BB2BC9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0886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契约/黄金样本通过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ABAE659-3CF0-4275-ABED-69E66D66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25171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E1B1842-8759-4369-B52C-91071F52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30886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回到模块级修复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310E81B-CC44-4DF9-A110-6F64F05F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52222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D1BB8BF-A945-4DC7-BC56-83C906906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937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质量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F74C9AE-914D-4AE3-94C9-654FBE2E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2222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2BF82CA-9694-4AEA-A960-3AAD7B7C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57937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回归、性能、静态扫描达标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588105D-17A5-4125-8721-9246C422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52222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29DA532-3E90-49BA-86E8-3257BFDC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57937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阻断合并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6AC1638-85BC-4424-A877-8F63C079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79273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C209FE4-04CA-42AA-ADDD-723707EF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84988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可回滚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E35582B-085E-4716-9B17-9168B166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79273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10583F5-6DBC-443A-A834-D07A6EE9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4988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旧版本与数据路径可恢复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B88570D-08E2-4FE4-AEFC-A6D55B3A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79273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652EF36-CA76-4540-A7D1-40FA8119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84988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禁止切流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2913048-0621-45DE-A2A4-2EE1E15E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06324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EFF8AE3-5418-43A0-AA99-07AEA01A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2039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可观测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4F8D3A9-5601-49F9-BD0A-EAD8E961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6324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2B995F4-6535-414A-99CE-4952A08F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2039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指标、日志、告警完整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94FC4AD-A870-43AD-8BFF-9903E416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6324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88E113C-98FD-4774-9990-08AD3375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12039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延长双跑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F0702B2-96F2-45E6-8775-76AD12EA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81650"/>
            <a:ext cx="11068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关键原则：Agent提升并行度，人负责边界、验收和切换决策。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AF65B83-73AD-47F0-8650-C3CCAC65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78d461ec8a74318"/>
              </a:rPr>
              <a:t>Qoder 存量重写案例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cbabb25059934d3a"/>
              </a:rPr>
              <a:t> · Quest Worktree</a:t>
            </a:r>
          </a:p>
        </p:txBody>
      </p:sp>
    </p:spTree>
    <p:extLst>
      <p:ext uri="{BB962C8B-B14F-4D97-AF65-F5344CB8AC3E}">
        <p14:creationId xmlns:p14="http://schemas.microsoft.com/office/powerpoint/2010/main" val="13731351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7674EA9-165A-4E49-8E2C-C84AA54DA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Figma对接不是截图转代码，而是设计约束到视觉回归的闭环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FB2113-01EF-434F-BF62-9D1146DE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44577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0adca1af844ba9"/>
          <a:stretch xmlns:a="http://schemas.openxmlformats.org/drawingml/2006/main"/>
        </p:blipFill>
        <p:spPr>
          <a:xfrm xmlns:a="http://schemas.openxmlformats.org/drawingml/2006/main">
            <a:off x="1015276" y="1400175"/>
            <a:ext cx="3532048" cy="27432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26D242-8268-4927-8588-BC4A8DB7B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3335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085937-2D1D-42C8-A190-709796AC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4859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2D7BCA-FD89-4815-8D85-6C0EF1A4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选定Frame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2D19A4-3FB5-4D91-9BF3-628EF7808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8192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明确页面、状态与响应式范围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FF1B9D-07E6-411B-877B-AD3863CB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3335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3CAD01-0D0A-4EEC-A279-3304806D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859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9F8056-0346-409C-973F-97F00697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4668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读取语义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C233F6-65D8-453C-A422-94E6C7398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192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组件、变量、Auto Layout、间距、字体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27FFEE-F899-4E49-BBF2-AB66C078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5745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851D64-1246-420D-BF0F-C03CE78E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609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E87AAA-641B-4CFD-8699-FCA5276A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9080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映射工程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EE3098-F88E-4EDB-A959-FF24B5AC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9432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复用现有Design System与组件，不复制像素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3C4F2E-8B97-4C43-A060-3E7922D94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5745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FACBCB-8C2E-414B-837D-3CB7EB88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09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B89671-87E6-46B7-8177-7D38ECA2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9080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生成实现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455A52-330F-4F3A-B67F-3F4B1C8A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432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页面结构、样式、交互、数据Mock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918A7F-4705-4CBB-871D-3E4AB6E8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5814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5AFD1B-C128-469B-8151-3C82D22C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733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CFDEA-86A6-46EB-B0EF-4D287500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147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运行预览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4CDE29-0172-4A2F-BDD0-021955B7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0671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桌面/移动视口，检查控制台与网络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9D8A81-ECCD-4D7B-9BF6-8684E29D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814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7A2DF0-00C0-4FEB-A4AF-6515912F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33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7DE477-A3AB-4970-AB22-F8478490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147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视觉回归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E46654-A2F8-40D5-9978-7396DA32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671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截图Diff→定位差异→迭代至阈值内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AA85BC-6E3B-4C6B-82EE-501885DC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110680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E70277-3262-417A-B955-76DE5FEB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验收清单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E14C05-1FAB-4DA1-BDD9-0F726A2B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DB1BB1-B647-42FB-A0FB-9D115596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组件复用率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116FA1-76F9-4822-A11D-491255F2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6E37F5-AF3A-4BA6-9234-9CD970FA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设计Token一致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6E12E4D-0B5C-4668-BC1C-E64A089B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A18148-EDE4-4564-9792-3CA25834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响应式断点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131BAA-5B4C-452A-BC3F-7C759AC4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A20AE5-6E56-42E4-823C-57199FBC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交互/空态/错误态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08D92B-C8EA-46A4-97DD-244DD3C3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C8D4997-A250-4603-AFB0-E9118BEB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可访问性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140BE8-572F-49A5-8D86-7681E71D1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785141C-6259-43DF-A232-DC4AC084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视觉Diff阈值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69DA1A9-C3DD-4303-9B63-846AA817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e64542d1c0141a2"/>
              </a:rPr>
              <a:t>Trae Figma to Code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2fe6d190633048d5"/>
              </a:rPr>
              <a:t> · Figma Dev Mode</a:t>
            </a:r>
          </a:p>
        </p:txBody>
      </p:sp>
    </p:spTree>
    <p:extLst>
      <p:ext uri="{BB962C8B-B14F-4D97-AF65-F5344CB8AC3E}">
        <p14:creationId xmlns:p14="http://schemas.microsoft.com/office/powerpoint/2010/main" val="8842978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4EDD22A-56E6-4731-B865-F3B7FF39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Browser Use要把“看起来正常”转成可重复、可定位的断言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91D6DF-548F-440B-972B-B2BF363A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8F7179-8C54-4E57-B507-4E1A2D6D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A42997-4139-4F68-82FA-09939A9E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启动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2F0684-83DD-4140-BEC8-2B7DE07C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固定环境、账号、数据与视口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564376-982B-4CEE-8ED5-DBC3A739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7C494A-1E5B-48EC-B9D5-97ECDF01C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5742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6874FD-BB9E-4B1E-BFDD-C234A051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47ECD4-A161-4527-A829-7A6F68BF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C9CA3A-284C-466D-8CE6-D99DAD50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操作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AAD92C-5ACB-4385-A54C-CBA2A730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按真实用户路径点击、输入、上传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303233-C5B4-4D04-9417-26042ED3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C01B84-C686-4C40-A43E-FDC5529A9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095750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8B7C79-B14C-43FB-9523-25040D37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6FD3C8-18F4-4866-833E-E74BDDDEB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F509AC-D2AF-421D-80CD-46D3F537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905896-A0FE-43BF-B5F4-D8D9ACA5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DOM、截图、控制台、网络、存储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82D795-4B9C-4D8C-B396-222FE42F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ACE657-15C7-4A52-B782-8FE6F497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195882-4093-4C1C-A49B-1D1FD11C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433B22-68E0-4EA1-A847-1021E7E9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2A1581-B1CA-43C1-8F91-3DCB492B4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断言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D32C20-8B42-4439-8542-47A42A48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功能、视觉、可访问性、性能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B6D341-7E9C-421C-AA49-2C3D9707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EDEA06-B3B8-4C6E-8671-46666620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72400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2BD3BC-9029-4ECB-A409-5292189A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34AEBB-F116-4219-B730-EDAB8913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AD6798-82EC-4B68-94C8-91A8FD31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41CA4E-2499-444D-8390-623A80C4F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Trace、截图、日志、失败步骤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717458-71A5-41FA-9818-EBDEB573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DF746C-8ACE-4113-97C8-09C673ABE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1072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977238-E86F-4574-9424-0B4B3AFBA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946901-DF93-4906-99EB-1A0E2E15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1740AB-CA27-4814-A97A-BF23CE85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修复复测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C7AA97F-0365-4064-9091-4A188A425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最小改动→相关场景→回归集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7E447AF-1FF6-4325-80B0-BF9A137B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051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测试组合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267FB7-7066-4D4A-809C-4E606743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2638" y="3524250"/>
            <a:ext cx="3857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67E217-5E3A-4830-BA2F-8AFED229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4088" y="36480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关键旅程 E2E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2C236D2-F9FF-4526-9AFB-2E45B1F03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0513" y="3657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登录、下单、发布、审批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6CBCFC9-D724-4B74-A03E-FDA4E529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48150"/>
            <a:ext cx="5334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A5ED4A-72A2-43BA-BDD8-A3783642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719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组件 / 页面集成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7BDCED6-12C8-484C-9817-1B785174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381500"/>
            <a:ext cx="3095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状态切换、表单、路由、权限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1B1EDA-14CD-40AB-AF09-F9362186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72050"/>
            <a:ext cx="6858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7F3E329-BD50-43B3-969A-71D17C9B2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静态与单元检查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CA85D1F-A05B-4138-8E10-D802C859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05400"/>
            <a:ext cx="4619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类型、Lint、逻辑、可访问性规则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B94133E-E084-4F66-A91D-88E7E24F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373380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DF6E76E-1185-4088-8A2D-C95347C65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33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浏览器Agent的任务契约必须包含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8FFF57B-567F-4D0A-B067-EE5C6802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67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3945BBB-ECA8-4447-83E5-5B90167E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0047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起始URL、账号、测试数据与禁止动作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8859500-A838-49BF-A147-5441DBC9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005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412581-829B-4070-80DD-B1EFF196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33850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关键路径及每步预期可见结果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9B4363B-FEE0-45AF-A0C8-8AD6D19B8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7F5687F-1A05-4E72-BE99-A190B8FF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6722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桌面/移动视口与截图命名规则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6858D70-BFAE-4ABF-A729-31CA5598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8672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52C99F-38AC-41E6-B758-B4E6509F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00600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控制台错误、失败请求、可访问性检查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4DE9463-AD49-4053-8A78-E4E97D34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006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3F68B80-1A76-45E9-B8CE-62B960BB8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3397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失败时保留证据，不自行跳过断言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F3582B2-3D09-4806-8B72-854D28237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9775"/>
            <a:ext cx="11068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结论：浏览器Agent负责探索与取证，Playwright脚本负责稳定回归。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A54C0FA-491E-4FCF-82F5-E1360613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2e79cf0153149c1"/>
              </a:rPr>
              <a:t>Codex Browser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a8ab5413691490e"/>
              </a:rPr>
              <a:t> · Trae Browser &amp; Preview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f7a8e1a61b34503"/>
              </a:rPr>
              <a:t> · Playwright Best Practices</a:t>
            </a:r>
          </a:p>
        </p:txBody>
      </p:sp>
    </p:spTree>
    <p:extLst>
      <p:ext uri="{BB962C8B-B14F-4D97-AF65-F5344CB8AC3E}">
        <p14:creationId xmlns:p14="http://schemas.microsoft.com/office/powerpoint/2010/main" val="93270032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332F54C-584F-474D-9878-3F810A58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Token效率由上下文选择、缓存复用和重试控制共同决定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B37B4A-9D1F-4B8E-81CB-E5D45C03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11068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C09DA6-1A41-4F1D-A881-13E65A16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04950"/>
            <a:ext cx="10610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总消耗 = 稳定上下文 + 本次检索 + 对话历史 + 工具结果 + 输出 + 重试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27CC2B-4CE8-4629-8365-58BB69ED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AA07E7-735A-48B8-A585-D6FE1AE5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  控制输入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45CAB3-746B-4F74-B910-1A41B1C7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8B45EB-DDF1-46F4-A0E6-1C3A71DC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写清目标、范围、验收和禁止项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CF5B77-61EC-4983-8D41-A0AA758EF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FB5CE-DD42-41FB-A108-C863CB6A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只附相关文件/章节，先定位再展开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2914CC-CDBF-4516-9C58-A1D80B1F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83BE55-C087-43D0-B0FE-3851717A3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  分层规则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999694-A280-4DAA-AECE-211D3F132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B69A26-4C70-4558-9CAA-3E85F3020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根AGENTS.md保留全局约束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71500B-3D50-42CE-B63B-0AC72E7B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DAACC9-292F-4A78-9987-08481F91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子目录规则就近生效，避免全仓注入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1D5802-2231-45B7-9BFB-F915C7FC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2B3B9D-900B-4F0E-B24A-11009F4A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  检索替代粘贴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993C56-5AE3-4C07-81D1-EF110B26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8990BD-ECC2-4DC5-AED1-411F8092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用Codebase/Repo Wiki召回Top-K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D685E5-9E92-4B1D-8E64-65DC0740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772C3B-C0A1-467F-B12C-F20CB959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输出带引用，发现缺口再二次检索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965802-1C68-42B8-9B45-805724CF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99D57C-D2E9-435A-927C-F5C7E46F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  复用稳定前缀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7BF8FF-699D-4704-BCA3-A99B1992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2FA2ED-4DFF-4026-8C0C-CE4B59D8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固定系统提示、工具定义和规则顺序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225BA8-0D1F-4C72-97E6-24668A70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94167A-C368-4AA7-BA38-9303711C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利用Prompt Cache，避免轻微改写失效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38DC1F-ADCA-46FD-BC58-4143D675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1CBF2E-DB14-4850-B230-1F2CB1E6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  控制工具结果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CC9A0E-986A-4D33-BBA0-BAEC372AE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CFC6B4-074A-482C-A419-9CCB81B6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日志先过滤、分页、聚合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99EA35-E178-4EF1-8F05-C8B93A99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284528-DAC0-4831-B2E5-8DC4349DA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截图/DOM/Trace只在需要时展开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CE8B45-73AE-455F-BF7B-9643EF31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5401613-80C0-441F-A100-98E3EA80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  模型与模式分级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EAFC93-2C08-4544-8A5E-B2151EA64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AFF65AB-5F3F-4034-9BC5-AE5C0C34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小模型做搜索、分类、格式化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14C033D-9DAE-45F7-B3AC-CD7B6257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4857ACB-3542-4450-AC38-F0925A13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高推理/多Agent只用于高价值复杂任务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7D4B56-2220-4DAB-8BC9-A3D7E4B5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89B015E-66E9-45F7-8DA2-5E85BF51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07  缩短会话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8DF9CD-5D04-4BE1-9B7E-1D4B014E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0C9985-374C-46F2-B29C-F2DB8295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阶段结束写摘要/Artifact后新开任务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589A24E-C6C6-4623-A3EE-1620F9CF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E0BB2AD-D729-4A8C-87F2-87F0A246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长任务使用Compaction，保留决策与证据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06A74C-4F67-4578-9BC0-CEEA6454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3595C4-306F-4FB1-88CA-C7261B1B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08  降低重试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C6583EC-78D2-4507-9213-AA56D281C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01CE87A-9E6A-4A08-92A3-11D10F82D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先跑最小验证，再扩大修改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FCACA24-4A6E-4B71-B109-84FAD606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927B034-FF77-4393-B7DC-04440FCA7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失败必须读取错误根因，禁止盲目重复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3256177-9E8B-4A39-AB04-BAFFDBF92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62625"/>
            <a:ext cx="11068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8C28E38-BF72-4A2C-93CA-BC4AD27A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38825"/>
            <a:ext cx="1074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技术度量：每个成功任务的输入Token、输出Token、缓存命中率、工具结果量、重试次数和人工复核时间。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554CC14-C413-448D-85C9-7995FBAE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bd649b69eb145e9"/>
              </a:rPr>
              <a:t>Codex节省用量建议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13b93eec10ac4ad4"/>
              </a:rPr>
              <a:t> · OpenAI Prompt Caching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6236337c8d1494c"/>
              </a:rPr>
              <a:t> · Qoder Context Compression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11fdf5002e44376"/>
              </a:rPr>
              <a:t> · Anthropic Prompt Caching</a:t>
            </a:r>
          </a:p>
        </p:txBody>
      </p:sp>
    </p:spTree>
    <p:extLst>
      <p:ext uri="{BB962C8B-B14F-4D97-AF65-F5344CB8AC3E}">
        <p14:creationId xmlns:p14="http://schemas.microsoft.com/office/powerpoint/2010/main" val="14042703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D4843D7-1B62-435A-8480-F7B6BBC4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Coding Agent安全依赖权限、沙箱、审查和审计的纵深防御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EF44C7-69A2-43DA-9393-4A620E3DC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2552700" cy="2409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067D2C-C0DD-4682-AF8A-B0093890B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2065E1-EC39-4F24-9EAF-D23690CD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上下文输入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28EC4B-06DC-48D8-AE3E-AAB23A6B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224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代码、文档、网页、Issue、MCP返回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52AB3F-E70D-4373-BC08-5E34A81D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05075"/>
            <a:ext cx="224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84CA62-48B4-434C-ABE0-9C189B61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57475"/>
            <a:ext cx="7810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主要风险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1CC193-43C8-478F-BDDB-F051D240B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43225"/>
            <a:ext cx="224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提示注入、敏感信息进入上下文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527D52-818C-49E9-8DDE-1E0E9640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7810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系统控制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98F640-E324-48C1-96BD-3E2C2CB8E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1950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来源分级 · 内容隔离 · 权限过滤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6AB6D9-333A-4667-9D9B-A76D0EE59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5336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CFF596-0CAB-4AE5-B88C-FC603B5D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190875" y="24669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7043A8-E50F-490E-9FFD-44B3140E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381125"/>
            <a:ext cx="2552700" cy="2409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2AC7BE-05C3-4351-9F37-D5545F03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5335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3C4926-82B0-487E-BEBE-161B5673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1504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工具与权限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0B76B-BA43-4D3B-8B5E-050C0540C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952625"/>
            <a:ext cx="224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Read / Edit / Shell / Browser / 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889C6A-457D-4963-8843-9999B458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505075"/>
            <a:ext cx="224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7C42FB-5F93-404A-AE82-7B0945C4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657475"/>
            <a:ext cx="7810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主要风险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B474F4-B5AD-4FB3-8F4F-77D93845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43225"/>
            <a:ext cx="224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功能、权限或自主性过大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77F40E-83E1-4B06-9C2F-9C43DD4A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00425"/>
            <a:ext cx="7810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系统控制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0470B1-47A8-4A4A-B7B5-1DD5C895D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61950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最小工具集 · 最小权限 · 高风险审批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6DD36C-BCE6-404F-AC53-0C618E19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25336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CCF8D9-B334-4351-88B5-7A6B6FD2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62650" y="24669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25CEC9-9DC7-49BF-8CE0-701C368E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81125"/>
            <a:ext cx="2552700" cy="2409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8AF220-1FE8-4ACE-8401-ED50E171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335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060D77-830D-4385-9A9A-B9B19165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04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执行环境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ACD035-168F-4C04-8CF2-8F033EBF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52625"/>
            <a:ext cx="224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本机、Worktree、容器、VM、云Agent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6F6B7A-F757-4665-A337-757CDE52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05075"/>
            <a:ext cx="224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993E70-6BE8-4340-AF0E-D53476B8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57475"/>
            <a:ext cx="7810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主要风险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6A50F7-DC2B-4368-B866-B3E14AAA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43225"/>
            <a:ext cx="224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越权读写、网络外传、供应链执行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EBEB01-3346-451B-AEA7-EF4C5C2A3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400425"/>
            <a:ext cx="7810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系统控制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3DD900-497F-4F7F-86E6-6595476C1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1950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文件与网络沙箱 · 临时凭据 · 资源配额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5F0221-0B55-437A-A690-9AEAD43E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336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8BC570-D532-49A4-B4F8-EB11EDF5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734425" y="24669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DF002E-D78C-4DB4-98A9-D76486A5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381125"/>
            <a:ext cx="2552700" cy="2409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74B758-7B4A-4167-9D2B-0A87E1F1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15335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3E4853-A348-43F5-BC41-3D12A014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504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代码与产物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200976-3A9B-4B41-AAC6-0C4755C07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1952625"/>
            <a:ext cx="224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Diff、构建物、配置、PR、部署动作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2DE9482-08B5-4C68-8225-E6994A12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505075"/>
            <a:ext cx="224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04A9278-3E95-423B-B233-82975DC2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657475"/>
            <a:ext cx="7810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主要风险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00E5B75-98A3-45A5-93E7-35EFF67A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943225"/>
            <a:ext cx="224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错误代码、恶意依赖、未经验证的变更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006E8F1-E3DC-43AB-9F59-BFC9EF46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400425"/>
            <a:ext cx="7810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系统控制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C8B7360-E553-452C-8ABE-82126AC22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61950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测试/扫描 · 人工Review · 签名与审计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011BB7C-325A-415D-9241-1169302C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719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四条架构原则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0341287-3AF3-48EA-B315-615BBA71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29150"/>
            <a:ext cx="25527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DE6F11-9367-42A1-85D5-AD911C3B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815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2CDB77-C4FB-4D46-A10F-49182DBE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不信任上下文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13C6D3F-28A4-4BFB-B9C2-156BF536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14925"/>
            <a:ext cx="2209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外部内容只能作为数据，不能自动提升为系统指令。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D602020-93A1-4F4E-8E47-61E16FAB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629150"/>
            <a:ext cx="25527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C62BC73-2C58-4948-8E7B-EE144EC7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7815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1C6C270-6DF7-4823-BB5C-3AA32DFB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7625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不由模型授权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0D03E98-8CC5-4C37-90B6-128C2737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114925"/>
            <a:ext cx="2209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授权必须由策略、身份和下游系统强制执行。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00F2622-D7F3-4C63-AA35-0CCC2ACF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29150"/>
            <a:ext cx="25527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FC1A084-AAA3-46D0-9D02-C7457185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815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CA50E85-F5C6-4EBE-91C1-59A43A677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7625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不裸跑工具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DEBA164-36CD-490F-B253-ED4CBAB9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14925"/>
            <a:ext cx="2209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命令、网络和文件访问必须受沙箱与资源边界约束。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58616F7-D6AE-4485-A0A7-7AEF16E1A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629150"/>
            <a:ext cx="25527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AAF5389-53A2-453C-97CE-0A438267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7815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2AB9996-3F77-4FC4-9AA8-1E162EDD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7625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不直接采信输出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3DB9990-CA26-44FA-9339-75ACCAF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5114925"/>
            <a:ext cx="2209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代码和动作必须经过测试、扫描、审查与审计。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538DA82-14E1-4B88-A028-01AB91671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48350"/>
            <a:ext cx="11068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安全结论：模型安全不能替代系统安全，权限与执行边界必须由Agent外部控制面强制实施。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29897F5-9B1A-4C86-A172-561E8B2B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e921dcf09af4398"/>
              </a:rPr>
              <a:t>Claude Code Security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4fecc01f4db4465"/>
              </a:rPr>
              <a:t> · Claude Code Sandboxing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776f096e63e43ff"/>
              </a:rPr>
              <a:t> · OWASP Excessive Agency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a43750d6946445e"/>
              </a:rPr>
              <a:t> · 华为云WAF安全参考架构</a:t>
            </a:r>
          </a:p>
        </p:txBody>
      </p:sp>
    </p:spTree>
    <p:extLst>
      <p:ext uri="{BB962C8B-B14F-4D97-AF65-F5344CB8AC3E}">
        <p14:creationId xmlns:p14="http://schemas.microsoft.com/office/powerpoint/2010/main" val="87610523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89BC4A0-8FDF-4029-97EC-9A1591312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SA评估Coding Agent，必须同时验证任务闭环和五项架构属性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918521-B8FB-4E3B-BDED-55B057EC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20002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B6B9FA-2EF0-440A-BD8D-6A3F513B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73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韧性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1CD7C6-0776-49FE-83C8-51C27997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1733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失败恢复 · 幂等重试</a:t>
            </a:r>
          </a:p>
          <a:p xmlns:a="http://schemas.openxmlformats.org/drawingml/2006/main">
            <a:pPr algn="ctr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状态续接 · 降级路径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863858-AA75-490C-9C03-D08E1F22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381125"/>
            <a:ext cx="20002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631A14-26EC-45A1-954C-632BB89E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562100"/>
            <a:ext cx="173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安全性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E38418-6A96-4FA8-B73B-E5AF5A59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981200"/>
            <a:ext cx="1733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身份权限 · 数据边界</a:t>
            </a:r>
          </a:p>
          <a:p xmlns:a="http://schemas.openxmlformats.org/drawingml/2006/main">
            <a:pPr algn="ctr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沙箱隔离 · 审查审计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F3D84-C41D-47DB-93CE-9984C8D8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381125"/>
            <a:ext cx="20002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D577AC-9BCA-4FE8-9B74-ADEDB391B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562100"/>
            <a:ext cx="173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性能效率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52F19A-E2BB-404A-B576-087EEE0E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981200"/>
            <a:ext cx="1733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端到端时延 · 并发</a:t>
            </a:r>
          </a:p>
          <a:p xmlns:a="http://schemas.openxmlformats.org/drawingml/2006/main">
            <a:pPr algn="ctr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检索质量 · 上下文规模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238036-811A-49F4-91AD-3982E28C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381125"/>
            <a:ext cx="20002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702E29-E1E4-47EB-B616-03DAA81F4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562100"/>
            <a:ext cx="173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成本优化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617E61-D047-412D-992C-A41F29A11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1733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Token/缓存 · 工具资源</a:t>
            </a:r>
          </a:p>
          <a:p xmlns:a="http://schemas.openxmlformats.org/drawingml/2006/main">
            <a:pPr algn="ctr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重试成本 · 模型分级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2C1B1A-9FE9-40CE-9831-C38A0E12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381125"/>
            <a:ext cx="20002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8EC5E5-3463-47BB-AA5D-D11681FA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562100"/>
            <a:ext cx="173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卓越运营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2BAF59-F3B9-428E-BAEC-8D523518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81200"/>
            <a:ext cx="1733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日志/Trace · 版本</a:t>
            </a:r>
          </a:p>
          <a:p xmlns:a="http://schemas.openxmlformats.org/drawingml/2006/main">
            <a:pPr algn="ctr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可观测 · 回滚与SLO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6B20AC-12B2-40F4-8DC7-A17B7A3F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验证路径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B6DA59-6432-42F6-BFB0-B96DC38C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90900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C7315F-968A-41B3-B8B2-C71CF5F6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43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825064-882C-48DE-857A-02B4603CF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24250"/>
            <a:ext cx="125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代表性任务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E584C6-023D-4E7E-88EA-8F965F6D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76675"/>
            <a:ext cx="16573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选择理解、修改、测试、审查等真实任务，明确成功条件。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A6ED20-CDD9-4D07-A945-C693622A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010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CF94AE-B232-4CB2-B5E6-7AF83956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28900" y="3943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E2E846-2B58-47B5-97D6-4F213729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390900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7CA83C-770E-439D-86AA-7BFC82C0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543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05CD2A-64F4-43AE-80F9-C6BC1D53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524250"/>
            <a:ext cx="125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基线与边界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70DCFD-E5EE-4B50-AC5B-98E084F4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876675"/>
            <a:ext cx="16573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固定代码版本、账号权限、工具集、网络和执行环境。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80031F-5A07-499D-8B88-C638B1E2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4010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89AF30-D2FB-4328-B01B-84C3E1F6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38700" y="3943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7E3EF7-3DF2-4320-BA4A-E12649A7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390900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B545CE-34D1-4967-A200-A2E1A8C8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543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79F4BF-8FF1-4CD0-BC43-B6011546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524250"/>
            <a:ext cx="125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运行与取证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365DE56-85C6-4220-AB89-A478A6F7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76675"/>
            <a:ext cx="16573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采集上下文、计划、工具调用、Diff、测试、日志和人工介入。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47FBF2-E3CB-40DE-B5FB-EFA0F024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010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69D6ED-C7EC-4C0C-BC27-07CA7E7F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048500" y="3943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503761-61DD-480E-930C-0DEC866A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390900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ABF832-6B55-4DA8-8DB7-75FCF5FC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543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590F6E5-4DB0-46E1-ABFD-D8DB6CA0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524250"/>
            <a:ext cx="125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属性评估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BE7437-1F67-4AE2-AA39-FDF0F4BF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76675"/>
            <a:ext cx="16573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按五项属性分析成功率、失败模式、风险和资源消耗。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E0BBB57-8D60-418C-B4DD-35ADB772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010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A90E7A2-E40D-4393-BE6B-E4BACE11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58300" y="3943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01F4267-0DE1-4692-9664-3CBD6275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90900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E720940-2680-4686-A0CD-B7DD4B08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543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42A48F2-B9DE-4CA3-86D7-965CB20D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524250"/>
            <a:ext cx="125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形成适用边界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2192C02-73B6-4B0A-B886-8582E8FA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76675"/>
            <a:ext cx="16573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输出可用场景、前置条件、禁用场景和控制要求。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E96751-061B-4C8E-BD96-9AB9EABD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680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2D4D5D9-3E39-420A-80B4-E2436BBE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006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SA输出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1B2B608-583A-44CD-8CBC-6D11E2FF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343525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不是“能否生成代码”的演示结论，而是经过验证的适用场景、架构前提、系统边界、风险控制与运行指标。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899AD75-A754-4BC6-88B7-6B3887CE0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a1acc28c7aa424c"/>
              </a:rPr>
              <a:t>华为云卓越架构技术框架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d731483a5544459"/>
              </a:rPr>
              <a:t> · 智谱：Coding Agent工作原理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8f585c17457481c"/>
              </a:rPr>
              <a:t> · OWASP GenAI Security</a:t>
            </a:r>
          </a:p>
        </p:txBody>
      </p:sp>
    </p:spTree>
    <p:extLst>
      <p:ext uri="{BB962C8B-B14F-4D97-AF65-F5344CB8AC3E}">
        <p14:creationId xmlns:p14="http://schemas.microsoft.com/office/powerpoint/2010/main" val="17096582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2026-07-23T09:43:15.5010000Z</dcterms:created>
  <dcterms:modified xsi:type="dcterms:W3CDTF">2026-07-23T09:43:15.5010000Z</dcterms:modified>
</coreProperties>
</file>