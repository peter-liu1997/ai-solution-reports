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3411ba4af34771" /><Relationship Type="http://schemas.openxmlformats.org/officeDocument/2006/relationships/extended-properties" Target="/docProps/app.xml" Id="R3418f3882e464a21" /><Relationship Type="http://schemas.openxmlformats.org/officeDocument/2006/relationships/officeDocument" Target="/ppt/presentation.xml" Id="R338c180d70cd46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e13cc81664519"/>
  </p:sldMasterIdLst>
  <p:notesMasterIdLst>
    <p:notesMasterId xmlns:r="http://schemas.openxmlformats.org/officeDocument/2006/relationships" r:id="Rdbe097deb04b45fb"/>
  </p:notesMasterIdLst>
  <p:sldIdLst>
    <p:sldId xmlns:r="http://schemas.openxmlformats.org/officeDocument/2006/relationships" id="256" r:id="R1deb9165c9274fbf"/>
    <p:sldId xmlns:r="http://schemas.openxmlformats.org/officeDocument/2006/relationships" id="257" r:id="Rcdfa5bb6257243d0"/>
    <p:sldId xmlns:r="http://schemas.openxmlformats.org/officeDocument/2006/relationships" id="258" r:id="Rb5fab3de9ba1443f"/>
    <p:sldId xmlns:r="http://schemas.openxmlformats.org/officeDocument/2006/relationships" id="259" r:id="R4bc5f71526004a82"/>
    <p:sldId xmlns:r="http://schemas.openxmlformats.org/officeDocument/2006/relationships" id="260" r:id="Rf7de593da2d04a4d"/>
    <p:sldId xmlns:r="http://schemas.openxmlformats.org/officeDocument/2006/relationships" id="261" r:id="R17dbb0f58cb64b91"/>
    <p:sldId xmlns:r="http://schemas.openxmlformats.org/officeDocument/2006/relationships" id="262" r:id="R7d2008822bbe4168"/>
    <p:sldId xmlns:r="http://schemas.openxmlformats.org/officeDocument/2006/relationships" id="263" r:id="R62b1c0bf6bae4c4c"/>
    <p:sldId xmlns:r="http://schemas.openxmlformats.org/officeDocument/2006/relationships" id="264" r:id="Rb7a6d093fa564421"/>
    <p:sldId xmlns:r="http://schemas.openxmlformats.org/officeDocument/2006/relationships" id="265" r:id="R85cedf9ee8534105"/>
    <p:sldId xmlns:r="http://schemas.openxmlformats.org/officeDocument/2006/relationships" id="266" r:id="Rcd25b8b188434971"/>
    <p:sldId xmlns:r="http://schemas.openxmlformats.org/officeDocument/2006/relationships" id="267" r:id="R7ef6c5be2e7c430c"/>
    <p:sldId xmlns:r="http://schemas.openxmlformats.org/officeDocument/2006/relationships" id="268" r:id="Rd744468b4e8b4ca1"/>
    <p:sldId xmlns:r="http://schemas.openxmlformats.org/officeDocument/2006/relationships" id="269" r:id="R1984e0c054c549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8cc97a25a74a6e" /><Relationship Type="http://schemas.openxmlformats.org/officeDocument/2006/relationships/slideMaster" Target="/ppt/slideMasters/slideMaster1.xml" Id="R30de13cc81664519" /><Relationship Type="http://schemas.openxmlformats.org/officeDocument/2006/relationships/notesMaster" Target="/ppt/notesMasters/notesMaster1.xml" Id="Rdbe097deb04b45fb" /><Relationship Type="http://schemas.openxmlformats.org/officeDocument/2006/relationships/presProps" Target="/ppt/presProps.xml" Id="Rc3e9dcf1c8bd451c" /><Relationship Type="http://schemas.openxmlformats.org/officeDocument/2006/relationships/tableStyles" Target="/ppt/tableStyles.xml" Id="R85087736309d4ea6" /><Relationship Type="http://schemas.openxmlformats.org/officeDocument/2006/relationships/slide" Target="/ppt/slides/slide1.xml" Id="R1deb9165c9274fbf" /><Relationship Type="http://schemas.openxmlformats.org/officeDocument/2006/relationships/slide" Target="/ppt/slides/slide2.xml" Id="Rcdfa5bb6257243d0" /><Relationship Type="http://schemas.openxmlformats.org/officeDocument/2006/relationships/slide" Target="/ppt/slides/slide3.xml" Id="Rb5fab3de9ba1443f" /><Relationship Type="http://schemas.openxmlformats.org/officeDocument/2006/relationships/slide" Target="/ppt/slides/slide4.xml" Id="R4bc5f71526004a82" /><Relationship Type="http://schemas.openxmlformats.org/officeDocument/2006/relationships/slide" Target="/ppt/slides/slide5.xml" Id="Rf7de593da2d04a4d" /><Relationship Type="http://schemas.openxmlformats.org/officeDocument/2006/relationships/slide" Target="/ppt/slides/slide6.xml" Id="R17dbb0f58cb64b91" /><Relationship Type="http://schemas.openxmlformats.org/officeDocument/2006/relationships/slide" Target="/ppt/slides/slide7.xml" Id="R7d2008822bbe4168" /><Relationship Type="http://schemas.openxmlformats.org/officeDocument/2006/relationships/slide" Target="/ppt/slides/slide8.xml" Id="R62b1c0bf6bae4c4c" /><Relationship Type="http://schemas.openxmlformats.org/officeDocument/2006/relationships/slide" Target="/ppt/slides/slide9.xml" Id="Rb7a6d093fa564421" /><Relationship Type="http://schemas.openxmlformats.org/officeDocument/2006/relationships/slide" Target="/ppt/slides/slide10.xml" Id="R85cedf9ee8534105" /><Relationship Type="http://schemas.openxmlformats.org/officeDocument/2006/relationships/slide" Target="/ppt/slides/slide11.xml" Id="Rcd25b8b188434971" /><Relationship Type="http://schemas.openxmlformats.org/officeDocument/2006/relationships/slide" Target="/ppt/slides/slide12.xml" Id="R7ef6c5be2e7c430c" /><Relationship Type="http://schemas.openxmlformats.org/officeDocument/2006/relationships/slide" Target="/ppt/slides/slide13.xml" Id="Rd744468b4e8b4ca1" /><Relationship Type="http://schemas.openxmlformats.org/officeDocument/2006/relationships/slide" Target="/ppt/slides/slide14.xml" Id="R1984e0c054c549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0c29eb240d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abfcd863c849d9" /><Relationship Type="http://schemas.openxmlformats.org/officeDocument/2006/relationships/notesMaster" Target="/ppt/notesMasters/notesMaster1.xml" Id="R9b19a097e1454c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a98cb483574ac2" /><Relationship Type="http://schemas.openxmlformats.org/officeDocument/2006/relationships/notesMaster" Target="/ppt/notesMasters/notesMaster1.xml" Id="Reeceb0cff1c8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ce1fce82e94995" /><Relationship Type="http://schemas.openxmlformats.org/officeDocument/2006/relationships/notesMaster" Target="/ppt/notesMasters/notesMaster1.xml" Id="R37a62b773bb5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f01c5a7246485e" /><Relationship Type="http://schemas.openxmlformats.org/officeDocument/2006/relationships/notesMaster" Target="/ppt/notesMasters/notesMaster1.xml" Id="Re86482d846d848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77f90313e84e00" /><Relationship Type="http://schemas.openxmlformats.org/officeDocument/2006/relationships/notesMaster" Target="/ppt/notesMasters/notesMaster1.xml" Id="Rc78958e525fd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362bec24844e3e" /><Relationship Type="http://schemas.openxmlformats.org/officeDocument/2006/relationships/notesMaster" Target="/ppt/notesMasters/notesMaster1.xml" Id="Rdb9ad1346da3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8fa5750a3d4878" /><Relationship Type="http://schemas.openxmlformats.org/officeDocument/2006/relationships/notesMaster" Target="/ppt/notesMasters/notesMaster1.xml" Id="Ra94e18960ce9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6adc6ef4d4bdb" /><Relationship Type="http://schemas.openxmlformats.org/officeDocument/2006/relationships/notesMaster" Target="/ppt/notesMasters/notesMaster1.xml" Id="Rf2a824df4382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ae92a4025e43ed" /><Relationship Type="http://schemas.openxmlformats.org/officeDocument/2006/relationships/notesMaster" Target="/ppt/notesMasters/notesMaster1.xml" Id="Re8176520f66f48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7148f9854b452a" /><Relationship Type="http://schemas.openxmlformats.org/officeDocument/2006/relationships/notesMaster" Target="/ppt/notesMasters/notesMaster1.xml" Id="R2798f14582fe48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84de2ef07c49fb" /><Relationship Type="http://schemas.openxmlformats.org/officeDocument/2006/relationships/notesMaster" Target="/ppt/notesMasters/notesMaster1.xml" Id="Rcaa75d26ad5d406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d496f516484cdd" /><Relationship Type="http://schemas.openxmlformats.org/officeDocument/2006/relationships/notesMaster" Target="/ppt/notesMasters/notesMaster1.xml" Id="R103cb5c4eb3347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bf966d78b14dd9" /><Relationship Type="http://schemas.openxmlformats.org/officeDocument/2006/relationships/notesMaster" Target="/ppt/notesMasters/notesMaster1.xml" Id="R1f6350d1432a4b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65ebf53d504463" /><Relationship Type="http://schemas.openxmlformats.org/officeDocument/2006/relationships/notesMaster" Target="/ppt/notesMasters/notesMaster1.xml" Id="Reefa277b84e6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923967233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ee77b2fec14542" /><Relationship Type="http://schemas.openxmlformats.org/officeDocument/2006/relationships/slideLayout" Target="/ppt/slideLayouts/slideLayout1.xml" Id="R64125800d57f41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25800d57f41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76b01261b4a3e" /><Relationship Type="http://schemas.openxmlformats.org/officeDocument/2006/relationships/hyperlink" Target="https://support.huaweicloud.com/productdesc-codeartssnap/codeartsdoer_pd_0001.html" TargetMode="External" Id="R58738c2d085341ad" /><Relationship Type="http://schemas.openxmlformats.org/officeDocument/2006/relationships/hyperlink" Target="https://code.claude.com/docs/en/overview" TargetMode="External" Id="Rf26da89494584f02" /><Relationship Type="http://schemas.openxmlformats.org/officeDocument/2006/relationships/hyperlink" Target="https://docs.qoder.com/" TargetMode="External" Id="R8561d1feb33349d7" /><Relationship Type="http://schemas.openxmlformats.org/officeDocument/2006/relationships/hyperlink" Target="https://learn.chatgpt.com/docs" TargetMode="External" Id="R0a773f773dda40db" /><Relationship Type="http://schemas.openxmlformats.org/officeDocument/2006/relationships/notesSlide" Target="/ppt/notesSlides/notesSlide1.xml" Id="R3af7dd88887344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000a2e55d4b83" /><Relationship Type="http://schemas.openxmlformats.org/officeDocument/2006/relationships/hyperlink" Target="https://codearts.huaweicloud.com/pricing.html" TargetMode="External" Id="R51a3e44ed99b4d71" /><Relationship Type="http://schemas.openxmlformats.org/officeDocument/2006/relationships/hyperlink" Target="https://support.claude.com/en/articles/11049762-choose-a-claude-plan" TargetMode="External" Id="Rca26c187dabb4f14" /><Relationship Type="http://schemas.openxmlformats.org/officeDocument/2006/relationships/hyperlink" Target="https://docs.qoder.com/account/pricing" TargetMode="External" Id="Rcfdbc76a09a94aa1" /><Relationship Type="http://schemas.openxmlformats.org/officeDocument/2006/relationships/hyperlink" Target="https://learn.chatgpt.com/docs/pricing" TargetMode="External" Id="R5317a7415c1c49a6" /><Relationship Type="http://schemas.openxmlformats.org/officeDocument/2006/relationships/notesSlide" Target="/ppt/notesSlides/notesSlide2.xml" Id="R625343b93178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ec10197e64a08" /><Relationship Type="http://schemas.openxmlformats.org/officeDocument/2006/relationships/hyperlink" Target="https://codearts.huaweicloud.com/pricing.html" TargetMode="External" Id="Re04e8ae14362442a" /><Relationship Type="http://schemas.openxmlformats.org/officeDocument/2006/relationships/hyperlink" Target="https://docs.qoder.com/account/pricing" TargetMode="External" Id="R864a6a506dbf42b2" /><Relationship Type="http://schemas.openxmlformats.org/officeDocument/2006/relationships/hyperlink" Target="https://cursor.com/pricing" TargetMode="External" Id="R067e45d6ff9e4640" /><Relationship Type="http://schemas.openxmlformats.org/officeDocument/2006/relationships/hyperlink" Target="https://www.trae.ai/pricing" TargetMode="External" Id="Rcb96d0c22c3f4d77" /><Relationship Type="http://schemas.openxmlformats.org/officeDocument/2006/relationships/notesSlide" Target="/ppt/notesSlides/notesSlide3.xml" Id="R4538d901a9294b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7029d57384b2f" /><Relationship Type="http://schemas.openxmlformats.org/officeDocument/2006/relationships/image" Target="/ppt/media/image.jpeg" Id="Rfc1ba9f27d8249fb" /><Relationship Type="http://schemas.openxmlformats.org/officeDocument/2006/relationships/hyperlink" Target="https://docs.qoder.com/account/enterprise/knowledge-base" TargetMode="External" Id="R4afe79ef8d194d5c" /><Relationship Type="http://schemas.openxmlformats.org/officeDocument/2006/relationships/hyperlink" Target="https://qoder.com/blog/qoder-llm?type=%E6%8A%80%E6%9C%AF" TargetMode="External" Id="R470474d8ddc74dca" /><Relationship Type="http://schemas.openxmlformats.org/officeDocument/2006/relationships/hyperlink" Target="https://support.huaweicloud.com/usermanual-codeartssnap/codeartsagent_ug_0001.html" TargetMode="External" Id="R277db8ad166c4b38" /><Relationship Type="http://schemas.openxmlformats.org/officeDocument/2006/relationships/notesSlide" Target="/ppt/notesSlides/notesSlide4.xml" Id="R78c1e163929845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2b1e5724e4a66" /><Relationship Type="http://schemas.openxmlformats.org/officeDocument/2006/relationships/image" Target="/ppt/media/image.bin" Id="R86c1ce9267e3433e" /><Relationship Type="http://schemas.openxmlformats.org/officeDocument/2006/relationships/hyperlink" Target="https://qoder.com/blog/qoder-v1-mega-rewrite" TargetMode="External" Id="R1cbc850e17db42af" /><Relationship Type="http://schemas.openxmlformats.org/officeDocument/2006/relationships/hyperlink" Target="https://docs.qoder.com/user-guide/quest/execution-environments" TargetMode="External" Id="R3e19474425ff414d" /><Relationship Type="http://schemas.openxmlformats.org/officeDocument/2006/relationships/notesSlide" Target="/ppt/notesSlides/notesSlide5.xml" Id="R54e20a26653f4f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1c9dac3eb4174" /><Relationship Type="http://schemas.openxmlformats.org/officeDocument/2006/relationships/hyperlink" Target="https://support.huaweicloud.com/usermanual-codeartssnap/codeartsagent_ug_0001.html" TargetMode="External" Id="R4d0c9f2891ba4f18" /><Relationship Type="http://schemas.openxmlformats.org/officeDocument/2006/relationships/hyperlink" Target="https://docs.qoder.com/user-guide/indexing" TargetMode="External" Id="Re61fe2b95c7349da" /><Relationship Type="http://schemas.openxmlformats.org/officeDocument/2006/relationships/hyperlink" Target="https://docs.qoder.com/user-guide/repo-wiki" TargetMode="External" Id="Rd7bf9d6ed9eb4c52" /><Relationship Type="http://schemas.openxmlformats.org/officeDocument/2006/relationships/hyperlink" Target="https://docs.qoder.com/account/enterprise/qmind" TargetMode="External" Id="R4e0f4fca36e44ab6" /><Relationship Type="http://schemas.openxmlformats.org/officeDocument/2006/relationships/notesSlide" Target="/ppt/notesSlides/notesSlide6.xml" Id="Rebd2259708da4a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ed6dcf65940ad" /><Relationship Type="http://schemas.openxmlformats.org/officeDocument/2006/relationships/hyperlink" Target="https://code.claude.com/docs/en/workflows" TargetMode="External" Id="Rbd08c947f048456d" /><Relationship Type="http://schemas.openxmlformats.org/officeDocument/2006/relationships/hyperlink" Target="https://code.claude.com/docs/en/goal" TargetMode="External" Id="R48fb71c2c0f146af" /><Relationship Type="http://schemas.openxmlformats.org/officeDocument/2006/relationships/hyperlink" Target="https://docs.qoder.com/user-guide/quest/spec-driven" TargetMode="External" Id="Ra3bc78c3a1214453" /><Relationship Type="http://schemas.openxmlformats.org/officeDocument/2006/relationships/hyperlink" Target="https://docs.trae.ai/ide/solo-mode" TargetMode="External" Id="Rced86ff704584a25" /><Relationship Type="http://schemas.openxmlformats.org/officeDocument/2006/relationships/notesSlide" Target="/ppt/notesSlides/notesSlide7.xml" Id="R7833328a6a194c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ee453f348441e" /><Relationship Type="http://schemas.openxmlformats.org/officeDocument/2006/relationships/hyperlink" Target="https://code.claude.com/docs/en/agent-teams" TargetMode="External" Id="R0a0cb392338c4316" /><Relationship Type="http://schemas.openxmlformats.org/officeDocument/2006/relationships/hyperlink" Target="https://code.claude.com/docs/en/workflows" TargetMode="External" Id="Raf04f177af25441e" /><Relationship Type="http://schemas.openxmlformats.org/officeDocument/2006/relationships/hyperlink" Target="https://docs.qoder.com/user-guide/quest/overview" TargetMode="External" Id="Rb83f59fe73014c49" /><Relationship Type="http://schemas.openxmlformats.org/officeDocument/2006/relationships/hyperlink" Target="https://support.huaweicloud.com/usermanual-codeartssnap/codeartsagent_ug_0052.html" TargetMode="External" Id="R4d7863ce7ac74216" /><Relationship Type="http://schemas.openxmlformats.org/officeDocument/2006/relationships/notesSlide" Target="/ppt/notesSlides/notesSlide8.xml" Id="R5315c258b82242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f976f566e4822" /><Relationship Type="http://schemas.openxmlformats.org/officeDocument/2006/relationships/image" Target="/ppt/media/image.png" Id="Rcc5cfe5af85043e2" /><Relationship Type="http://schemas.openxmlformats.org/officeDocument/2006/relationships/hyperlink" Target="https://docs.trae.ai/ide/figma-to-code" TargetMode="External" Id="R1b1dddda9d7847a2" /><Relationship Type="http://schemas.openxmlformats.org/officeDocument/2006/relationships/hyperlink" Target="https://help.figma.com/hc/en-us/categories/14559151746583-Dev-Mode" TargetMode="External" Id="R240ec7e58e764fc5" /><Relationship Type="http://schemas.openxmlformats.org/officeDocument/2006/relationships/notesSlide" Target="/ppt/notesSlides/notesSlide9.xml" Id="R4a37fad4f7d049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d49ed85c1417b" /><Relationship Type="http://schemas.openxmlformats.org/officeDocument/2006/relationships/hyperlink" Target="https://learn.chatgpt.com/docs/browser" TargetMode="External" Id="R176e946932674706" /><Relationship Type="http://schemas.openxmlformats.org/officeDocument/2006/relationships/hyperlink" Target="https://docs.trae.ai/ide/browser-and-preview" TargetMode="External" Id="Rae2f53f62e834a12" /><Relationship Type="http://schemas.openxmlformats.org/officeDocument/2006/relationships/hyperlink" Target="https://playwright.dev/docs/best-practices" TargetMode="External" Id="R717c5c889fe84c8d" /><Relationship Type="http://schemas.openxmlformats.org/officeDocument/2006/relationships/notesSlide" Target="/ppt/notesSlides/notesSlide10.xml" Id="Reac29592a72c43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2580b8baa4126" /><Relationship Type="http://schemas.openxmlformats.org/officeDocument/2006/relationships/hyperlink" Target="https://github.com/obra/superpowers" TargetMode="External" Id="R3bf5c6ba2f654d74" /><Relationship Type="http://schemas.openxmlformats.org/officeDocument/2006/relationships/notesSlide" Target="/ppt/notesSlides/notesSlide11.xml" Id="R4dcad6bc933a4f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9fa5e36ed4acb" /><Relationship Type="http://schemas.openxmlformats.org/officeDocument/2006/relationships/hyperlink" Target="https://github.com/Fission-AI/OpenSpec" TargetMode="External" Id="Rd81d89c3090247af" /><Relationship Type="http://schemas.openxmlformats.org/officeDocument/2006/relationships/notesSlide" Target="/ppt/notesSlides/notesSlide12.xml" Id="Ra112c81cc1354d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9b0ce51024712" /><Relationship Type="http://schemas.openxmlformats.org/officeDocument/2006/relationships/hyperlink" Target="https://learn.chatgpt.com/docs/pricing" TargetMode="External" Id="Rbde762d3cdbb446f" /><Relationship Type="http://schemas.openxmlformats.org/officeDocument/2006/relationships/hyperlink" Target="https://platform.openai.com/docs/guides/prompt-caching" TargetMode="External" Id="R879b96d31b2740b4" /><Relationship Type="http://schemas.openxmlformats.org/officeDocument/2006/relationships/hyperlink" Target="https://docs.qoder.com/user-guide/context-compression" TargetMode="External" Id="Ra13474aa647d4c33" /><Relationship Type="http://schemas.openxmlformats.org/officeDocument/2006/relationships/hyperlink" Target="https://docs.anthropic.com/en/docs/build-with-claude/prompt-caching" TargetMode="External" Id="Redb556f7483a4cf5" /><Relationship Type="http://schemas.openxmlformats.org/officeDocument/2006/relationships/notesSlide" Target="/ppt/notesSlides/notesSlide13.xml" Id="Rad5cbe7e099d4f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fa9891d5f4387" /><Relationship Type="http://schemas.openxmlformats.org/officeDocument/2006/relationships/image" Target="/ppt/media/image2.png" Id="Ra3b82be78f5f4906" /><Relationship Type="http://schemas.openxmlformats.org/officeDocument/2006/relationships/hyperlink" Target="https://docs.bigmodel.cn/cn/coding-plan/learning-resources/how-coding-agent-works" TargetMode="External" Id="R82cc1b58e9e14b2b" /><Relationship Type="http://schemas.openxmlformats.org/officeDocument/2006/relationships/notesSlide" Target="/ppt/notesSlides/notesSlide14.xml" Id="R35e7770dc38c41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D8CFCD-7B64-47E3-9CB0-72F8D623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FD382-2309-43D0-80F2-613760DA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能力分类总览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937E3-420E-41DD-94EC-CE316416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六类能力共同构成 AI Coding 的工程闭环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BD5A3-7434-40E1-BF98-A6D5CDBE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9B0FF-24E3-48AD-902C-EFE5ED38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CBA76-4735-4179-9A22-71D94BFF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F63A1-B1DE-4369-9E9B-3AE8AC4A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 · CodeWiki · 知识引擎 · 规则/记忆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EC600-FC68-416E-84ED-EC01AC1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读懂仓库、业务和团队约束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7734F-34B1-4A52-8081-21BAD0A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E2771A-1D80-4791-981E-253B601C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B6AEB-357A-4C10-B78F-997177A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任务与编程模式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E72AB-EECD-4516-AFEE-4C1011CB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Workflow · Goal · SDD · Solo · 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74F0E-3A25-48AC-88CD-446E4222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把需求变成可跟踪执行过程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B92C0-EA29-4455-AD7B-EF950632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91C17-858C-4AD5-A486-B185A0AE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6824D-6DD7-4860-A0D6-335BC9C5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0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工具与交互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73E76C-6B1B-43B1-806C-04C6386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CLI · MCP · Hooks · Browser · Figma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D4A6C9-1F11-4B78-A913-15990B0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连接终端、浏览器和外部系统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B9F8C-BF06-4D61-8A72-D1A9A556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C36BCC-EFD9-4046-BB22-61E7C82B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8A85B-25A5-47FB-A3CD-47EFA1EF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Agent协作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BD7DF-BF80-4FB0-9F4C-950E621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 Agent · Agent Team · Worktree · Cloud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38E56-EFAF-47BF-ADFD-44CE53C2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并行分工并隔离上下文与代码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88822-1E35-47DB-B93B-E4E95075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E41847-4098-4B22-AE74-E3AC5E8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9035C-4AC8-4050-867C-D54D8B6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质量与治理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8A593-4572-49E7-AF0E-B3A7E0B1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Review · Security · Sandbox · 审计/配置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255E06-819A-4A86-AD5A-3A2CF2A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让结果可验证、风险可追踪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A098B-B594-49CB-8D89-F1C6E109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71850"/>
            <a:ext cx="3333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555E82-3A5E-4619-AD0C-375F248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09724-929D-491A-A524-6F2E2616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05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体验与交付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AD9491-AA2D-411A-88E9-0D494FED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52875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Artifacts · Canvas · LSP · Debug · Channels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A3D46D-008B-4FB0-A76A-78361A9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386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缩短从想法到可运行成果的路径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7E9338-A5A1-412D-9317-A80BD31D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57825"/>
            <a:ext cx="1080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判断标准：上下文可靠 → 过程可控 → 结果可审 → 风险可追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9D7E51-7BCA-4D4A-BFE7-0DD904DF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80FB1F-25A9-42BB-978D-F95B337D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8738c2d085341ad"/>
              </a:rPr>
              <a:t>码道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26da89494584f02"/>
              </a:rPr>
              <a:t> · Claude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61d1feb33349d7"/>
              </a:rPr>
              <a:t> · Qoder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773f773dda40db"/>
              </a:rPr>
              <a:t> · Codex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73B699-273E-4E91-A34D-8F564D3E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12561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B33913-D94A-46D5-8116-671FAB35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1AEB0-E525-46A3-9A0B-252665A6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套餐差异总览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5D131-99EB-4458-9C20-68CBA136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套餐升级的本质：从个人用量走向团队资产与企业治理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307DB-60BF-4E0C-80B6-3A28F6FF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1470AA-8F19-4662-917E-18751F3E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D05EA-B13A-4E04-9D19-BBBC65A5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352550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E6EDC-220D-45F4-9CEB-023A1B81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409700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85012-F602-4711-975C-86926755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EBC90-B7AD-44FC-B534-A0384D4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09700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 / 企业主线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14E83-5387-40AE-8230-A681BD48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352550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CC229-F60E-4B00-96BF-DD97A8F3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409700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升级后获得的关键能力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5227E-9EDD-4B31-B9ED-489AF49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363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22A24-1896-4E50-8B0C-2B81E0D5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078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2F448-1B83-463E-A818-9987F40A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90363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7B59C-04C0-4E3A-BBBD-876F6670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96078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体验版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8E3A1E-8EFA-4CB9-A372-392C515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363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54A9A-8E47-4884-80F3-EACDA8E1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6078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基础版 / 专业版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41660-EAF4-4584-9AF5-AB01737C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90363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A1BFE-BE62-42DA-BBA7-C3E71D6D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6078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Token、Codebase容量；专业版增加SSO、日志、模型与用量管理、IP白名单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78FBF-2BE5-486E-A451-360C53A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4729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F02824-170D-41D0-B19E-533DAA85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1879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3B1346-4468-451F-91D2-C613EA52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54729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258C4-AC7C-4B5F-8EE3-9F1ADB76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11879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Max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C3C00-4C13-431C-8E03-447CAEBE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54729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E50260-009E-46CF-8EB4-4B766FD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1879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 Standard / Premium / Enterprise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071886-6F36-4710-82FB-9140F685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4729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7BE07-89CC-47A0-8E6A-014E1657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11879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成员管理、RBAC、SSO、连接器、Spend Controls与更高用量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F031C-9164-4C97-A970-BB025D3F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5818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3F13E-8A8B-4EA9-8616-69DD0ED4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2968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E119C2-D7DF-437F-AC5B-EEB7BAFE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005818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A83F6F-A2ED-4CF0-B07B-79F0A443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062968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Pro / Pro+ / Ultra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442C96-47EC-4982-8527-8F7B0F25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5818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DFEEB2-5921-46CB-8403-8CA382E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2968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68E65-B26E-444D-842A-9F24D800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5818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5B9E4-B117-4FE4-8429-025BBEED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62968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每席Credits或共享池；集中分发、模型路由、内容安全、审计与OpenAPI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6BDF43-A6E4-46CA-8049-497F13C3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56907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5D3F90-4C87-4220-A2D4-3D00CA41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4057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FF2D35-EA4A-4299-B4F1-DC91C88F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56907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6D8F6A-6013-49A7-97F8-397AFF88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14057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Go / Plus / Pro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41C79D-CC16-403F-9CA3-EFB7326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6907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42A4A7-5171-4286-AAFB-3FEA9B49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14057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Business / Enterprise / Edu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14BC7B-C42C-4D6C-BAFD-2D3751A7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556907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B9127A-DF4A-4042-97E4-60AE5775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14057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安全工作区、更大VM、SAML；再升级到SCIM、EKM、审计与数据驻留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D4CB46-E353-4250-A33C-AC84EF2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0799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43A0E1-FC6A-4F2A-A212-CF7585BB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6514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309769-55F9-43EF-AAC8-061AD66B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10799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660C3E-C6E2-4CD7-A58D-25B1AFD3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16514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Hobby / Pro / Pro+ / Ultra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02E515-D524-49EA-93FE-52A713AF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799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77BD42-407D-4128-BF5F-A4D99C93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514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Teams / Enterprise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0E91CF-9DBF-4A62-9F6E-F2D4923C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0799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D63116-2D44-4EF0-9A4B-D8CDCD9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6514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共享上下文、内部Marketplace、Bugbot；企业级访问控制、审计与Pooled Usage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7E0551-FC8D-4AC4-9D84-915A4EF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9086"/>
            <a:ext cx="166687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AD2E16-9F4C-4FFD-9D57-345064ED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6236"/>
            <a:ext cx="151447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894132-A2DB-4214-B501-2A9B2BF3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59086"/>
            <a:ext cx="23336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064212-F3C4-41AF-B66C-47F23548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716236"/>
            <a:ext cx="21812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Free / Lite / Pro / Pro+ / Ultra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14F4BC-F4B0-4D0B-993C-14DF16B7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59086"/>
            <a:ext cx="25241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9B8800-6E47-402A-9801-51994D5A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6236"/>
            <a:ext cx="23717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企业方案需询价确认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D2AF27-9298-46D5-9DF7-8B3014A6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59086"/>
            <a:ext cx="4543425" cy="5510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AB3391-79D0-4686-9E1D-E9C3210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716236"/>
            <a:ext cx="4391025" cy="4367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个人档主要按Basic Usage与Solo并发分层；企业治理细节需单独核验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C8DD45-AD35-4A29-BEE0-1622D2CA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68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7B8F94-75CD-4AFF-A621-24D3098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选型顺序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17F275-9ABF-47A1-B1DA-6C12DD9C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02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先看数据边界和治理要求，再看团队资产复用，最后按重度用户比例配置高额度席位。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24E2229-27C2-461A-9BE3-DDE037DC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672766-76CA-4EA3-8AB4-7FD2B49C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a3e44ed99b4d71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26c187dabb4f14"/>
              </a:rPr>
              <a:t> · Claude Plans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dbc76a09a94aa1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17a7415c1c49a6"/>
              </a:rPr>
              <a:t> · Codex Pricing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74A169-3663-4BC2-B524-6B28F228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324862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B79408-3422-48B3-9DAE-EC1F9D10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FBF26-2B12-4C9B-9411-53CF036E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计费对比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312C1-FB0D-4B77-94D7-A096CFD6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Tokens、Credits与Usage Limits不可直接等值横比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45E65-3E0D-4E3B-9802-7D48493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6D526-891B-43FC-BF6D-7D46D83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B1DDA-A7BA-4155-ABA4-CC87F928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88F1-82F1-417A-8647-E25DABE8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公开Token包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9033A-C21D-4E37-BF6D-8A0BEFFC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¥0 / ¥39 / ¥139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4F3D0-5DA8-4D33-9D2A-FCA56B51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500万 / 2000万 / 6000万 Tokens/月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3D0BD-B10C-45DD-AC54-26A46694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A4F72-30B4-40F4-BB33-3CD9D9B3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66349-32C5-4C40-BE8D-4BF8579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BEE21-61E5-47C6-8F7C-8C3EEDD0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订阅容量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577E7-7E42-4FC0-9758-8C73C736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$100 / $200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3C1B1-C9C3-421E-8A6B-FBDFDEA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Pro；Max约5x / 20x会话容量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1E100-2448-412C-91B2-78572C7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716682-79D7-4AFD-9ABE-AA999A46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7DCC5-2634-4970-8EDC-6D6EDB76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CC38F-08A1-4C28-8F55-2AB29C2E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Credits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4B3A6-32A5-47C8-8A19-D441B7FC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 / $60 / $200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35ADC-BF72-45FF-A00D-2B2BEF3C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2,000 / 6,000 / 20,000 Credits/月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2135E-2C00-4800-A4B3-36FC00DB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71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53228-56E4-48D9-A810-E1275D6E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6C6385-8CF2-4F87-8E37-BDFEBC4B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485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639CDF-905C-4BF3-B6E4-C85EA0CB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524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订阅+Credits/API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777BF-84D4-4EC1-8A1B-688656B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0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Plus $20；Business $20年付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6DD652-ED08-4ED6-9174-FECD50F6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38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订阅用量限制；API按输入/缓存/输出Token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7A420D-1AC7-470B-AA1B-A68FAEA9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0CAC3F-9C70-4B89-B3B4-AAD642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72C65-FC96-470D-BAD5-91E0A3D3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28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F33348-3E99-4959-9586-CD95B380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67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含量+按量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2E1DC-EDD8-4E62-89E2-B64AC764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0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$20个人；$40团队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41DD39-BEF6-4103-ADC9-CBF80710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81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套餐含模型用量，超额可On-demand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E6979B-6625-47B0-A6F6-86DE95CB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57600"/>
            <a:ext cx="54673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5949DA-E3E4-4360-98E6-549B97C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F5133E-107C-418C-AF6B-CFEAF745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719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E7481D-4361-426D-A67A-4BF135CE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8100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Basic Usage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2CC1B9-C659-4773-9BF8-64CD2A9D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活动与档位动态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3947BC-7DAB-4EBA-82FF-06183660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243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按模型API价格折算Dollar Usage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FAFEC3-8ABD-4689-9A95-653D8A7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1068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E8540-0293-4910-BBBC-130E96D2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建议统一核算单位：每个可验收任务的完全成本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621F1E-F915-4393-BF1E-E8494D63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533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席位费 + 超额用量 + 云执行资源 + 人工复核时间 + 失败重试成本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28FB1F-112C-43DF-AC6F-19558DDD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19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试点至少记录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EC1BBC-AE74-4C98-BE0F-01EF0F93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81650"/>
            <a:ext cx="428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成功任务数 · 平均Tokens/Credits · 重试率 · 人工复核分钟数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474FEB-C6A0-4995-9772-859DDF9E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9E20FA-E4BD-4E89-9263-00D1BCAE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4e8ae14362442a"/>
              </a:rPr>
              <a:t>码道定价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64a6a506dbf42b2"/>
              </a:rPr>
              <a:t> · Qoder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7e45d6ff9e4640"/>
              </a:rPr>
              <a:t> · Cursor Pricing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96d0c22c3f4d77"/>
              </a:rPr>
              <a:t> · Trae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C15827-F82C-49BE-8C63-9DD3E5A3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90783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194A9C-2693-4759-87A6-FF046FF9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99F39-B56B-46BE-A5C5-46AF3614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知识引擎的实践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570C2-12FD-41CF-B21C-71A3EA88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知识引擎让 Agent 从“每次重读”变成“持续积累与按需召回”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621FD-0453-4A94-9095-D819DE4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4810125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ba9f27d8249fb"/>
          <a:stretch xmlns:a="http://schemas.openxmlformats.org/drawingml/2006/main"/>
        </p:blipFill>
        <p:spPr>
          <a:xfrm xmlns:a="http://schemas.openxmlformats.org/drawingml/2006/main">
            <a:off x="619125" y="2069012"/>
            <a:ext cx="4676775" cy="13102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0E7F6-4E5B-4147-9654-55C6A65C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287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95ACC-14F7-4B40-9DA2-B1A7E737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01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C493A-1C4B-497E-8AB2-78D3CB38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097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代码、文档、提交、任务与人工知识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28FDD-05FB-485D-A777-AC53A921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764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2AA11-54F4-4C71-958A-5ACB2B75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9552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9344D-3422-491C-A1ED-F7ED9F6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结构化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66996-05FB-4D3E-9763-7CF677DC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7647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解析符号/依赖/业务实体，生成可引用知识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DCEBC-5878-4A51-B22C-82AE3639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432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6204A-5534-4FBC-8D09-B63D39D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BEC6B-5FFB-4F31-B115-69D2BB5A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3372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DADBE-8AD9-4EE8-8C7C-FC05947F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关键词 + 向量 + 图关系，支持增量更新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CC4D7-D8B8-4C70-AEA8-61570C3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099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F8298-B3B3-4292-865D-9003C3F2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290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7F8BC-EF9C-4E8A-8E75-C9A51CA4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00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CCA9C-9D56-4040-9F35-EEC3FB0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100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按任务、文件、角色和权限选择上下文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B887E4-95B6-4883-8B60-D99A414E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2DA927-7FBC-4626-AAD2-88383859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9585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63BFF-E9BB-4B2D-B912-07CF88CF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1BD82C-5D41-4C55-ACDD-1EA3E4C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768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把验证结果、修正与新知识写回资产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27544-5EEF-4267-8E54-8937B4DF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4810125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F2FDFA-7710-4B29-AFD3-4CC3B871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实践闭环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D81DD2-F7CF-4D18-A924-21075E1C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356DF-D8C1-4F64-9E3C-80766131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434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冷启动先生成Repo Wiki/知识卡，再由负责人校准关键领域。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B6DF7-FD0D-4058-919A-8FC78764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4EEBA-6A63-449C-8648-A51BC90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任务只召回相关片段，输出必须保留文件、符号和版本依据。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D74AC-0879-4B15-9D0B-052734D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4D8EF-F4DC-4523-919A-DF4ED19D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9117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用命中率、过期率、采纳率和任务成功率评估，而非只看索引规模。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156CBD-BE7C-466C-B5A7-DCEC454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7CFF17-22DA-4618-8EFF-BBDAF5BD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afe79ef8d194d5c"/>
              </a:rPr>
              <a:t>Qoder Knowledge Engine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70474d8ddc74dca"/>
              </a:rPr>
              <a:t> · Qoder 技术博客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7db8ad166c4b38"/>
              </a:rPr>
              <a:t> · 码道 Codebase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4B7614-84D7-44F7-AED4-54421A3F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0075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C0CF1B-253F-4614-B0DD-D0FE9BF7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8E415-4FD8-4760-9456-6A1AFB85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存量项目重写的实践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9C70D-2950-4001-A412-E0540595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存量项目重写应先建立认知与验证基线，再并行迁移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87791-85F5-4600-B060-6FADF74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4762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1ce9267e3433e"/>
          <a:stretch xmlns:a="http://schemas.openxmlformats.org/drawingml/2006/main"/>
        </p:blipFill>
        <p:spPr>
          <a:xfrm xmlns:a="http://schemas.openxmlformats.org/drawingml/2006/main">
            <a:off x="619125" y="1398709"/>
            <a:ext cx="4629150" cy="21174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47752-CFF7-41B2-9DF9-52438A78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DB390-0361-41A6-A683-401B97B7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93F25-07A4-4DA6-97BB-3FE2A104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CD106-C581-4733-884E-10630528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锁定现有行为、接口、性能和测试覆盖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D95525-DA78-4978-BADF-96B6394D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91740-48FE-43EF-B81C-1F57EEDA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5FF5A-27A6-4840-81B8-E6F0A1D9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A7F32-86EC-41DF-A09B-8435D40A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61DD3F-EB73-4536-88E4-59679AD1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Understand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E11F5-8B92-4B9F-A307-756F4D5C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Codebase/图谱识别模块、依赖、热点和隐式约束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0C433-5350-4390-AA44-590A5C17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06C0E-EE81-4D7D-968B-651F48F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9A463-EF99-4779-B07C-3D8BEAFB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03A31-5316-4EDF-8664-EC860FD3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2F3F9-0370-4CAB-8C37-9AF1B89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10BC4-B158-4140-BB20-61422055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按领域边界拆分迁移批次，定义验收与回滚点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C0F2B1-9B78-4CE5-82FF-7895D6C8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60E77B-8013-4487-B052-D0CC644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847BC8-4A7F-4805-A783-D535B990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8A45A-D47D-473F-B25D-72B8582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2A2AB-1FD5-427B-9F2D-3FD0EC0D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Parallel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A6CC8-A0DE-4C3E-AFC7-154690A9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多Agent分模块实施，Worktree隔离文件冲突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D077CF-C6FB-4976-B472-F26C240D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9C739-821A-429D-B6A5-B9858DE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4BCA46-35A0-4887-B4EF-D7ADFB62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222BAB-9126-4AF5-9BDF-3B08C33A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02A2C-95C2-4433-9AA3-CBE61D98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FDD5D-9D74-4375-A6D4-B40D65EA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双跑、契约/回归/性能/安全测试和人工审查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F9A65-4CD9-4333-A78F-D110225E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00575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6683F-D105-465C-A29A-AB640DE0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453390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13E947-BDC5-44AD-AFFB-FE6325F9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000500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E2AC9-74C9-4ADD-B4BD-7B0FF60A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143375"/>
            <a:ext cx="333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9868A7-392B-487C-A7ED-E91A1BD7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148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Cutover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E959B4-D7E2-4555-87BF-9E57165F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33900"/>
            <a:ext cx="1362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小流量切换、指标观察、问题回写知识资产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1796DC-0D03-425F-ACFB-F35DBC8A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323975"/>
            <a:ext cx="5905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CCEE56-F585-4A34-8AFF-5FD97A86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525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必须设置的四道闸门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2D7626-FE7B-49C4-87D9-2D89009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B65BE8-078C-4D28-AE72-67D19869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闸门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65BE79-1A0A-4FE3-97DE-4E8880F6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8120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F1914D-48D6-4751-B265-049FB9AB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3835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通过条件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F7ECF0-3471-42A2-A943-F55191D4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98120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7E9CCF-A9C0-466D-ACDC-E298AA01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3835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失败动作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1AE7C2-1043-4587-BEFC-F686EF6D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171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E84F34-36FF-491F-80CD-1225ABF9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886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行为一致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5302E1-8590-4DBF-BB92-D81E2FD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5171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3EF1D9-D8EA-4BD3-BC4F-6510393B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886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契约/黄金样本通过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EA2F604-726D-4A2D-BDD4-A9AAD10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25171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F5549F-E3E8-4BF7-9DB1-D89A06A85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886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回到模块级修复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BAA589-28F5-4AC9-85CA-5D868855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2222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F8C503-0CFD-473A-B8E7-8E56052D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937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F63B2E-6AF5-4140-ACAB-CF337F0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222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221BCE3-A672-461F-8FB4-8828C51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7937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回归、性能、静态扫描达标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A0AACB-E447-4DCE-8498-15B24C46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2222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1E7E16-E68B-4B58-A55D-0E91AB99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57937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阻断合并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9EF436-FC1C-45A8-BAEB-6DA3914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273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FEFB89-83D1-4656-AD90-072DB822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4988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可回滚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507E29-C919-4CD5-9669-3697BD1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9273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95491E-71A9-48CA-B1D1-5708EF94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4988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旧版本与数据路径可恢复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516DA2-46BD-41A7-B432-6C5F8E4F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79273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13A2F9-04A5-4E90-B98C-3826C9F4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84988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禁止切流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F5EEC1-A8FF-4E71-872E-3BF5357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63240"/>
            <a:ext cx="123825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AC0B44B-5F68-4AFA-A217-8A64C28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20390"/>
            <a:ext cx="108585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可观测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A775CA8-AD8D-4086-81E6-7AEF170C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63240"/>
            <a:ext cx="2619375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073277-4B6F-45CE-A5FB-42534E4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0390"/>
            <a:ext cx="246697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指标、日志、告警完整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17A68AE-3D38-4625-98D2-11A5CCA7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63240"/>
            <a:ext cx="1524000" cy="270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60BFB1-5E25-4564-B549-405F10CC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120390"/>
            <a:ext cx="137160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延长双跑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4CE177-018E-4E1B-BB1E-65A69BBE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1106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关键原则：Agent提升并行度，人负责边界、验收和切换决策。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C00745-5087-488B-B7AA-2A21067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D475D3-7AFE-42F5-AC12-852B9B0D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bc850e17db42af"/>
              </a:rPr>
              <a:t>Qoder 存量重写案例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19474425ff414d"/>
              </a:rPr>
              <a:t> · Quest Worktree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B6630D-A75D-4C48-8AE1-29CBE322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9995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845E447-4044-430D-AEEC-61DF504D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77B31-F4AE-4EF8-A140-CB2919E8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Codebase及CodeWiki技术深入分析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EB802-E5A8-4183-91B8-168AEFC1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Codebase解决“找得到”，CodeWiki解决“看得懂”，图谱解决“串得起”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E486A-30F2-475E-9332-0691AAC2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08C1-9FEA-4ED4-9206-DB17DD99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源数据层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37BE0-DCED-4CDA-B1B2-BFE14771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 / 文档 / 提交 / Issue / 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342BC-5351-4081-B3A0-B5CD9579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0BD17-D89E-48EA-BBE0-97918EB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384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0EB4D-0C92-4CEA-A8E1-0181DC34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6A0EB-54B6-485A-A0DC-C5F1745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解析层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464EC-5911-48AA-B92C-6698F1B0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Tree-sitter / AST / LSP / 符号表 / 依赖解析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47735-40FF-4099-9D34-387D2CF9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3604D-FB9D-47C5-B7DC-D1DF47D3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482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0722C-1480-4249-8279-CCE2840B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DFB74-5156-4444-97C5-4650C5CF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索引层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85AC6-472E-4F3C-8F8E-8AC2F08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倒排索引 + 向量索引 + 图数据库 + 增量更新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26F025-A5FF-4B72-B421-C365D4E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B0B01-AD2D-4AD6-9F59-C239A023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580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471C3-FF82-4FB7-8419-DCA113E0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6CCFD-C5EC-4087-ABA9-57129A5B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知识层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BB056-A1A5-4ED7-965C-CE42D549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模块摘要 / API说明 / Repo Wiki / 知识卡片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1257BD-E185-4D18-86AA-1F3AC47F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574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564A4-72FD-4EB6-AD94-AABEC114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267825" y="199072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D3EBF8-1D28-4D52-AA77-55632A03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438275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23B18A-B431-4542-8B96-CC25C7DD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A713FE-D418-4B19-AAF7-0EE61B62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9812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意图理解 → 混合检索 → 重排 → 上下文装配 → 引用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D037B7-9080-4870-9AC3-206CD0C0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技术能力对比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60C0E-3182-489A-939A-706003FB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C7628-7C5F-4B37-AC91-C639379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021604-59C6-4123-9187-EB085E6E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FCCA39-A118-4952-9622-1EA4259D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91A991-9A9A-4B6B-9B13-C1BB1A66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27A8DB-8E73-4F85-8626-461C4A75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4290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B5D38-EC83-40FD-89D0-9C6CB7EF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3718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E9FA2-1F23-4686-88C1-DDA34CB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4290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主要风险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53B15C-8E75-4DB3-AEEF-8965B7B7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3718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818A4B-7A5E-429F-B270-84BB41D1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290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A75CD4-657B-4E12-A01E-6F0A9C29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7BC81-A79F-48AF-AD39-57918BEB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290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Codebase Index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186CCA-0166-4805-953C-5380CAA2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F15B0B-17C0-451B-A04F-E3F3DC9E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相关文件/符号/片段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975518-97E5-4D8A-B2BF-76F5A635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719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4626E4-4DB5-4D7C-B92A-29342232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290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实时任务召回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7DB209-2BE5-4A86-8B51-8D8C486B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7719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D6E200-5A29-48BF-934F-948C26F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290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噪声、遗漏、权限越界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B8C93B-CE56-4141-9DCC-3BE5ABED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7719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DD87C3-3799-416D-91B3-8A659EB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290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Recall@K、MRR、时效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1335E3-4139-4AFA-AF6D-C8975B493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8395D8-08F4-4E79-8C5F-ED91AC7A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CodeWiki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6D9609-FB8C-4D71-A00B-D5EE91CF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E29CF8-A49A-42C4-83FD-9862D922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架构/模块/API解释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F2FE76-37A2-44EF-A233-6C70E1F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113FAE-D2FA-4733-B167-47DB864A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29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新人和存量项目理解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F4DFA7-619E-40EB-BA3F-CBFDC93F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171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590D38E-666F-4A81-8A35-F12DF3E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291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摘要过期、事实失真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FC0844-D7DD-4CF0-86CB-0FE8B6EF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1719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2FF6E0-1D5A-44C2-97B7-093E9B6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2291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覆盖率、引用率、过期率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3FDA21-70F0-47C1-9107-533063F3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06C4DB-CF5E-475A-8C80-3777BD5A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Graph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B83036-648D-42B8-9509-3E83AF7C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E48475-780D-4CF3-9EE6-559898A0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实体、依赖与调用关系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DE9060-F25D-40FA-8625-8665163F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7200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7D32A9-EC1A-43C1-9CA6-7049F426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62915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跨模块影响分析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FF26B4-5F72-4D05-9D2F-0FBF17D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5720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0D9295-C48E-44FE-9FFA-FBB96493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2915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关系抽取成本高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618A8D1-E068-480B-8E50-528940D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57200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B5ED9D-8924-488F-A849-40837959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2915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边准确率、路径命中率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A7B5C3B-4853-4C0D-9CBB-A18CECC5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5892C1-4890-4901-9E66-38B480A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29200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6CA6D29-68D1-468B-9F88-59B42D97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D08D18-29F0-45F5-8D01-A0FFA698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可审阅的经验单元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9BBC00-3DEF-4440-8288-32EC4F38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72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6C24AE-0A09-4FAF-B709-87EBF830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292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人工治理与复用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971C91-EEC5-44C0-9EBC-86A67E3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9720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4FB48A1-2F4E-41CE-B398-C325BAE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029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维护负担、重复知识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BBCCD5B-39B2-4310-8B16-CDCD50B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972050"/>
            <a:ext cx="2162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6452C2-FD8E-43C5-884D-D0BB0C1A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0292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采纳率、修正率、复用率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5F88156-2B31-4444-A8ED-962A2061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68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工程结论：索引必须增量更新；生成内容必须带源码引用；权限过滤必须发生在检索前。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10DB2EA-D401-4636-BB39-34C4CE7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5EFF812-0B5D-4664-821A-CD94CE4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0c9f2891ba4f18"/>
              </a:rPr>
              <a:t>码道 Codebase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61fe2b95c7349da"/>
              </a:rPr>
              <a:t> · Qoder Indexing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bf9d6ed9eb4c52"/>
              </a:rPr>
              <a:t> · Qoder Repo Wiki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0f4fca36e44ab6"/>
              </a:rPr>
              <a:t> · QMind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1FCA6F-E617-4632-9C9A-5C5E824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43622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A12CE8D-B96D-4A68-9DE2-BBCB678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5552A-5981-4DC4-8820-03A3658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Workflow、Goal、SDD、Solo、Quest深入对比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4B0AD-5140-47BD-85FE-03396080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五种模式分别解决流程复用、目标收敛、规范约束和自主执行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EBC91-7417-4C4C-9509-6F829ECD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430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F940-3580-4941-8EF3-2D083DDB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4658B-2FFF-4FC9-B167-01421C9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430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9389A-B7B4-4BFD-890D-E8A89F50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4001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谁持有计划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3D6A6-FCF0-4357-ACAF-89803AB2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3430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87311-6C41-40E2-9F0F-08427843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4001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E7390-F930-4832-8CC4-B28302BB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3430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A9A842-F667-4672-ABDE-5012462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001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主要产物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CDB1E1-8B53-4693-9489-8BCB74B6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3430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D4C49-8C62-47CE-8A90-AD27E088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4001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人工闸门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47E56-E57E-42C4-94F8-5D8BA171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430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9F7B6-CD84-4CDB-9FAD-6E2A9E75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4001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最适用任务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19E67-1B0E-46D5-A133-E726EB7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5D228-CBE2-49B3-8F01-F09C9634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06302-DC86-4DAC-903E-ABC2F5A1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669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E8D54-9E0E-428F-98E6-3BA17E30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240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脚本/运行时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1C30A-AE90-4AAD-B941-81975D7F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8669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B8918-29F8-4D5B-A008-9EE63938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9240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阶段、分支、Agent编排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79D66-D617-460D-AA4C-35D10209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8669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5AF48-72EF-4901-83FC-69B564BF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9240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可复用JS流程与汇总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026DC-96B3-4627-A15A-0229341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B464D6-54C7-4572-BE2D-E4111470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240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运行前审脚本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F678BF-DC15-4D92-8CF4-7268AEED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669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7DC4B-8CCE-4A2E-B789-F50E9826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240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大规模审计、迁移、研究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D1C75-8A58-4BF1-AE30-7603C28C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3C0102-F83D-48C9-9E10-0641E09E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A74CCB-0303-427F-8096-A277DF1F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9077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6E5F7-16CC-4E87-B452-B1B1B499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当前会话+评估器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A5E886-93DE-435B-9801-E7C657DF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39077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6FD08F-D60D-4D79-B721-1379B919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479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可验证完成条件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295F6A-35C7-44F7-9A2C-246F6D14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39077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40A18-F0F9-4259-8F1A-8AD6DD3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连续多轮执行与状态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07BAEC-1BE4-40F2-86E7-55C72F47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9077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BFBEB-E1D8-4906-B3BA-531037FC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44792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可随时清除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6A733A-19DB-4286-8020-AE8BDDF8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39077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5AB126-CD22-40D9-996A-ED41DF53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44792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测试全绿、队列清空、迁移完成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AC98FA-3574-4BA8-987B-8780196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16580D-8030-40CD-BE2C-3DDE85EC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SDD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8F4BB1-893D-4216-9D61-ECA6CCD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1465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19E7F5-9F95-4430-8AFE-C7B37AF7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97180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Spec文档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C447AD-920F-446C-BFC5-335D1B1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91465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9FB8E9-C7C9-449C-BA48-51C997B1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7180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需求、设计、任务、验收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8741B-4F08-46AC-B0AD-93BF5C2D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91465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84B20B-5B30-4BBF-A317-6A362D52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97180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可审查规格与实现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91C72F-9DC9-48F3-9234-06CC0FBD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91465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BA0727-7E1F-4C67-81B1-533C8DA8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7180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Spec批准后执行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4D4C66-3AF6-4B47-9FCC-E52FA44B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91465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B8B7D3-BEA8-4E00-8091-31B485D4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跨文件功能、变更可追溯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28C490-EE17-4B5F-8E3A-99DFCF71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8525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59B22B-3464-4A15-8B6F-0B741C2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Solo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A124B5-5415-4D83-A947-0AB1D726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38525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FA9777-BC47-438E-B371-8A7CB56F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95675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产品内置自主Agent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B14074-A0B4-4E23-B976-D729A3BC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38525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FBF2FC-A427-4260-80C8-9B223FE0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49567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自然语言目标+项目上下文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BB54CB-52AB-4189-80CE-6C992A1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438525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06893F-26CA-49B9-A9E3-76BD508F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95675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端到端应用与预览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7DC8AA-1D58-4446-89E1-E097E03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438525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3D28B3-7447-4AF7-9D0C-3231494C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95675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关键动作确认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C2F9B3-3C25-4784-8DC6-D7FCD1A6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438525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52594C0-0E3B-4919-83EA-526FC424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快速原型、前后端一体任务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E86BDB5-204A-4820-B027-926F299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333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61163C-CC95-4115-A11D-01BB0BF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181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5DC1E1-5447-45F2-A3FD-4025DD68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18573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1961EA-81E4-48F0-B69E-43338C30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19550"/>
            <a:ext cx="1704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任务工作台/Agent团队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2B677B-0A7C-4FB6-9E55-38E3F7D7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962400"/>
            <a:ext cx="2095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466471C-C2A7-438C-971E-A05D0292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019550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目标或Spec场景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2DA0DAC-8CF2-45C9-AA52-53143FC0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962400"/>
            <a:ext cx="2190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B6AA73-177B-4A43-B6DB-C85E50C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019550"/>
            <a:ext cx="2038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任务、Artifacts、代码与评审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1FB6A30-16E4-4052-A7BD-8CF70A6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962400"/>
            <a:ext cx="1619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8BC7D08-58CF-4C6F-9AB4-1A6680B9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195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Accept/Reject/PR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D63C7F-93B8-4BF9-9FF7-39AEB96E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962400"/>
            <a:ext cx="197167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7DAD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57C5FA1-F89A-4B16-90A0-8D25E5B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19550"/>
            <a:ext cx="1819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长任务、多项目与多Agent协作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D6409D-BE2D-42E1-B8EE-FA3CC95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7A210F-4D49-4AE8-BEB1-BC441C7E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要重复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6C66FF8-4306-42FE-9F66-041306ED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Workflow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D84615B-519E-4403-AAE4-C8AEEFF7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同一流程会重复运行，编排本身需要版本化。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ECE3F33-8C25-4A2E-A47A-9DABCB6E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4FDA60-8E68-4C06-BCDA-9B7AC10B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要完成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CD0D1B-D31E-4301-B760-4FD83ECD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Goal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C719E26-8237-4EBD-B3C3-83432BAD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终态可测量，但路径允许动态调整。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02A19BC-1AB5-43AB-A5C4-FBCB262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D10FF7-BB8D-4726-BCCB-DC7C5863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要对齐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CF09AFD-5F56-45CA-B95C-AC2E61FB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SDD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AD749F2-6A7D-4174-B7C1-BE1E9B32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多人/多模块开发前必须冻结需求与验收。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376462-3C7B-4391-8A89-99EEAB12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552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FAB678F-8105-4C63-B38F-33558188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0537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要自主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9B15A07-CB6D-4C6D-9EB1-F365864F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76800"/>
            <a:ext cx="1504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 Solo / Quest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CB7641-364E-4838-9DB2-D7204F8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57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把较完整任务交给Agent，并保留关键审批点。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6F19D82-864A-42C7-A12B-F6ABB684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24A1718-3ABB-4744-A43E-12B2109D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08c947f048456d"/>
              </a:rPr>
              <a:t>Claude Workflow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8fb71c2c0f146af"/>
              </a:rPr>
              <a:t> · Claude Goal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bc78c3a1214453"/>
              </a:rPr>
              <a:t> · Qoder SDD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d86ff704584a25"/>
              </a:rPr>
              <a:t> · Trae SOLO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842214-476F-4116-BCEF-9703098C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76321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B01337-8BEC-4FD8-85DF-20837F05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629CA-E0EF-4F83-8E04-0A054C5C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多Agent协作技术深入分析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00992-E762-4933-BE84-CD5BAA0E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多Agent协作的核心不是数量，而是角色、隔离、依赖和汇总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D2DB0-6D65-4BD6-9E8D-C300474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90650"/>
            <a:ext cx="3086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08E34-9ECB-4054-93FF-1B68A55B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43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Lead / Supervisor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CF449-5C73-4A9F-94F2-6B09205A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拆任务 · 管依赖 · 分配预算 · 汇总决策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BECC2-78B5-4C6D-A231-6D90B71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71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2148F-59C4-486E-AC43-D665BB9D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88BE7-3721-48BC-855B-D7D3D5D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探索Agent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E25C8-6C78-4049-8ABE-51BF9EB0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代码结构 / 影响面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37918-96BC-4820-AB76-882A9557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006EEE-CA40-43E2-819C-2FCCAE4B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实现Agent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1FB6D-179B-493E-8DC2-550F7C4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模块开发 / 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49498-1518-4174-8BFD-B52C5FD8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569FE-A047-4250-B730-AB714B0B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审查Agent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85F84-5915-4F8D-977D-34E3D035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规范 / 质量 / 安全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AE6C2-C5F2-4DD6-B353-09937571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533650"/>
            <a:ext cx="2552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35266-D34C-4F75-9103-8EA6090A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7146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191360-3575-4489-9295-4B77B1F2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24200"/>
            <a:ext cx="2209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构建 / UI / 回归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8EC5D2-B9E9-478C-86F4-B4365F48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四个工程控制点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2DE5C-56A2-4880-9D06-1F14FD26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B31BC7-2F06-484B-9E32-2F4D239D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1F0F30-9924-444D-9DF3-771FFFBB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上下文隔离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803FD-2055-4001-8BDC-7F55CF2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每个Agent只拿任务所需上下文，降低串扰与Token。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7901D-929C-417C-826A-8465FA48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966049-3E65-48EC-8C2A-31D689D7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E38B0A-C3BE-4837-8C4F-C8144315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代码隔离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7F173-6833-4896-B1ED-7B1D2A43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Worktree/VM/容器分支，明确文件所有权，避免覆盖。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E85B3-6039-4EE1-BFC3-EFAD2A8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61A3E6-9637-449D-86E4-3FE0D4AD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49036-1CAB-4DEC-8346-8B1B9E73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依赖调度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B5ACE-8FDC-495C-86A2-DA7F2CDC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任务DAG、状态机、重试与超时，禁止无边界并发。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D3657-E940-44ED-842F-CD8BBA59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276725"/>
            <a:ext cx="2552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04DD0-458B-4C47-B72F-66C8D9EB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29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1B82A4-4D49-4DAA-B442-47AE3C5D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100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质量汇总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E60F27-D6B1-4ACC-B53F-6FE50B36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6250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独立审查、证据合并、冲突裁决，Lead不盲信摘要。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60AE4D-A9D2-414D-AB66-51DB60CD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1104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C020DA-1939-4DDD-8A8D-E6635BA2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70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适用：任务可分解且结果可独立验证；不适用：多人同时改同一核心文件、需求仍高度不确定。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7A96C3-0BC0-48C3-AF54-6BE49AF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D2471-E2AA-4B6C-88C1-E3E12B87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0cb392338c4316"/>
              </a:rPr>
              <a:t>Claude Agent Teams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04f177af25441e"/>
              </a:rPr>
              <a:t> · Claude Workflows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83f59fe73014c49"/>
              </a:rPr>
              <a:t> · Qoder Quest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7863ce7ac74216"/>
              </a:rPr>
              <a:t> · 码道 AgentTeam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5C4067-97CD-436B-8423-72497E4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8674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68FF19-A6FC-40E7-BB4F-8A76D2A7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EC828-6C01-4C13-ABCF-F550BA28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  最佳实践：Figma插件对接原型验证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8E4B1-234E-48AA-8C74-6AB9022E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Figma对接不是截图转代码，而是设计约束到视觉回归的闭环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546C0-B625-428A-812F-65F219C2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44577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cfe5af85043e2"/>
          <a:stretch xmlns:a="http://schemas.openxmlformats.org/drawingml/2006/main"/>
        </p:blipFill>
        <p:spPr>
          <a:xfrm xmlns:a="http://schemas.openxmlformats.org/drawingml/2006/main">
            <a:off x="1015276" y="1400175"/>
            <a:ext cx="3532048" cy="2743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E5581-8071-4D14-86B7-E07137E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DEDA3-C8BD-426A-9A75-713FA96B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A8AD5-8704-4D6A-B2E4-7D309FB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选定Frame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620D3-DB15-47E6-B508-89F7C23D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明确页面、状态与响应式范围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95278-4BDF-47CC-8B8B-3900E53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335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DCA2E-514E-4A07-A786-668998BB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485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A19DD-4A50-4BDD-9CDA-D03653F6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668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读取语义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9EA00B-7D8B-4814-8C8E-3AA85897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192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组件、变量、Auto Layout、间距、字体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28A5D-E5E6-44BA-8555-27D5075B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0A090F-4DED-479C-A1D1-BCE7E8C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62361-173E-4C67-A1E2-82944BD0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映射工程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55F48-F0BE-4D34-8F36-BF21D89C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复用现有Design System与组件，不复制像素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75F58-7040-468D-BE8E-420FE482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CCC34C-0DE6-4D09-B8EE-6EC249C4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92C07-912A-475D-80DE-56EDCA84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生成实现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A07757-6A71-4FAF-9733-A119BE73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4322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页面结构、样式、交互、数据Mock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71622-CED6-4505-873F-A5A282CA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58E14E-68DF-4D98-B62B-6F689587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A3F1D6-5766-42B4-8084-09779AB1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运行预览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56F43-0FB6-4244-915D-AD1AF7C0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桌面/移动视口，检查控制台与网络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726E7-6726-430D-84BA-0630034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F80279-D8C3-427B-BE32-4EF43D8F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7CA9C0-1B5A-4FD5-B39F-5FAD35C6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147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视觉回归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A1BC60-0245-4799-93D4-B9AA99EE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67175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截图Diff→定位差异→迭代至阈值内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227CF-A438-4DA6-9145-ED7B0364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110680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E2C10A-47FC-4CE2-A5C2-547AB702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验收清单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B75104-DA10-499C-BF92-C3B69621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E3102-6725-4315-981D-D652E7AA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组件复用率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47DFC4-90C1-4B9D-AFAA-BB217B6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593C7C-02C2-4FE7-979C-AE6DA5EC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设计Token一致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12B718-9EEE-43E6-9767-3B8DADC0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1911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29B2EE-3674-4421-82FA-6262D007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53025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响应式断点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7C2E37-C9FC-41FB-95B9-7CA17946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FD0745-641A-45F3-9948-54DF1396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交互/空态/错误态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725208-5043-4488-87F5-7CF98E54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4AA015-D52D-4D46-A7ED-D9ACE3F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可访问性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5E44CD-3A1B-4C4E-A7EC-96B56A75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62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46F7E1-AB79-4031-84CD-082C9EF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视觉Diff阈值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7BCCE6-FE90-4F4E-BC97-789D5AE0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807070-BD9A-48F7-8DBD-2892886B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b1dddda9d7847a2"/>
              </a:rPr>
              <a:t>Trae Figma to Code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40ec7e58e764fc5"/>
              </a:rPr>
              <a:t> · Figma Dev 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88C37C-B249-4ED7-8410-F7C76AAD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497866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DD8E206-71FB-4ED4-9CB8-D9D80B97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666B7-6751-4321-81C0-49062F7F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  最佳实践：Browser Use进行UI测试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D44286-EA42-49C6-837E-CC67DFFE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Browser Use要把“看起来正常”转成可重复、可定位的断言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59F76-6C71-4952-86F6-7C4752E8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C587-25D4-40CF-A832-A3890296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D5B58-15A7-42CF-B296-2BCACABA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D0FC4-4A0D-41BD-B102-483E601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固定环境、账号、数据与视口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D335F-0850-47AA-9814-4A94E7DA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606BB-4590-4A88-99AF-CBDC2F60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2574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895D4-2C37-43D7-AF6E-7FCB4F51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EA425D-7087-4EB4-9F7B-1ABA6FBE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21A72-AF84-4272-B9E4-046E669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29AFD4-9FFD-4E1E-BBE6-0E62EF55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按真实用户路径点击、输入、上传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9F5FA-4372-44E7-9269-8704199E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052DC2-F677-4009-86C0-FFE4CC55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95197-C39B-4B8A-B51D-62034DE6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397FA-2654-4189-9AF5-DC320B4F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C19A6-3FAE-49D7-95C7-464BCD55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D21D6-8E7F-47ED-9BC2-54254FE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DOM、截图、控制台、网络、存储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117CB-8DF7-49E6-B974-127B0376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1DE5B-55A8-4DB3-94D9-8287FE45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24A785-E979-409B-BAFC-D5F4D4F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4FA4F-CF6C-4743-8F87-D9499FCB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D9F5B-575D-4916-B1AB-AB23A56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断言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80D929-59E8-4CF4-9870-CF3E17FE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功能、视觉、可访问性、性能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954B1-0CB5-407B-A947-8BACB65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E94BB-1C37-492A-9D0E-4A97CD36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72400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F3BE0-778F-4DBD-9E72-6941EE52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5BCD8-707F-4C90-ACB1-B7D3BB00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31DFB-98A0-4896-973B-3B599070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706528-14AB-4B0B-95C1-12416CB6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Trace、截图、日志、失败步骤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08E89-1655-49A5-A19A-A2FE53F8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764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2BCB7-9B0C-4135-8C96-70D75254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10725" y="20097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27F7C-D1C0-4EAF-A4F2-47349411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438275"/>
            <a:ext cx="16287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DEE223-4838-40FB-8968-F854B39F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5906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19B233-DC7C-4AE8-84F5-5649A9F4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7162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F2638A-1B6D-4E22-9EE4-E66ABCCD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24050"/>
            <a:ext cx="128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最小改动→相关场景→回归集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91AA1-AB2E-43AB-83CF-50A00D9D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测试组合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3BD141-F4BE-4ABE-8F6D-4FDEDDFD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524250"/>
            <a:ext cx="385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729FD3-E1EB-40E9-A77B-F942767E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088" y="36480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关键旅程 E2E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7B7C4A-427E-4134-BCE2-88EA5BD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513" y="3657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登录、下单、发布、审批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A789AB-BA21-4AAE-9661-EB57336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5334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CFC93C-F9E5-4CDB-BB65-6B8AF3D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719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组件 / 页面集成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91D5F9-2AD6-4E47-A8C3-20755C56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381500"/>
            <a:ext cx="3095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状态切换、表单、路由、权限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062C32-06EB-4421-B7FF-CA091159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685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34FDBC-BC5F-46BC-B83F-9397A94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静态与单元检查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664B56-5C68-43D7-AFCA-31DB2284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10540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类型、Lint、逻辑、可访问性规则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F808F4-853E-4179-8B2C-99A713D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37338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594386-AC28-4490-95FA-C3F90C93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Agent测试提示词必须包含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F995A2-BAC6-4B29-90F7-06A52C79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A03863-81A4-4BC3-8386-12CAD548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004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起始URL、账号、测试数据与禁止动作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876528-A98A-449F-BF36-A0E0766E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00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278FB8-0D34-49C4-A604-6F2A8DFE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关键路径及每步预期可见结果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B2BDFB-C50E-44C1-8B53-4EEB7D2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70020C-A354-4C28-9615-C2E1A2ED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6722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桌面/移动视口与截图命名规则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749351-C5D4-4922-9A92-47546107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867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FCD535-5227-450B-809B-61218D3E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控制台错误、失败请求、可访问性检查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B231FA-234C-44B8-BF1A-35E9CFC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F5A2D2-AB27-4B80-A1F3-C97F808C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33975"/>
            <a:ext cx="2971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失败时保留证据，不自行跳过断言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FD96AE-0B09-47F3-8F97-E749D8F3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结论：浏览器Agent负责探索与取证，Playwright脚本负责稳定回归。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2E2DEB-49CE-4FC9-A791-55D997A7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BFCC14-FF1D-4E19-8DB1-23E9C221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6e946932674706"/>
              </a:rPr>
              <a:t>Codex Browser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e2f53f62e834a12"/>
              </a:rPr>
              <a:t> · Trae Browser &amp; Preview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7c5c889fe84c8d"/>
              </a:rPr>
              <a:t> · Playwright Best Practices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B6A139-5A42-4EAC-9812-DF14A9B9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84798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663854-EFFB-49AE-A6B0-33DA5223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6E2D5-3545-4443-999B-982BF7A5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  产品 Superpowers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20808-BAAC-4972-BF11-81980464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Superpowers把成熟研发方法封装成可组合、自动触发的Skills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59F57-BB7C-4917-BCF8-4D3245B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75557-E5A3-4D96-8BF1-296243F1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E853E-8CA6-4850-B62B-EC9022E1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Brainstorm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4D12D-403D-4F77-BD69-61A4DBFA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澄清需求与方案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FDED5-74BE-4CB8-86D9-B39CEFD6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3DCAF3-8B4C-49A9-B335-88D76B69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097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033CA-11ED-4AC2-9C2D-6C044CA2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C6F3B-17A9-4864-8CDD-B9B0386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92D9C-677C-4CE5-9734-133B35EB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7BC79-F8BF-48D2-8B49-92069BCE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分段评审设计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3C109-89BF-44AE-ABDC-679036D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0D4E0-09B0-4B97-B222-13A43961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671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ED7E3-06BC-444C-B3CB-71612276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03043-439A-4E6C-B74C-E9FFC2BC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30C2D-FD0F-4C42-ACCC-62F162E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1E11B-ABF4-42E9-A9F4-B8542888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拆成可执行小任务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1C312-23F7-4D12-9282-02A46DDF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8E19D-FCBA-4F3A-91DA-E4E1B5C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244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B74F2-D3FB-4438-8B25-A1EFFA36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2FB62-FC33-4D0B-AA50-A0F74BC6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56C3E-FD30-452B-8B72-AE16B293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04FC9-834B-4E70-9079-4D73CDF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建立隔离工作区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FD635-5310-47C3-8E92-AF8FE251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AF498-682E-4611-BD2D-FD5796A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C7C69-DC8F-46BF-8CF5-1DC50A63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4D4282-E425-467A-8E0F-D083815F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AFD8C7-E372-40FF-9FD2-B25D1F1A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TDD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4F063-D805-4556-9F33-FFF229F4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RED→GREEN→REFACTOR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B5AA07-6AEA-43C9-B47C-91AC7BC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568A6E-C9B5-4929-B8C7-A6530E97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3917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CFD966-FF7A-4A21-B7A8-1473264C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5CCFD9-9686-43C0-A9A3-8CC48445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E9122E-D2C0-4DEA-ADB8-9FF70A58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A1580C-BB93-4818-874C-F073825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逐任务实现与双重审查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0409A-FDB3-4B5E-A1A1-B752A1CD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962150"/>
            <a:ext cx="76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8668C6-9EDD-42B0-9967-01657DD4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96525" y="1895475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10E466-6A2D-40C1-9FFE-682CBAD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1438275"/>
            <a:ext cx="1466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F68DAD-6EF2-486A-A630-90D4B4D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62100"/>
            <a:ext cx="285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0D1E95-7F91-4220-9EAE-2C1C7762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38325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Finish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92D5C1-0E90-468F-8974-8519F5D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43125"/>
            <a:ext cx="1276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测试、PR/合并、清理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8EA34F-725C-4CFA-A3B4-1EB956E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8A5A45-505C-4B5F-9255-1CBD015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它是什么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DA33D1-A761-448C-A640-E03D857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797A7E-80A4-429F-A2B3-E441E9D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开源Agentic Skills框架 + 软件开发方法论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0A9C01-D55C-4E6A-B19D-83FB1593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E5480B-CF7D-41FC-9DBD-35937E2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通过技能触发器把流程变成强制检查点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FA08CF-FF9E-4601-9468-52101F48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6C6BFA-AD7C-4935-80A0-06668AFA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支持Claude Code、Codex、Cursor等多种Harness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CC5B01-3DB5-4001-AD32-BE7E2E1B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1122E0-5547-425D-8078-62715C95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核心价值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59DDBD-3A89-48D7-9BD9-73ACF833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105A88-0F76-447A-9FF7-FFD968E4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减少Agent跳过设计、测试和验证的随机性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CAA40D4-755A-4CDD-B4D8-4B534C3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DD459B-C043-4ACD-9D9B-55828BA9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把团队方法沉淀为可版本化Skills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D7B255-5DFA-4394-89DD-9B7E70F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30CA88A-84AD-4D5C-B50D-F2D27E1E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Subagent每任务新上下文，降低长会话漂移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4C7313-4C67-4D2A-94D9-66913CDD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4480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7110C3-2E25-43D5-B0C9-684341F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385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边界与风险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D0278A-B678-4B1A-ABBA-3422830C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31C8F6-811A-449B-9C96-9DED58B3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24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不是模型、IDE或项目管理系统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5B36A96-25B2-46D7-964A-561C220F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746D5F-BE7D-42FC-A2C3-3D69BB87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9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强流程会增加小任务的时间与Token开销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566422-D314-4526-8443-1CA47D9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B165E0B-7FB6-4BDD-8DB5-D5D48AF7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14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需结合团队规范裁剪，避免机械执行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182A19-445C-411E-B5E9-1A5AEB42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1106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落地建议：先在一个可测试项目启用 Brainstorm → Plan → TDD → Review 四项核心技能。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9D91E7-15A7-4939-A937-8631C97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EB87FC-1407-4605-90D9-E6868F5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f5c6ba2f654d74"/>
              </a:rPr>
              <a:t>Superpowers GitHub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C9BE86-116D-47C4-8DA9-03E0E6E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268738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D7DA7-209A-4570-A726-E9688779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4D633-5B55-4A50-A633-54464FE4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  产品 OpenSpec 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8B42F-BF43-44DD-8098-455E5FD5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OpenSpec用“当前规范 + 变更提案”控制存量项目的需求漂移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C40A8-D902-454E-A4A3-A5A1D402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B6243-D6FC-4EDE-A047-6E35FE68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90675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openspec/specs/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182C8-9D7D-453A-94AE-7956EF28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2914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当前已生效的事实来源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Requirements + Scenarios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供所有Agent读取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23FE6-719B-4243-BF46-147105FD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B38E8-9DBA-476B-BBE2-06748B22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243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E434C-1B9E-406C-9A85-4D9BA6FD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71600"/>
            <a:ext cx="3371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76356-63B8-4141-8F09-FD3BFD05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9067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openspec/changes/&lt;id&gt;/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C4227-8C0B-4846-8FB0-2EE52FC3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9337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proposal.md  为什么/改什么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design.md  怎么实现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tasks.md  实施清单</a:t>
            </a:r>
          </a:p>
          <a:p xmlns:a="http://schemas.openxmlformats.org/drawingml/2006/main">
            <a:pPr algn="ctr">
              <a:def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specs/  规格增量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40FF5-0C60-4755-9F3E-9616B95F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25742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A1CD7-E2BF-4636-8118-F7BCC3E2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62950" y="21907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7745B-C091-43E3-8A02-A97E4F8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9908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62E9B4-6C35-4A58-B0A9-7031AC36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906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76233-93EB-425A-AB89-35B72E04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05025"/>
            <a:ext cx="2533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实现并验证后归档变更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把批准的规格增量合并回</a:t>
            </a:r>
          </a:p>
          <a:p xmlns:a="http://schemas.openxmlformats.org/drawingml/2006/main">
            <a:pPr algn="ctr">
              <a:def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当前规范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52E4E-5D0D-4E8A-9E73-43316C21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C55C1-46A6-4A3F-9B63-C1E63C12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/opsx:explore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83507-5C71-4677-BE82-2A69406B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理解存量代码、权衡方案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A5EF06-F909-4169-933C-65F1536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288D80-8E28-4347-A9DE-1B11FAA1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/opsx:propose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00BBA-983F-4ABB-88C9-FFED8A52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生成提案、规格、设计、任务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14BCF0-9F1F-413D-8027-DE63B35A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04FC20-0700-4AED-BD8B-78016AEE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3DB1D-AD48-4DDC-8D61-2C4F5968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按任务实现并持续更新状态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C9769-2022-429B-86A5-CF60BEE3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4B195-D089-4B52-9DE0-3CF39937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6D978F-46A4-43CD-B7C9-E36EA5C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核对实现、场景和验收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BEA2D8-6035-4495-AFDB-C6C19B33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766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222319-E80A-4B1B-BF6B-CFA9034C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85762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/opsx:archive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861500-BADA-42A7-9D04-5682EA03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672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归档变更并更新当前规范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1718BF-AE0F-456F-A6FE-9296C92B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680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7756BA-5D60-4CE3-951A-1ED6521F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与其他机制的关系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BAEE63-4B69-40DA-A875-865106E8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2292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AGENTS.md / Rules 管“Agent如何工作”；OpenSpec 管“系统当前应是什么、这次要改什么”；Quest/SDD 管“如何生成并执行任务”。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AB62B5-69E2-49F1-B5DA-E4734268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6632BB-DE7C-4E21-BA9B-6745049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81d89c3090247af"/>
              </a:rPr>
              <a:t>OpenSpec GitHub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22BA8-152C-40B3-AF75-C481AF1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588947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E195DF-B571-44D9-8235-4161BD10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76EAE-E83D-4A60-8614-685F0E27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  最佳实践：如何省 Tokens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391AC-8EA8-4C58-8883-2F388F7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省Token的本质：减少无效上下文、重复推理和失败重试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D68B3-6036-4F2E-BB62-33FAF676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11068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3331F-9D21-41E9-A45B-87A296A9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0610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总消耗 = 稳定上下文 + 本次检索 + 对话历史 + 工具结果 + 输出 + 重试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17242-75DF-4BDB-AFE0-B7658008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F5F91-8582-4A21-9B59-4BAE8155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  控制输入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02865-5C19-4EF2-A7AA-8BF8174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B4E26F-F057-4956-AF4A-295FBF7B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写清目标、范围、验收和禁止项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6B8CA-CB1B-47C0-BD5A-57975418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20D1A-DD3A-4F4E-852F-970D494C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只附相关文件/章节，先定位再展开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F8FAA-7890-4CF1-A629-299E311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B9FDB9-F4BB-4D00-A9A9-75B3930C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  分层规则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1D2FB-2E9F-4C57-ADE2-96736469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80800-D233-4270-BFEC-FAA2B174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根AGENTS.md保留全局约束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249C9-E315-4C02-9669-791E3D26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C3539-314A-444B-9894-EEB0E09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子目录规则就近生效，避免全仓注入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BE79B2-802B-4A4C-A51F-F47AB77E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DA994D-FE28-445D-B8F5-39E2A363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  检索替代粘贴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505FB7-1B6A-426E-A7E3-11ABFFF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427266-4371-41BF-95F7-6586965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用Codebase/Repo Wiki召回Top-K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85AB1-D503-460F-B185-9FFE2D62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A1112-5769-4203-8F70-F0641406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输出带引用，发现缺口再二次检索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88243-09E9-4FAC-BA15-1491616C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3241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B486C7-B6A6-40CE-B04F-4F6529A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  复用稳定前缀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86BF4-697D-446E-9957-2690CB2A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943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50175B-8F94-4775-960B-A1CCBF66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765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固定系统提示、工具定义和规则顺序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97D43-DB45-473E-9AAC-887824E6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DA48DE-3B6A-4529-B189-A9C6F40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利用Prompt Cache，避免轻微改写失效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BFE61-56AC-4256-85F3-81948A8A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6E527-18EA-49CC-ABA4-C547598A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  控制工具结果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5C2AAC-46D2-4D3A-8705-CF6DCAD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09A75-FF70-492B-ABD2-47089C6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日志先过滤、分页、聚合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96C7C9-8BD4-454B-B43D-EF07B272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6FB552-E429-45CD-86FF-17D2AE0B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截图/DOM/Trace只在需要时展开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62BA12-8FBB-424F-91A7-F8BD684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AC9347-4F30-49BA-A876-01E7BE6F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  模型与模式分级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85B431-B0A0-4D7C-9F3C-B145A6E5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DC17F7-BE50-4BDD-A29E-53DAAA0F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小模型做搜索、分类、格式化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3DC485-4C22-44FD-8C80-A554E70F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A8879-456C-48B7-B5E8-96273498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高推理/多Agent只用于高价值复杂任务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72FC83-85B0-473C-87E9-267BD389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2BF658-C193-446F-AC4A-1550FCD6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  缩短会话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AC426B-4FC2-4844-BB0D-48E49B4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9EC64F-762A-4471-9528-F119CBA5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阶段结束写摘要/Artifact后新开任务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C77BD7-9169-459C-9619-2C86B1E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9FDF11-2FD6-4552-86B5-FF518D4A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长任务使用Compaction，保留决策与证据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4C0955-DED8-4688-A7CE-9550D0FF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4FE543-E436-4D60-8D3F-4A80A554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  降低重试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BBF841-B023-43C0-90D5-CAF84E02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619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D25047-A8F0-4454-A019-3744FEE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52950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先跑最小验证，再扩大修改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C49800-A3FC-49D6-930F-5720B65E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2EFF9BD-3E17-4A25-8BC9-33D74282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62525"/>
            <a:ext cx="2076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失败必须读取错误根因，禁止盲目重复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489300-A624-4C57-BBE5-B6A78B64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6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07A5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CE1EB7-C6CF-416F-ABC9-14E336C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38825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07A52"/>
                </a:solidFill>
                <a:latin typeface="Microsoft YaHei"/>
                <a:ea typeface="Microsoft YaHei"/>
                <a:cs typeface="Microsoft YaHei"/>
              </a:rPr>
              <a:t>团队度量：每个成功任务的输入Token、输出Token、缓存命中率、工具结果量、重试次数和人工复核时间。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E8BC22-A4E2-4022-B98C-A001D8F9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D048E7-A795-4E0F-A210-09F29FE4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e762d3cdbb446f"/>
              </a:rPr>
              <a:t>Codex节省用量建议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9b96d31b2740b4"/>
              </a:rPr>
              <a:t> · OpenAI Prompt Caching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3474aa647d4c33"/>
              </a:rPr>
              <a:t> · Qoder Context Compression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b556f7483a4cf5"/>
              </a:rPr>
              <a:t> · Anthropic Prompt Caching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EC3213-5649-4087-9E70-2C0453D7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12876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FEE04B-2659-46DF-9363-AD8606A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6F584-8FB1-48E4-958F-597F1606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  Agentic Loop 工作原理总结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E7F7C-C3EF-4FA3-94FF-4884F119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1104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Agentic Loop把模型推理转化为可执行、可观察、可收敛的工程循环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48769-48DE-4FCA-850D-0A6B9D8B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23975"/>
            <a:ext cx="5467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82be78f5f4906"/>
          <a:stretch xmlns:a="http://schemas.openxmlformats.org/drawingml/2006/main"/>
        </p:blipFill>
        <p:spPr>
          <a:xfrm xmlns:a="http://schemas.openxmlformats.org/drawingml/2006/main">
            <a:off x="722173" y="1390650"/>
            <a:ext cx="5127905" cy="25908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4182-DD13-4A42-B8A4-208210E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239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5A20E-ED47-41C2-9151-94EF5414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763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CFE9F-0885-4CFD-A502-5B56972E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4573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获取上下文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6854F-BF41-43FA-9138-58F83F21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搜索代码、读取文件、项目规则、历史状态与用户补充信息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89DA2-8770-47C2-BBB9-C2FE9D70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1F548-E46B-411F-9AB5-5C4BC226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907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635A4-404F-4867-BD45-AD1A048D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17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B90FB-4A5D-4573-9AC9-083EA13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模型选择工具：修改文件、运行命令、访问Web或调用外部服务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61C7D-77B0-43A3-B690-9866729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52775"/>
            <a:ext cx="523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58DBF-ECF4-4DDD-9436-0E2F5FF7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05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4CE74-B76D-4B5E-B84F-4D1D4F59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861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验证结果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5D75E6-1536-42D6-BF69-FEE0AFEC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895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读取工具观察值，以测试、构建、Diff和验收条件判断下一步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F1DA4-1A34-4CA9-8F86-8E2E24BF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11068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9525">
            <a:solidFill>
              <a:srgbClr val="315A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3F75C-A951-496F-9983-641424CD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123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A7D"/>
                </a:solidFill>
                <a:latin typeface="Microsoft YaHei"/>
                <a:ea typeface="Microsoft YaHei"/>
                <a:cs typeface="Microsoft YaHei"/>
              </a:rPr>
              <a:t>循环状态机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7493A-BF16-4E4C-92CD-2782935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239A8-D0EA-4720-926E-BFC70BD6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715F0-1072-4D67-BCFE-0A128417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8CD3BC-BC2B-4C60-A7D3-33B75C2F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480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4285E1-5A9C-458C-999F-45392A3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9D6AFE-CD1A-43F2-A630-CC5C4884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2CE04-6D02-425C-9EC0-C592568C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8A3D15-2765-41F8-9C47-AA90BE70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5339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311C2C-9348-40C6-9C9D-8DDF8D4B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2A636-A28B-42AB-92BF-42E802EE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76B1D6-7CC5-4711-BEB4-B6AE20D3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D25034-81D8-46E6-872C-E102A558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1977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01506-C65C-4FC3-A688-4F70B152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5049A8-33FF-440B-AD7F-2B84E7F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工具调用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A36FB-3F5B-43DD-AB8D-8CA665BD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94FF7-39EF-48A1-863C-F7604C8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E478A9-E42D-466E-A1F6-B26F4273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5A0AB7-105C-44C5-9D56-CD3D686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4689CC-3A26-471E-B69F-337EA522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646FE5-1D1A-4E5C-8A1E-F160E59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391525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656ECA-FEAE-4005-B31C-F24D0C03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AD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B3AE6E-BDAE-469C-BFE7-0884AB2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202124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97F5B5-A5A2-4203-98D2-5545E89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577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F90FDA-809F-400C-9853-D9E905A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677400" y="4591050"/>
            <a:ext cx="123825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858A91"/>
          </a:solidFill>
          <a:ln xmlns:a="http://schemas.openxmlformats.org/drawingml/2006/main" w="0">
            <a:solidFill>
              <a:srgbClr val="858A9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F4AC52-5F0A-4952-89B6-0A5C5463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95800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6DA299-D2CE-4D0B-BC4F-980E11F1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53390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继续 / 结束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2B1B03-1E82-4708-AABD-7B71B9C1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1490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观察结果会更新上下文并触发重新规划；用户可随时中断、补充上下文或改变方向。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959EF-814E-4DBD-97D3-545E74C2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14CFA7-543F-452C-A3CC-6B94256B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定义可验证停止条件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E410E1-F7BC-4CDD-98EA-42ECB764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25E24D-9D11-40F1-9E58-552A2E28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在外层编排多个Loop/阶段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4B85D0-E88B-4A2A-8392-AF5A4556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4292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Subagent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5F529C-C4D5-4794-9370-8F6B5463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42925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形成嵌套且隔离的子Loop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115F8A-6444-46E7-AE5E-25E149C8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Skills / MCP / Hooks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4A9D34-D809-4BDF-8387-330C4CEA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扩展决策、工具和生命周期动作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1BF1FA-DFE4-4894-AF72-E20C0ACF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Memory / Rules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2696E7-441E-4CBD-A06A-3832615E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提供跨轮次稳定上下文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C5D726-2EB6-43DD-974A-C23D7BEF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8197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Sandbox / Review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E4FF05-E9BB-49E5-85C1-1C70D4B8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819775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限制动作并形成质量闸门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3E28380-76B0-4DD4-8743-1E5CF41E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91275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ADF"/>
          </a:solidFill>
          <a:ln xmlns:a="http://schemas.openxmlformats.org/drawingml/2006/main" w="0">
            <a:solidFill>
              <a:srgbClr val="D7DAD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EDA0E7-4B7F-423F-8DE3-87392701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>
                <a:solidFill>
                  <a:srgbClr val="858A91"/>
                </a:solidFill>
                <a:latin typeface="Microsoft YaHei"/>
                <a:ea typeface="Microsoft YaHei"/>
                <a:cs typeface="Microsoft YaHei"/>
              </a:rPr>
              <a:t>官网资料复核：2026-07-23  |  来源：</a:t>
            </a:r>
            <a:r>
              <a:rPr sz="713" u="sng">
                <a:solidFill>
                  <a:srgbClr val="858A91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cc1b58e9e14b2b"/>
              </a:rPr>
              <a:t>智谱：Coding Agent工作原理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9A594E-134F-4733-A235-286029F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63506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2026-07-23T03:12:49.4190000Z</dcterms:created>
  <dcterms:modified xsi:type="dcterms:W3CDTF">2026-07-23T03:12:49.4190000Z</dcterms:modified>
</coreProperties>
</file>