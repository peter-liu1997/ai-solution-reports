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bin" ContentType="image/webp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dbedb47d674bba" /><Relationship Type="http://schemas.openxmlformats.org/officeDocument/2006/relationships/extended-properties" Target="/docProps/app.xml" Id="Rb1bd4eec83244cbc" /><Relationship Type="http://schemas.openxmlformats.org/officeDocument/2006/relationships/officeDocument" Target="/ppt/presentation.xml" Id="R227fddcf90b14d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a23630c06754ebe"/>
  </p:sldMasterIdLst>
  <p:notesMasterIdLst>
    <p:notesMasterId xmlns:r="http://schemas.openxmlformats.org/officeDocument/2006/relationships" r:id="Rf43809ea6b44464d"/>
  </p:notesMasterIdLst>
  <p:sldIdLst>
    <p:sldId xmlns:r="http://schemas.openxmlformats.org/officeDocument/2006/relationships" id="256" r:id="R336b0cb620724cf2"/>
    <p:sldId xmlns:r="http://schemas.openxmlformats.org/officeDocument/2006/relationships" id="257" r:id="R408a863e46a54d55"/>
    <p:sldId xmlns:r="http://schemas.openxmlformats.org/officeDocument/2006/relationships" id="258" r:id="R7ea96c79c406467f"/>
    <p:sldId xmlns:r="http://schemas.openxmlformats.org/officeDocument/2006/relationships" id="259" r:id="R16a4f327879c4433"/>
    <p:sldId xmlns:r="http://schemas.openxmlformats.org/officeDocument/2006/relationships" id="260" r:id="Rdbce419d87d543d5"/>
    <p:sldId xmlns:r="http://schemas.openxmlformats.org/officeDocument/2006/relationships" id="261" r:id="R29e77eac3c424975"/>
    <p:sldId xmlns:r="http://schemas.openxmlformats.org/officeDocument/2006/relationships" id="262" r:id="R26f48b4db2374538"/>
    <p:sldId xmlns:r="http://schemas.openxmlformats.org/officeDocument/2006/relationships" id="263" r:id="R8503736dd2b44750"/>
    <p:sldId xmlns:r="http://schemas.openxmlformats.org/officeDocument/2006/relationships" id="264" r:id="Rfed0c385185f47c4"/>
    <p:sldId xmlns:r="http://schemas.openxmlformats.org/officeDocument/2006/relationships" id="265" r:id="Rab62c11323554236"/>
    <p:sldId xmlns:r="http://schemas.openxmlformats.org/officeDocument/2006/relationships" id="266" r:id="R266c301f931a4fa0"/>
    <p:sldId xmlns:r="http://schemas.openxmlformats.org/officeDocument/2006/relationships" id="267" r:id="R78b108d0dde547ba"/>
    <p:sldId xmlns:r="http://schemas.openxmlformats.org/officeDocument/2006/relationships" id="268" r:id="Rc0ff2cceb789404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2883d2ca00743ec" /><Relationship Type="http://schemas.openxmlformats.org/officeDocument/2006/relationships/slideMaster" Target="/ppt/slideMasters/slideMaster1.xml" Id="R6a23630c06754ebe" /><Relationship Type="http://schemas.openxmlformats.org/officeDocument/2006/relationships/notesMaster" Target="/ppt/notesMasters/notesMaster1.xml" Id="Rf43809ea6b44464d" /><Relationship Type="http://schemas.openxmlformats.org/officeDocument/2006/relationships/presProps" Target="/ppt/presProps.xml" Id="R629412f0f17e497d" /><Relationship Type="http://schemas.openxmlformats.org/officeDocument/2006/relationships/tableStyles" Target="/ppt/tableStyles.xml" Id="R7abcc5291f1e426b" /><Relationship Type="http://schemas.openxmlformats.org/officeDocument/2006/relationships/slide" Target="/ppt/slides/slide1.xml" Id="R336b0cb620724cf2" /><Relationship Type="http://schemas.openxmlformats.org/officeDocument/2006/relationships/slide" Target="/ppt/slides/slide2.xml" Id="R408a863e46a54d55" /><Relationship Type="http://schemas.openxmlformats.org/officeDocument/2006/relationships/slide" Target="/ppt/slides/slide3.xml" Id="R7ea96c79c406467f" /><Relationship Type="http://schemas.openxmlformats.org/officeDocument/2006/relationships/slide" Target="/ppt/slides/slide4.xml" Id="R16a4f327879c4433" /><Relationship Type="http://schemas.openxmlformats.org/officeDocument/2006/relationships/slide" Target="/ppt/slides/slide5.xml" Id="Rdbce419d87d543d5" /><Relationship Type="http://schemas.openxmlformats.org/officeDocument/2006/relationships/slide" Target="/ppt/slides/slide6.xml" Id="R29e77eac3c424975" /><Relationship Type="http://schemas.openxmlformats.org/officeDocument/2006/relationships/slide" Target="/ppt/slides/slide7.xml" Id="R26f48b4db2374538" /><Relationship Type="http://schemas.openxmlformats.org/officeDocument/2006/relationships/slide" Target="/ppt/slides/slide8.xml" Id="R8503736dd2b44750" /><Relationship Type="http://schemas.openxmlformats.org/officeDocument/2006/relationships/slide" Target="/ppt/slides/slide9.xml" Id="Rfed0c385185f47c4" /><Relationship Type="http://schemas.openxmlformats.org/officeDocument/2006/relationships/slide" Target="/ppt/slides/slide10.xml" Id="Rab62c11323554236" /><Relationship Type="http://schemas.openxmlformats.org/officeDocument/2006/relationships/slide" Target="/ppt/slides/slide11.xml" Id="R266c301f931a4fa0" /><Relationship Type="http://schemas.openxmlformats.org/officeDocument/2006/relationships/slide" Target="/ppt/slides/slide12.xml" Id="R78b108d0dde547ba" /><Relationship Type="http://schemas.openxmlformats.org/officeDocument/2006/relationships/slide" Target="/ppt/slides/slide13.xml" Id="Rc0ff2cceb789404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f7532a8390641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537457934104ead" /><Relationship Type="http://schemas.openxmlformats.org/officeDocument/2006/relationships/notesMaster" Target="/ppt/notesMasters/notesMaster1.xml" Id="Rd79ab48bd26e474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a2c0fbcda60403d" /><Relationship Type="http://schemas.openxmlformats.org/officeDocument/2006/relationships/notesMaster" Target="/ppt/notesMasters/notesMaster1.xml" Id="R270c09cac79648b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801c6bbaa4941a2" /><Relationship Type="http://schemas.openxmlformats.org/officeDocument/2006/relationships/notesMaster" Target="/ppt/notesMasters/notesMaster1.xml" Id="Rc181935841434d4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bd815b4e9584741" /><Relationship Type="http://schemas.openxmlformats.org/officeDocument/2006/relationships/notesMaster" Target="/ppt/notesMasters/notesMaster1.xml" Id="R4901568be1f7493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ea7ccff3c634ae1" /><Relationship Type="http://schemas.openxmlformats.org/officeDocument/2006/relationships/notesMaster" Target="/ppt/notesMasters/notesMaster1.xml" Id="Rcc0aa716210b4e8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04bf09f89e14470" /><Relationship Type="http://schemas.openxmlformats.org/officeDocument/2006/relationships/notesMaster" Target="/ppt/notesMasters/notesMaster1.xml" Id="Rba20ff10231047a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5d0480b247e4893" /><Relationship Type="http://schemas.openxmlformats.org/officeDocument/2006/relationships/notesMaster" Target="/ppt/notesMasters/notesMaster1.xml" Id="R91e18c6eac5542a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f85f5afb4af4f62" /><Relationship Type="http://schemas.openxmlformats.org/officeDocument/2006/relationships/notesMaster" Target="/ppt/notesMasters/notesMaster1.xml" Id="R55fb66515f37497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e77582597cc48a4" /><Relationship Type="http://schemas.openxmlformats.org/officeDocument/2006/relationships/notesMaster" Target="/ppt/notesMasters/notesMaster1.xml" Id="Rb14b9004b7c6455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dec552e6286402a" /><Relationship Type="http://schemas.openxmlformats.org/officeDocument/2006/relationships/notesMaster" Target="/ppt/notesMasters/notesMaster1.xml" Id="Re0b93552a6204bb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637f103217d4086" /><Relationship Type="http://schemas.openxmlformats.org/officeDocument/2006/relationships/notesMaster" Target="/ppt/notesMasters/notesMaster1.xml" Id="R96d9240cb2204f4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bf656d04ab04c15" /><Relationship Type="http://schemas.openxmlformats.org/officeDocument/2006/relationships/notesMaster" Target="/ppt/notesMasters/notesMaster1.xml" Id="R4eab3efe8d3a452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01b2a4fb2e6496e" /><Relationship Type="http://schemas.openxmlformats.org/officeDocument/2006/relationships/notesMaster" Target="/ppt/notesMasters/notesMaster1.xml" Id="Ra515b18a72014bd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42637b5b764c3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00a141f7f0c4fe9" /><Relationship Type="http://schemas.openxmlformats.org/officeDocument/2006/relationships/slideLayout" Target="/ppt/slideLayouts/slideLayout1.xml" Id="R2729bc99a72d42d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729bc99a72d42d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bce0657188481e" /><Relationship Type="http://schemas.openxmlformats.org/officeDocument/2006/relationships/hyperlink" Target="https://support.huaweicloud.com/productdesc-codeartssnap/codeartsdoer_pd_0001.html" TargetMode="External" Id="R923d0b7618b44251" /><Relationship Type="http://schemas.openxmlformats.org/officeDocument/2006/relationships/hyperlink" Target="https://code.claude.com/docs/en/overview" TargetMode="External" Id="Rf4fc05854fad41ef" /><Relationship Type="http://schemas.openxmlformats.org/officeDocument/2006/relationships/hyperlink" Target="https://docs.qoder.com/" TargetMode="External" Id="Re3c6d954fbe1489e" /><Relationship Type="http://schemas.openxmlformats.org/officeDocument/2006/relationships/hyperlink" Target="https://learn.chatgpt.com/docs" TargetMode="External" Id="R4e054e015eca43b4" /><Relationship Type="http://schemas.openxmlformats.org/officeDocument/2006/relationships/notesSlide" Target="/ppt/notesSlides/notesSlide1.xml" Id="Re572b0ccef0a404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c001366b6a4630" /><Relationship Type="http://schemas.openxmlformats.org/officeDocument/2006/relationships/hyperlink" Target="https://codearts.huaweicloud.com/pricing.html" TargetMode="External" Id="R3ed4d98802634822" /><Relationship Type="http://schemas.openxmlformats.org/officeDocument/2006/relationships/hyperlink" Target="https://support.claude.com/en/articles/11049762-choose-a-claude-plan" TargetMode="External" Id="R2c45325f2bba4b34" /><Relationship Type="http://schemas.openxmlformats.org/officeDocument/2006/relationships/hyperlink" Target="https://docs.qoder.com/account/pricing" TargetMode="External" Id="R3331f433fc3340cb" /><Relationship Type="http://schemas.openxmlformats.org/officeDocument/2006/relationships/hyperlink" Target="https://learn.chatgpt.com/docs/pricing" TargetMode="External" Id="Read07abbf35b4282" /><Relationship Type="http://schemas.openxmlformats.org/officeDocument/2006/relationships/notesSlide" Target="/ppt/notesSlides/notesSlide2.xml" Id="R78c4de7b43034f9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6d42cd827b4908" /><Relationship Type="http://schemas.openxmlformats.org/officeDocument/2006/relationships/hyperlink" Target="https://codearts.huaweicloud.com/pricing.html" TargetMode="External" Id="R00824e1e6bc04752" /><Relationship Type="http://schemas.openxmlformats.org/officeDocument/2006/relationships/hyperlink" Target="https://docs.qoder.com/account/pricing" TargetMode="External" Id="Rf8b2b5979ce74ce9" /><Relationship Type="http://schemas.openxmlformats.org/officeDocument/2006/relationships/hyperlink" Target="https://cursor.com/pricing" TargetMode="External" Id="Ra548bac58da14dfc" /><Relationship Type="http://schemas.openxmlformats.org/officeDocument/2006/relationships/hyperlink" Target="https://www.trae.ai/pricing" TargetMode="External" Id="R57b9adbae8fb49ec" /><Relationship Type="http://schemas.openxmlformats.org/officeDocument/2006/relationships/notesSlide" Target="/ppt/notesSlides/notesSlide3.xml" Id="R0bd62bc12dc8481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f42c5f5f404ce9" /><Relationship Type="http://schemas.openxmlformats.org/officeDocument/2006/relationships/image" Target="/ppt/media/image.jpeg" Id="R720ddaea5aa34a54" /><Relationship Type="http://schemas.openxmlformats.org/officeDocument/2006/relationships/hyperlink" Target="https://docs.qoder.com/account/enterprise/knowledge-base" TargetMode="External" Id="Rc25b586ef97840ed" /><Relationship Type="http://schemas.openxmlformats.org/officeDocument/2006/relationships/hyperlink" Target="https://qoder.com/blog/qoder-llm?type=%E6%8A%80%E6%9C%AF" TargetMode="External" Id="R6ae4a8187b4d49f3" /><Relationship Type="http://schemas.openxmlformats.org/officeDocument/2006/relationships/hyperlink" Target="https://support.huaweicloud.com/usermanual-codeartssnap/codeartsagent_ug_0001.html" TargetMode="External" Id="R9950d115e094420f" /><Relationship Type="http://schemas.openxmlformats.org/officeDocument/2006/relationships/notesSlide" Target="/ppt/notesSlides/notesSlide4.xml" Id="Rb49eb36f852b438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948ad73f054d4a" /><Relationship Type="http://schemas.openxmlformats.org/officeDocument/2006/relationships/image" Target="/ppt/media/image.bin" Id="Rd7481fbacf644ceb" /><Relationship Type="http://schemas.openxmlformats.org/officeDocument/2006/relationships/hyperlink" Target="https://qoder.com/blog/qoder-v1-mega-rewrite" TargetMode="External" Id="R4c5621dd36d34240" /><Relationship Type="http://schemas.openxmlformats.org/officeDocument/2006/relationships/hyperlink" Target="https://docs.qoder.com/user-guide/quest/execution-environments" TargetMode="External" Id="Rfdbdc11a3326432a" /><Relationship Type="http://schemas.openxmlformats.org/officeDocument/2006/relationships/notesSlide" Target="/ppt/notesSlides/notesSlide5.xml" Id="R4c8c110812ff4d1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af61bbdcc1490a" /><Relationship Type="http://schemas.openxmlformats.org/officeDocument/2006/relationships/hyperlink" Target="https://support.huaweicloud.com/usermanual-codeartssnap/codeartsagent_ug_0001.html" TargetMode="External" Id="Rbc0fb5ce7a0e4ae7" /><Relationship Type="http://schemas.openxmlformats.org/officeDocument/2006/relationships/hyperlink" Target="https://docs.qoder.com/user-guide/indexing" TargetMode="External" Id="R239c9cb91ba14d26" /><Relationship Type="http://schemas.openxmlformats.org/officeDocument/2006/relationships/hyperlink" Target="https://docs.qoder.com/user-guide/repo-wiki" TargetMode="External" Id="R171d9fcba5534f19" /><Relationship Type="http://schemas.openxmlformats.org/officeDocument/2006/relationships/hyperlink" Target="https://docs.qoder.com/account/enterprise/qmind" TargetMode="External" Id="R67245149f3744f2a" /><Relationship Type="http://schemas.openxmlformats.org/officeDocument/2006/relationships/notesSlide" Target="/ppt/notesSlides/notesSlide6.xml" Id="R4b0f99b6d94c483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8a867fdb1b4bc7" /><Relationship Type="http://schemas.openxmlformats.org/officeDocument/2006/relationships/hyperlink" Target="https://code.claude.com/docs/en/workflows" TargetMode="External" Id="R72b997ab582b42e3" /><Relationship Type="http://schemas.openxmlformats.org/officeDocument/2006/relationships/hyperlink" Target="https://code.claude.com/docs/en/goal" TargetMode="External" Id="R6741fa74f51d4662" /><Relationship Type="http://schemas.openxmlformats.org/officeDocument/2006/relationships/hyperlink" Target="https://docs.qoder.com/user-guide/quest/spec-driven" TargetMode="External" Id="R474b7f23bc034fcd" /><Relationship Type="http://schemas.openxmlformats.org/officeDocument/2006/relationships/hyperlink" Target="https://docs.trae.ai/ide/solo-mode" TargetMode="External" Id="Rbf523811c13346eb" /><Relationship Type="http://schemas.openxmlformats.org/officeDocument/2006/relationships/notesSlide" Target="/ppt/notesSlides/notesSlide7.xml" Id="R110e29216f934d2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00896e2fb9482d" /><Relationship Type="http://schemas.openxmlformats.org/officeDocument/2006/relationships/hyperlink" Target="https://code.claude.com/docs/en/agent-teams" TargetMode="External" Id="R314d50f393854577" /><Relationship Type="http://schemas.openxmlformats.org/officeDocument/2006/relationships/hyperlink" Target="https://code.claude.com/docs/en/workflows" TargetMode="External" Id="R5abf7367b743496d" /><Relationship Type="http://schemas.openxmlformats.org/officeDocument/2006/relationships/hyperlink" Target="https://docs.qoder.com/user-guide/quest/overview" TargetMode="External" Id="Rf5f31e173ce14a79" /><Relationship Type="http://schemas.openxmlformats.org/officeDocument/2006/relationships/hyperlink" Target="https://support.huaweicloud.com/usermanual-codeartssnap/codeartsagent_ug_0052.html" TargetMode="External" Id="R1964167e70e44940" /><Relationship Type="http://schemas.openxmlformats.org/officeDocument/2006/relationships/notesSlide" Target="/ppt/notesSlides/notesSlide8.xml" Id="R7e705a426f30459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84be7d8ce148c7" /><Relationship Type="http://schemas.openxmlformats.org/officeDocument/2006/relationships/image" Target="/ppt/media/image.png" Id="Ra5b3e5e3cb264d9e" /><Relationship Type="http://schemas.openxmlformats.org/officeDocument/2006/relationships/hyperlink" Target="https://docs.trae.ai/ide/figma-to-code" TargetMode="External" Id="R2acd6414b8724566" /><Relationship Type="http://schemas.openxmlformats.org/officeDocument/2006/relationships/hyperlink" Target="https://help.figma.com/hc/en-us/categories/14559151746583-Dev-Mode" TargetMode="External" Id="R7bb482f97e134867" /><Relationship Type="http://schemas.openxmlformats.org/officeDocument/2006/relationships/notesSlide" Target="/ppt/notesSlides/notesSlide9.xml" Id="R4777c1d51dcd48b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05a2a13afd4dce" /><Relationship Type="http://schemas.openxmlformats.org/officeDocument/2006/relationships/hyperlink" Target="https://learn.chatgpt.com/docs/browser" TargetMode="External" Id="R1b0ad4c3db244aea" /><Relationship Type="http://schemas.openxmlformats.org/officeDocument/2006/relationships/hyperlink" Target="https://docs.trae.ai/ide/browser-and-preview" TargetMode="External" Id="R7b4d31ab5cbc49d5" /><Relationship Type="http://schemas.openxmlformats.org/officeDocument/2006/relationships/hyperlink" Target="https://playwright.dev/docs/best-practices" TargetMode="External" Id="Rec1453f29d524248" /><Relationship Type="http://schemas.openxmlformats.org/officeDocument/2006/relationships/notesSlide" Target="/ppt/notesSlides/notesSlide10.xml" Id="R82d8900b2c4f4c9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b7cfa1214c4655" /><Relationship Type="http://schemas.openxmlformats.org/officeDocument/2006/relationships/hyperlink" Target="https://github.com/obra/superpowers" TargetMode="External" Id="R5285020cd84049d7" /><Relationship Type="http://schemas.openxmlformats.org/officeDocument/2006/relationships/notesSlide" Target="/ppt/notesSlides/notesSlide11.xml" Id="R18ea1a7eafcd471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d1c715b75e44ab" /><Relationship Type="http://schemas.openxmlformats.org/officeDocument/2006/relationships/hyperlink" Target="https://github.com/Fission-AI/OpenSpec" TargetMode="External" Id="Rec1697c041174d78" /><Relationship Type="http://schemas.openxmlformats.org/officeDocument/2006/relationships/notesSlide" Target="/ppt/notesSlides/notesSlide12.xml" Id="R552e2cb8859e438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ec53b87dd84ac9" /><Relationship Type="http://schemas.openxmlformats.org/officeDocument/2006/relationships/hyperlink" Target="https://learn.chatgpt.com/docs/pricing" TargetMode="External" Id="R1b736a384806450c" /><Relationship Type="http://schemas.openxmlformats.org/officeDocument/2006/relationships/hyperlink" Target="https://platform.openai.com/docs/guides/prompt-caching" TargetMode="External" Id="Rfaf329c8e4f44687" /><Relationship Type="http://schemas.openxmlformats.org/officeDocument/2006/relationships/hyperlink" Target="https://docs.qoder.com/user-guide/context-compression" TargetMode="External" Id="R3a704eccaa144277" /><Relationship Type="http://schemas.openxmlformats.org/officeDocument/2006/relationships/hyperlink" Target="https://docs.anthropic.com/en/docs/build-with-claude/prompt-caching" TargetMode="External" Id="R189c06b91b1a4c37" /><Relationship Type="http://schemas.openxmlformats.org/officeDocument/2006/relationships/notesSlide" Target="/ppt/notesSlides/notesSlide13.xml" Id="R39dfc7fee7bb430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6B9FE50-2517-4F95-AD5C-34460073E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76170B-24A3-474B-ACD5-B7FA9C281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01  能力分类总览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6EB23B-2F4D-4867-923E-1D2BB63C4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六类能力共同构成 AI Coding 的工程闭环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706D9A-4A2A-491D-A4A8-F8EFA63E4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66850"/>
            <a:ext cx="33337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76BF28-665C-4AB9-B725-75081080E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352F34-D216-45AE-825D-CE08AAFE2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002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上下文与知识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ADFD8E-1643-4C79-B7DE-CDE3A7684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299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Codebase · CodeWiki · 知识引擎 · 规则/记忆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A5F3B6-25FF-4E0D-BFB8-767A61465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读懂仓库、业务和团队约束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BF0AD3-5FE6-4C59-9AAE-F90D2E4F0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466850"/>
            <a:ext cx="33337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90A8E0-A3BE-4DF8-B91A-E5F300F2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619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B90558-E842-469C-BAFB-25579861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6002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任务与编程模式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B7817E-E1D8-40FA-8CBB-77820DC27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47875"/>
            <a:ext cx="299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Workflow · Goal · SDD · Solo · Quest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19D161-591C-4EF1-9089-790D124C4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336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把需求变成可跟踪执行过程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EEC2CE-8A29-4E64-AC89-57BBD7391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466850"/>
            <a:ext cx="33337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847134-21F8-48C4-A996-B5B6B0C50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19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72D3C9-E2B4-4E93-AD84-F6EB51DC6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002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工具与交互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87F39D-7984-43D0-91AB-734D478A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47875"/>
            <a:ext cx="299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CLI · MCP · Hooks · Browser · Figma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1C6C38-83C5-4CEB-9DAB-1FD986719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336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连接终端、浏览器和外部系统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4735CE-FB68-454D-A6EE-6E1FA4AE6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71850"/>
            <a:ext cx="33337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61C0AC-17EB-4E9E-8614-6020D3FBE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E816D5-0ADB-4576-981B-92F455FE6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052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Agent协作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CC999B-AFF5-4DEC-8099-714EFBDE4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52875"/>
            <a:ext cx="299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Sub Agent · Agent Team · Worktree · Cloud Agent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A72944-9EC0-4447-9844-700CC0CDE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386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并行分工并隔离上下文与代码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5E7521-765E-4341-A312-F754FB289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371850"/>
            <a:ext cx="33337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1065BA-DA57-4A86-85C5-31779C0E4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524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11831B-A72D-450F-9F22-DF65E7A49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5052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质量与治理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77C3F6-E606-465A-8696-BDD8BB8B1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952875"/>
            <a:ext cx="299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Review · Security · Sandbox · 审计/配置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5D57F5-37FC-49DE-98AD-FC5E39AEA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4386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让结果可验证、风险可追踪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C28110-49DB-4F63-B2B9-AB02763FA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71850"/>
            <a:ext cx="33337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CA76AF-3E0F-4598-B421-A292ABB22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524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5CD58A-FB62-4881-9095-7900E4467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052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体验与交付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357AD9-33A1-4130-B7A3-AAC884F82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52875"/>
            <a:ext cx="299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Artifacts · Canvas · LSP · Debug · Channels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6E437A3-8559-4BFC-9074-0D260D7B4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386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缩短从想法到可运行成果的路径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9A9B53-4B9F-4D9C-908B-BB5281180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57825"/>
            <a:ext cx="10801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判断标准：上下文可靠 → 过程可控 → 结果可审 → 风险可追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257EC12-E41C-4753-B15B-A26519587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91275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solidFill>
              <a:srgbClr val="D7DAD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3AD509C-A683-4B8F-831C-1CD6BBACE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rPr>
              <a:t>官网资料复核：2026-07-23  |  来源：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23d0b7618b44251"/>
              </a:rPr>
              <a:t>码道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4fc05854fad41ef"/>
              </a:rPr>
              <a:t> · Claude Code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3c6d954fbe1489e"/>
              </a:rPr>
              <a:t> · Qoder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e054e015eca43b4"/>
              </a:rPr>
              <a:t> · Codex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A869F7E-E469-455B-99BC-B8BAD19D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182740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C639225-C72C-4873-8163-B3A09AB89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574AAD-C428-45F2-A1DA-C9718D8BD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02  套餐差异总览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17C48C-A222-4F27-BB84-B25707138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套餐升级的本质：从个人用量走向团队资产与企业治理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9F717D-6ABD-41CF-9C37-81BEA3217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66687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000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80FF4C-332D-4AA6-80D0-1361F632A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9700"/>
            <a:ext cx="151447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产品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4E5B74-7F45-4BC8-8DD5-B4DE65CD3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1352550"/>
            <a:ext cx="233362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000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2C629D-07A8-4F5D-BAAC-D33894BCD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1409700"/>
            <a:ext cx="218122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个人主线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563CD6-D563-4903-BA68-665A9EB2D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352550"/>
            <a:ext cx="252412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000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58A83B-A76A-41B5-945B-1D30A7231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409700"/>
            <a:ext cx="237172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团队 / 企业主线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E47277-535A-40CB-96C9-4BC068A8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1352550"/>
            <a:ext cx="454342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000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6063DC-4719-4EDD-8239-4DFABAF16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1409700"/>
            <a:ext cx="439102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升级后获得的关键能力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0787C4-26D8-4106-B530-9EAC0662D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3639"/>
            <a:ext cx="166687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6E56D2-3E5B-4557-8367-AE6205C19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60789"/>
            <a:ext cx="151447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华为云码道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8569BD-57B3-4A77-92F6-7BA48E23C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1903639"/>
            <a:ext cx="233362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9E59E6-AC64-4F61-A0D7-01E04C2C9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1960789"/>
            <a:ext cx="218122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体验版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641034-A9A4-4C31-AA76-6B9D7E3A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03639"/>
            <a:ext cx="252412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15F4FC-CA45-48D0-ABFB-554DAFDBC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960789"/>
            <a:ext cx="237172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基础版 / 专业版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C24D55-CAB7-443D-BE66-68D29B84A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1903639"/>
            <a:ext cx="454342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8DEFE7-6723-4864-B07E-BF15DE9D2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1960789"/>
            <a:ext cx="439102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Token、Codebase容量；专业版增加SSO、日志、模型与用量管理、IP白名单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F2CEC9-ED08-4AB8-B027-A687078D8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54729"/>
            <a:ext cx="166687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3CDCEC-EC95-47CF-BEF4-5A3E2001D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11879"/>
            <a:ext cx="151447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Claude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6D64B3-E049-426E-9DF6-4BACB91B8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2454729"/>
            <a:ext cx="233362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744038-1250-41C0-80FF-FE50CE455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2511879"/>
            <a:ext cx="218122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Free / Pro / Max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D705C8-EE9C-4C6F-B2EE-55B6A95A6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54729"/>
            <a:ext cx="252412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C64661-B765-40C8-910C-D7E565BE3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11879"/>
            <a:ext cx="237172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Team Standard / Premium / Enterprise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B7BE45-8AEB-4EE8-97AA-91E4865E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454729"/>
            <a:ext cx="454342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ADEEDC-EBA6-453E-B392-8CA02259A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511879"/>
            <a:ext cx="439102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成员管理、RBAC、SSO、连接器、Spend Controls与更高用量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E8B859-D0AA-41AE-B1D6-4A8D3D75B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05818"/>
            <a:ext cx="166687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771AB5-C212-4665-B991-51932DE0F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62968"/>
            <a:ext cx="151447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Qoder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88A86A-CCCE-4E51-9390-63C0DB084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3005818"/>
            <a:ext cx="233362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357A4E9-99B5-4620-A52A-5BB667C52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3062968"/>
            <a:ext cx="218122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Free / Pro / Pro+ / Ultra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C906DD-C0B7-4FD2-A1E9-A1FD7C7A3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05818"/>
            <a:ext cx="252412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64BE8A-82B2-45BE-80B9-4F03E6EBA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62968"/>
            <a:ext cx="237172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Teams / Enterprise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56478E0-56DB-497F-BEE9-7631E958E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005818"/>
            <a:ext cx="454342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2633EEF-DBFC-4B61-A307-04F66E4C3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062968"/>
            <a:ext cx="439102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每席Credits或共享池；集中分发、模型路由、内容安全、审计与OpenAPI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5ED7A60-5BAB-47CA-B1E1-0C34F0B84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56907"/>
            <a:ext cx="166687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1086361-B36D-460A-B9B3-C6B84C28C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4057"/>
            <a:ext cx="151447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Codex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E2D0787-4604-4701-B2E6-8C21127AB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3556907"/>
            <a:ext cx="233362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23FC759-1463-45AC-B537-5856E051F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3614057"/>
            <a:ext cx="218122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Free / Go / Plus / Pro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F17BC31-158E-4A1E-A633-A8919D397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556907"/>
            <a:ext cx="252412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1132F74-10FB-4610-AE2A-0D9D6176F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14057"/>
            <a:ext cx="237172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Business / Enterprise / Edu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3FF7E91-1BF8-414B-A13D-D472B122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556907"/>
            <a:ext cx="454342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8DB1660-77D5-4D37-A25C-B06A8C43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614057"/>
            <a:ext cx="439102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安全工作区、更大VM、SAML；再升级到SCIM、EKM、审计与数据驻留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C51B8C7-5370-4C8B-AB35-49E9D407F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07996"/>
            <a:ext cx="166687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091EC29-E9A7-4902-BC00-30C509A59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65146"/>
            <a:ext cx="151447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Cursor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2D66340-C95A-4980-AE3D-88EA13541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4107996"/>
            <a:ext cx="233362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60AEEA3-2D2F-45AC-A019-B68F82E00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4165146"/>
            <a:ext cx="218122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Hobby / Pro / Pro+ / Ultra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D1FF47F-6825-4440-887E-25D935060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107996"/>
            <a:ext cx="252412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B37BE69-6629-48F8-A8AC-9D917F391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165146"/>
            <a:ext cx="237172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Teams / Enterprise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7BF484A-70EE-45B5-BF13-EC276DDBE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107996"/>
            <a:ext cx="454342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8D30A91-570E-41F3-A89B-7D2A05C12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165146"/>
            <a:ext cx="439102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共享上下文、内部Marketplace、Bugbot；企业级访问控制、审计与Pooled Usage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CF20348-D0C9-4E1E-AFE3-8D7FEEE33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59086"/>
            <a:ext cx="166687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BE785C0-4F78-4483-A2B6-7BFF883FD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16236"/>
            <a:ext cx="151447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Trae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84F518F-45C7-4533-A7B9-31C4BD8F5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4659086"/>
            <a:ext cx="233362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1CC8F52-19EF-4C99-820C-F16507D94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4716236"/>
            <a:ext cx="218122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Free / Lite / Pro / Pro+ / Ultra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54EBB17-8789-4FBF-9E24-3C669E357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59086"/>
            <a:ext cx="252412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449C7A9-FC0B-47BF-AB55-0045ADF0D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16236"/>
            <a:ext cx="237172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企业方案需询价确认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BE1AA82-FF29-4613-A3EE-1BDBC218C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659086"/>
            <a:ext cx="454342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12E1443-EACE-4AE5-93AF-A36066307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716236"/>
            <a:ext cx="439102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个人档主要按Basic Usage与Solo并发分层；企业治理细节需单独核验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F13A43F-9FC0-4D1C-886D-C58710461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10200"/>
            <a:ext cx="110680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189EF56-79F8-41CF-A327-C548FEB2A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选型顺序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C80E258-085C-4FFB-BE9E-8D02962C4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10225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先看数据边界和治理要求，再看团队资产复用，最后按重度用户比例配置高额度席位。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2784C16-6536-4CD5-A940-37FFB5107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91275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solidFill>
              <a:srgbClr val="D7DAD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2BB9E58-B71B-42E7-AD62-C1C370392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rPr>
              <a:t>官网资料复核：2026-07-23  |  来源：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ed4d98802634822"/>
              </a:rPr>
              <a:t>码道定价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c45325f2bba4b34"/>
              </a:rPr>
              <a:t> · Claude Plans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331f433fc3340cb"/>
              </a:rPr>
              <a:t> · Qoder Pricing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ad07abbf35b4282"/>
              </a:rPr>
              <a:t> · Codex Pricing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9B0E0FC-23E9-42EB-86F7-11FC224D2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943003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F519E17-DE65-42BF-A475-166865F25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776CDF-4440-4F77-9BDF-28212542D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03  计费对比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2D48B1-5E2D-476F-A521-E7DA6D8DF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Tokens、Credits与Usage Limits不可直接等值横比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6B35E2-E2B7-44A9-948B-3A9C0BFBC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71600"/>
            <a:ext cx="54673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9D7F51-E191-456A-B31C-0FEF3B2D2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华为云码道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C62298-CE43-454F-A9B7-29A2DFBBC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4859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3096AE-8D66-45E6-AAD7-DE770DD92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524000"/>
            <a:ext cx="137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公开Token包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FBF277-A0EF-44AC-BD6B-EE1B41667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57375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¥0 / ¥39 / ¥139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5E037E-4107-4146-9061-F44403AF0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838325"/>
            <a:ext cx="320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500万 / 2000万 / 6000万 Tokens/月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E95711-E786-4372-861C-4FB1C63C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14600"/>
            <a:ext cx="54673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E14A3E-8CDC-4219-AD95-7E7F7B4D0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Claude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5FE487-CA17-49F9-B6CC-1A58BBA8D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6289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DEC2AA-656D-47BA-8459-8BD57A0A1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67000"/>
            <a:ext cx="137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订阅容量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5AF49E-6CEE-477F-A069-084F76964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0375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$20 / $100 / $200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752766-4BCD-48F1-9FD4-4DF8CA7FE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981325"/>
            <a:ext cx="320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Pro；Max约5x / 20x会话容量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B30B40-9A82-41A1-96B7-474BB9DD8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57600"/>
            <a:ext cx="54673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104B4A-3DC5-4594-AA0A-F49C73D7D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909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Qoder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1F50C7-EBD3-4199-84B9-940811DD6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7719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3F1522-A413-49F4-89F5-E12E8C8EE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810000"/>
            <a:ext cx="137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Credits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3CBBE6-E566-4EDE-A0F1-E19B462E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43375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$20 / $60 / $200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E4A576-3CDA-4E8C-9959-CE9DD2D73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124325"/>
            <a:ext cx="320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2,000 / 6,000 / 20,000 Credits/月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110661-0F5D-4D80-AA18-1DFCCB372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371600"/>
            <a:ext cx="54673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4BF487-30B7-48A4-A231-50B0E9762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049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Codex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81D78B-912E-4DCB-9B8B-102522733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14859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5A0EB3-BDEA-4CE1-89DE-FA492B18D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524000"/>
            <a:ext cx="137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订阅+Credits/API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C340E3-EE9F-491F-8598-50D8B1DDC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57375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209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Plus $20；Business $20年付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FAD1A5-6FBE-4F7A-B70C-A2D44407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38325"/>
            <a:ext cx="320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订阅用量限制；API按输入/缓存/输出Token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9E51E2-A1A3-4CA2-8510-ADB4AE0A5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14600"/>
            <a:ext cx="54673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95732D-F6F0-4D42-976B-05E538115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479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Cursor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793738-56B6-497A-8891-AE096DBBB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6289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6EA478-DCE0-4A5F-AC90-3E101A7C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667000"/>
            <a:ext cx="137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含量+按量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385806B-AAE9-4052-AAA7-8653C77BA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00375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$20个人；$40团队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E8FB76B-A469-45B6-A0C4-3CB7F827A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81325"/>
            <a:ext cx="320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套餐含模型用量，超额可On-demand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EFDE0E-07D7-4CDF-A2BB-22B62DF17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57600"/>
            <a:ext cx="54673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4CA8819-5A16-4D97-8636-5550BA890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909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Trae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B78342C-63B8-448A-AB69-1700605B2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7719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E219350-FCDD-418B-BCE2-F9677C961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810000"/>
            <a:ext cx="137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Basic Usage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9F1F50C-B9EB-4BD1-AA3A-42E5F5259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43375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活动与档位动态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480B5D0-14B5-4C7E-AE2A-AF91F7FE1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24325"/>
            <a:ext cx="320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按模型API价格折算Dollar Usage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9A726DB-6BE3-45A2-B90E-0EDF29400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29200"/>
            <a:ext cx="110680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9525">
            <a:solidFill>
              <a:srgbClr val="315A7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31B6D7-63B4-49AF-8521-16159A112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15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15A7D"/>
                </a:solidFill>
                <a:latin typeface="Microsoft YaHei"/>
                <a:ea typeface="Microsoft YaHei"/>
                <a:cs typeface="Microsoft YaHei"/>
              </a:rPr>
              <a:t>建议统一核算单位：每个可验收任务的完全成本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2102F53-BBEA-4A28-B21E-2C5D83ECD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81650"/>
            <a:ext cx="533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席位费 + 超额用量 + 云执行资源 + 人工复核时间 + 失败重试成本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5B38776-5D56-4052-A16A-EB1EE9958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2197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A7D"/>
                </a:solidFill>
                <a:latin typeface="Microsoft YaHei"/>
                <a:ea typeface="Microsoft YaHei"/>
                <a:cs typeface="Microsoft YaHei"/>
              </a:rPr>
              <a:t>试点至少记录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56A0432-7101-4F80-8861-583A95626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581650"/>
            <a:ext cx="4286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成功任务数 · 平均Tokens/Credits · 重试率 · 人工复核分钟数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ACDBE11-FE8D-4796-9FEA-24CF1B2ED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91275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solidFill>
              <a:srgbClr val="D7DAD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A44DF32-D296-4B13-AC2C-D53D9847F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rPr>
              <a:t>官网资料复核：2026-07-23  |  来源：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0824e1e6bc04752"/>
              </a:rPr>
              <a:t>码道定价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8b2b5979ce74ce9"/>
              </a:rPr>
              <a:t> · Qoder Pricing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548bac58da14dfc"/>
              </a:rPr>
              <a:t> · Cursor Pricing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7b9adbae8fb49ec"/>
              </a:rPr>
              <a:t> · Trae Pricing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B40ED86-47CC-451B-AFEC-781E3488C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279347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E2B69C6-CC67-43C2-841E-2B163AAFF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FE6BD7-C817-4B40-BFA0-F7EB037AC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04  知识引擎的实践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FB6138-A8C7-4DA7-B18C-F7B9E98C0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知识引擎让 Agent 从“每次重读”变成“持续积累与按需召回”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607D2D-2A42-4AE7-9537-721516202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4810125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0ddaea5aa34a54"/>
          <a:stretch xmlns:a="http://schemas.openxmlformats.org/drawingml/2006/main"/>
        </p:blipFill>
        <p:spPr>
          <a:xfrm xmlns:a="http://schemas.openxmlformats.org/drawingml/2006/main">
            <a:off x="619125" y="2069012"/>
            <a:ext cx="4676775" cy="13102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1DAE70-E14E-4A6B-B461-8CE1998B5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428750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324223-99AC-48C9-AD69-9ED7C29A5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40017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采集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5C30EC-9EFD-4B30-B751-43BFD62AE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4097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代码、文档、提交、任务与人工知识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9F2269-CF7C-436B-9E9D-959EFC3EC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876425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solidFill>
              <a:srgbClr val="D7DAD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74C27E-D054-4FB0-BEC3-C3786EC28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295525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C5F365-0C38-4373-8593-86F1282D2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2669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结构化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581756-33C5-4EBD-B738-6CFC28219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276475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解析符号/依赖/业务实体，生成可引用知识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7F7101-7920-47A7-AD8E-C0782CEB8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74320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solidFill>
              <a:srgbClr val="D7DA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38B8D8-F90B-4B1A-B1B1-08DAB157B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162300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E3C1D0-BE99-4D21-92F4-BE76D4047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1337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索引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AB36BB-2413-43F6-AC52-E2552F5F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1432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关键词 + 向量 + 图关系，支持增量更新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7BC553-EAE0-45F2-8EA1-6CD38FD8B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609975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solidFill>
              <a:srgbClr val="D7DA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98FF41-989A-4593-8553-A97086DF1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029075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99C4A5-AF87-455E-AE8E-75068194D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0005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检索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B3C566-1700-48F9-A132-B5AF4527C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010025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按任务、文件、角色和权限选择上下文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1F8126-9D9B-486E-A394-7BA89AFAF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4767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solidFill>
              <a:srgbClr val="D7DAD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8EEAE8-7CA5-45BE-893A-CA31E296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895850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3A2992-5A93-4A72-AD72-CF500BD4D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86727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反馈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CAE4ED-F46E-48EF-BF66-117F2BAC4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8768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把验证结果、修正与新知识写回资产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10CC75-9116-48CF-9379-7039CBAEC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33875"/>
            <a:ext cx="4810125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98E724-4CD7-4B70-8DD0-45FCBEAD2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529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实践闭环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8E5E80-0CCE-4D54-B45E-1C9AAF7A7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01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D2A6A9-04FA-4FCF-B04E-7D7D5CB73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43475"/>
            <a:ext cx="411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冷启动先生成Repo Wiki/知识卡，再由负责人校准关键领域。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516CC1-C7A2-4888-92B5-531E8C79E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77F211-78F2-4165-B1F8-5D1E78E44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67325"/>
            <a:ext cx="411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任务只召回相关片段，输出必须保留文件、符号和版本依据。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59B041-30CE-48C1-BD09-90DB9B217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578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B7D663-0C03-4320-A32B-A942ACC6D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91175"/>
            <a:ext cx="411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用命中率、过期率、采纳率和任务成功率评估，而非只看索引规模。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EA1E0E6-A306-4BEB-87CF-5CC93A019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91275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solidFill>
              <a:srgbClr val="D7DAD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D096F27-9BA1-4FF5-B1B8-9C72DFB25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rPr>
              <a:t>官网资料复核：2026-07-23  |  来源：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25b586ef97840ed"/>
              </a:rPr>
              <a:t>Qoder Knowledge Engine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ae4a8187b4d49f3"/>
              </a:rPr>
              <a:t> · Qoder 技术博客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950d115e094420f"/>
              </a:rPr>
              <a:t> · 码道 Codebase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753AC9D-95A7-4528-B40B-7A75EEDC1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625204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F380585-3C0E-419E-86B0-DBE06FC42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6CA440-8317-4275-A829-AD4D60430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05  存量项目重写的实践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CC5400-18F0-4FDF-9566-3D3FD40FF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存量项目重写应先建立认知与验证基线，再并行迁移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5B3B33-3A03-4F3A-8B32-4BF2B40D0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23975"/>
            <a:ext cx="47625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pic>
        <p:nvPicPr>
          <p:cNvPr id="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481fbacf644ceb"/>
          <a:stretch xmlns:a="http://schemas.openxmlformats.org/drawingml/2006/main"/>
        </p:blipFill>
        <p:spPr>
          <a:xfrm xmlns:a="http://schemas.openxmlformats.org/drawingml/2006/main">
            <a:off x="619125" y="1398709"/>
            <a:ext cx="4629150" cy="211748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BAAB49-495E-4D3A-9F65-28B051B8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0"/>
            <a:ext cx="16287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95886B-359D-47ED-B82C-69D4C3758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3375"/>
            <a:ext cx="333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E2EF07-F67D-4C5B-B278-48D637734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148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Baseline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6E66CC-1DA2-40DF-ABB6-AF7265733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1362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锁定现有行为、接口、性能和测试覆盖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5EA781-DCE6-4F38-BF8D-1E3592061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600575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59171F-91EE-45F9-B599-B13C7096B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257425" y="4533900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7DC9F5-0B39-425A-852F-720900452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4000500"/>
            <a:ext cx="16287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6D8EB3-DE67-4F95-896C-44B84FC0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143375"/>
            <a:ext cx="333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B6DE01-F626-4C70-9952-C6F395506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41148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Understand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3ABB5C-9986-4F03-91C3-4E7B38163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533900"/>
            <a:ext cx="1362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Codebase/图谱识别模块、依赖、热点和隐式约束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33D05B-70AF-469F-B7DA-BF59E358B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600575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1C52C6-C045-469C-9123-35EAF2577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095750" y="4533900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1AD094-DF76-4AE3-97E0-99C3936FF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000500"/>
            <a:ext cx="16287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653156-4AF0-4EFB-9442-6B16F09E8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143375"/>
            <a:ext cx="333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C9F07D-A79C-4CDB-A10E-EC806B3AD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1148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Plan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A5FE5D-82C1-4D5C-8F2E-E88F05E55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533900"/>
            <a:ext cx="1362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按领域边界拆分迁移批次，定义验收与回滚点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E0DF2B-8356-40F9-B77B-91F5BC8F2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600575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8398AF-3B24-4A1F-B317-CF5D372F9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934075" y="4533900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00AC28-873E-4303-8540-214E0492A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000500"/>
            <a:ext cx="16287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8170F1-803E-40E0-AD75-A5E5623FB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143375"/>
            <a:ext cx="333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797F2C-B871-4174-8B23-B35F0F91F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1148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Parallel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E01B2E-9098-4253-9D61-3FFD3D01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533900"/>
            <a:ext cx="1362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多Agent分模块实施，Worktree隔离文件冲突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E45A4B-A7C5-4677-85D0-BCADA0878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4600575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3886D2-A2AD-4CC7-BA95-1C8B3A7CB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772400" y="4533900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829A73-AA5E-4D56-A964-1BCA89C19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00500"/>
            <a:ext cx="16287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AB948A-79F6-4D9D-8CC6-82C174957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143375"/>
            <a:ext cx="333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53011E-73D8-49B9-9964-C100DCFE2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1148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Verify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F6DD17-8DC2-483D-B280-73CB0DC62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33900"/>
            <a:ext cx="1362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双跑、契约/回归/性能/安全测试和人工审查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35059B6-7C58-4E76-B677-1B8B1B9E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600575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2BF3D65-9C6A-4766-A589-C6ECA9016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610725" y="4533900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4BA0B24-D83A-4919-B4CE-69368CAF6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4000500"/>
            <a:ext cx="16287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8ADEEA2-7587-45E9-8ABB-05F6A014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4143375"/>
            <a:ext cx="333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85C8FEB-0B1F-4809-99CB-0F66EB998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1148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Cutover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21E6CF0-6BBC-4F63-9B86-8E375D010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4533900"/>
            <a:ext cx="1362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小流量切换、指标观察、问题回写知识资产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9F9EC5F-8033-4125-90E5-0DEAB8A48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323975"/>
            <a:ext cx="59055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BEAD07E-1077-4960-A65F-68FA87CC8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5525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必须设置的四道闸门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49117F2-6775-4090-B380-80D3CC47D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81200"/>
            <a:ext cx="1238250" cy="270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000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B179E98-ED5B-4327-B4D2-E858887C0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38350"/>
            <a:ext cx="1085850" cy="15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闸门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479EFDD-D664-4FF6-8838-DADFC366D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981200"/>
            <a:ext cx="2619375" cy="270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000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154CBA9-EA48-4CA5-9F56-962236E98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38350"/>
            <a:ext cx="2466975" cy="15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通过条件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7CE665D-954B-4961-B72F-EE7D780D1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1981200"/>
            <a:ext cx="1524000" cy="270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000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050F5E5-AF02-4356-9EF0-858655AC7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038350"/>
            <a:ext cx="1371600" cy="15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失败动作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78C392E-0672-44F8-8CCD-0A3C2F604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251710"/>
            <a:ext cx="1238250" cy="270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3B92F1E-6157-412F-A515-BAC5390C2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08860"/>
            <a:ext cx="1085850" cy="15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行为一致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D1AD389-5642-4E33-873A-7572CBAC3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51710"/>
            <a:ext cx="2619375" cy="270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A940D36-CDF7-4067-97ED-57761172F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308860"/>
            <a:ext cx="2466975" cy="15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契约/黄金样本通过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B9777CA-1702-4F88-9795-9539355FC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251710"/>
            <a:ext cx="1524000" cy="270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E0928F2-943D-4C55-BE3D-C1F4C1501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308860"/>
            <a:ext cx="1371600" cy="15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回到模块级修复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6165802-6C3B-4FA5-A998-C427E6403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522220"/>
            <a:ext cx="1238250" cy="270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9A0A3FC-B2E2-4C88-8DE3-7EC267105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579370"/>
            <a:ext cx="1085850" cy="15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质量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B35171C-8414-484B-8E26-396E6AD95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522220"/>
            <a:ext cx="2619375" cy="270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CD7FB50-3423-4FD9-B3F4-3AD175539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579370"/>
            <a:ext cx="2466975" cy="15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回归、性能、静态扫描达标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F5F08B6-2626-4845-AC93-E5FEAB268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522220"/>
            <a:ext cx="1524000" cy="270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35EFA2B-6299-4293-88CF-3D2F51145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579370"/>
            <a:ext cx="1371600" cy="15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阻断合并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6ACB711-9524-4569-831B-531BCAE3B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92730"/>
            <a:ext cx="1238250" cy="270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CE14E1C-D862-4FB8-BAB9-B13E3A096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849880"/>
            <a:ext cx="1085850" cy="15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可回滚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24E7428-BD88-40A6-B825-4388F6FA1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792730"/>
            <a:ext cx="2619375" cy="270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907397C-437E-4A8E-AE3F-9C8963115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849880"/>
            <a:ext cx="2466975" cy="15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旧版本与数据路径可恢复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807C738-52D5-4C98-9290-4DA886C9A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792730"/>
            <a:ext cx="1524000" cy="270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ECF3F70-97E1-4C97-8339-EBDF592A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849880"/>
            <a:ext cx="1371600" cy="15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禁止切流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EC9E74C-1148-49A5-8820-84593A1F8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063240"/>
            <a:ext cx="1238250" cy="270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EF601F7-0DA6-4A69-AD52-E40C18EF6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120390"/>
            <a:ext cx="1085850" cy="15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可观测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152BFE5-3BB8-4B2F-8BEC-5D7909764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063240"/>
            <a:ext cx="2619375" cy="270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C685B66-9986-45BE-ADB8-29DCD3EB7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120390"/>
            <a:ext cx="2466975" cy="15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指标、日志、告警完整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04BFB99-D0B2-4B55-9EB2-DC6FE5D95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063240"/>
            <a:ext cx="1524000" cy="270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1797543-AD58-4F4F-852D-CFF41170C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3120390"/>
            <a:ext cx="1371600" cy="15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延长双跑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67292E3-3064-42FA-A155-742D1A4B9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81650"/>
            <a:ext cx="11068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关键原则：Agent提升并行度，人负责边界、验收和切换决策。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AC7963F-6037-4E7B-9B15-10CB49655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91275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solidFill>
              <a:srgbClr val="D7DADF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C7380E5-6E80-469D-AD1A-BB42857D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rPr>
              <a:t>官网资料复核：2026-07-23  |  来源：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c5621dd36d34240"/>
              </a:rPr>
              <a:t>Qoder 存量重写案例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dbdc11a3326432a"/>
              </a:rPr>
              <a:t> · Quest Worktree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C101FBB-2EF3-4548-9A33-2CA2AD2A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141367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FDE237E1-569E-49DE-8EA0-4E1116A7D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7B6708-B2EA-4E27-9049-1F9D99D67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06  Codebase及CodeWiki技术深入分析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939071-0485-49E0-8D97-7C02B3B11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Codebase解决“找得到”，CodeWiki解决“看得懂”，图谱解决“串得起”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1F7B8E-5259-4F49-8869-36E3226BF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2000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0BBEEA-F5CC-4536-95AB-497BC5CAF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600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源数据层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D16037-BEE0-4A48-9212-64E7B11D2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8120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代码 / 文档 / 提交 / Issue / 配置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BCE7C9-BA3B-4C4D-BD48-0E59AE7F4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057400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C233EE-E6B1-4FDD-A9E1-4798009FE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638425" y="1990725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CF065D-6805-4539-ADB3-C56B87AFE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438275"/>
            <a:ext cx="2000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F38850-646A-4326-8AC4-CF73AEB1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600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解析层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E5B864-F77D-452A-919D-F5345A72E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98120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Tree-sitter / AST / LSP / 符号表 / 依赖解析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8B3003-AABD-4A95-B403-F4CA4C51B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57400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EB1C63-C93B-4175-A11E-EF800C114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848225" y="1990725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E8F09B-4F67-48A3-9B0E-CD535C35C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438275"/>
            <a:ext cx="2000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15325D-E11F-45D7-8AF5-F84253671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1600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索引层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E7A190-57D0-40D0-A4AD-0C9420879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198120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倒排索引 + 向量索引 + 图数据库 + 增量更新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340365-6C9E-4495-8B74-ACEF69292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57400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9B8D6B-0DAE-437C-AE28-76260A877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058025" y="1990725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3F0043-EE6E-44BD-BC27-C6B1835B3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438275"/>
            <a:ext cx="2000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0D0A6D-C99A-411B-A93B-9F5A33961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1600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知识层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914170-4CD3-4E5F-A260-474B881AD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198120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模块摘要 / API说明 / Repo Wiki / 知识卡片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E33F15-7E1C-4CF1-9C55-E547B94AF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057400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1CA2BA-B605-4756-AC54-943B94B87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267825" y="1990725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6CAF6D-3275-442C-93EB-210A291A2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438275"/>
            <a:ext cx="2000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2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6FC445-E354-49D7-8CB7-FE58280D2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1600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运行时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5DD71D-1CFA-40AD-B0A9-55FB2B133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198120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意图理解 → 混合检索 → 重排 → 上下文装配 → 引用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605469-D0A4-49B7-8EA9-23010627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099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技术能力对比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8B35AD-82A4-46C8-9B4B-D360AA870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71850"/>
            <a:ext cx="1857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000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63C8FB-49FA-45AD-A00A-AD0FC3CE2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29000"/>
            <a:ext cx="1704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能力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A26C31-907E-4132-915F-D394B78A5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3718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000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FA01ED-6C64-490A-9950-591CFECC7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342900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核心输出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2055ED-BEB1-4ECB-809A-549BC30AA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37185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000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DB15BD-A4E9-4C89-9DDB-9ADCC3462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42900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优势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0CBD924-94A1-4B46-A81A-665061F51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3718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000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096C469-CFBA-4006-B894-9913EA675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42900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主要风险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CCB8868-E29F-4A61-BC3B-8A7F49FCA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371850"/>
            <a:ext cx="21621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000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3CE4190-FDCB-4E0C-A3A0-D6DCE693B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3429000"/>
            <a:ext cx="2009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关键指标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360B388-B740-44FC-8019-409F18395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71900"/>
            <a:ext cx="1857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A8D5221-DBB8-4E08-8463-2A8E2968E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29050"/>
            <a:ext cx="1704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Codebase Index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7BCCB9D-BED6-4204-8927-948F4ED06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77190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947D74B-1A1C-455F-A7CD-40615C184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382905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相关文件/符号/片段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6A3248C-54DA-4A4E-B4C0-87B569D52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77190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2293C03-725A-4463-B167-C6E5C5F80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82905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实时任务召回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2988D0E-EB7E-44D0-BA11-BAB652001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77190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2D52DC8-C5FC-475C-B333-F3E408C55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82905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噪声、遗漏、权限越界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6FF3D6E-671E-4C55-9AB7-CBBEE687F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771900"/>
            <a:ext cx="21621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1F84E43-D250-486C-9355-37BB1E632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3829050"/>
            <a:ext cx="2009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Recall@K、MRR、时效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9CC1876-3F14-4322-BFAB-998F4178D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71950"/>
            <a:ext cx="1857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7F679F3-B72A-4D02-B380-1AB02FEB2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29100"/>
            <a:ext cx="1704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CodeWiki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183F8F1-2DDE-43DD-921D-F57E3E09A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1719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780B718-C86F-4CA1-A398-F8AADDF59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22910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架构/模块/API解释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70E91F5-699D-4434-83F9-54C10C9D8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417195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F40E2F5-B59A-4516-8DD8-21A8693B9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422910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新人和存量项目理解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B2991AA-086E-403B-8892-AF2CF22D7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1719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2327EFA-CBF3-44AA-9719-40ABC843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22910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摘要过期、事实失真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1921A35-E44F-4ED7-AFD1-3AECC25A0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4171950"/>
            <a:ext cx="21621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7D0206C-4CEC-4C02-B069-8400B2CC2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4229100"/>
            <a:ext cx="2009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覆盖率、引用率、过期率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991F340-2666-4795-A8AD-FC5DF4C29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0"/>
            <a:ext cx="1857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5658A51-0509-4E1B-BC08-D4465D22D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29150"/>
            <a:ext cx="1704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Knowledge Graph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A46A342-44AC-41B1-85E3-93395AA4E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57200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6D32DDD-D762-4B76-986D-1463DF1B2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62915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实体、依赖与调用关系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97F29DB-B307-4C30-B0FD-ACC0F990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457200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7208451-E65B-44E0-A6AD-6F5660BC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462915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跨模块影响分析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2B11A63-57BF-40A7-B236-03D2CB9D1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57200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AF9F805-157B-4C7A-BF44-FD3E053BC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62915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关系抽取成本高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F495390-AF09-4DAD-8400-77DF03A28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4572000"/>
            <a:ext cx="21621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2AD0D8C-5945-4DBE-8F84-74FF481C4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4629150"/>
            <a:ext cx="2009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边准确率、路径命中率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4900365-F785-43E6-BEE5-319395DBA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72050"/>
            <a:ext cx="1857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A2B90E7-8A52-4FF2-8BD6-0B97494E8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29200"/>
            <a:ext cx="1704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Knowledge Card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E1C95A0-4372-454F-8E2B-BD200DE24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9720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D831C39-8EE1-4B87-A5A8-A0A0FDCC1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502920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可审阅的经验单元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E00B70A-EEA6-497F-BA96-A5E8BE179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497205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5BF8C95-9709-4BDD-B803-2D87420AE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502920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人工治理与复用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EDB2C94-F1E4-44B6-92BA-E79F82961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9720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7596083-5024-4F6D-896E-E16178CF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502920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维护负担、重复知识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4E86F2C-86F2-4DCC-88F2-3A7CCED89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4972050"/>
            <a:ext cx="21621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2E25973-F9FA-48F7-B96D-C86BADE04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5029200"/>
            <a:ext cx="2009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采纳率、修正率、复用率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ED02232-09CB-4B15-A82A-B8FCF02D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67375"/>
            <a:ext cx="11068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工程结论：索引必须增量更新；生成内容必须带源码引用；权限过滤必须发生在检索前。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3DA8269-9C9C-4F20-98F9-18C013EDA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91275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solidFill>
              <a:srgbClr val="D7DADF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9631C03-E07C-4EC5-BF77-9EEFAD7AC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rPr>
              <a:t>官网资料复核：2026-07-23  |  来源：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c0fb5ce7a0e4ae7"/>
              </a:rPr>
              <a:t>码道 Codebase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39c9cb91ba14d26"/>
              </a:rPr>
              <a:t> · Qoder Indexing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71d9fcba5534f19"/>
              </a:rPr>
              <a:t> · Qoder Repo Wiki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7245149f3744f2a"/>
              </a:rPr>
              <a:t> · QMind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02F252E-4E1B-4635-B7CC-989C17B4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406138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EAF7580-AC00-4927-98DB-14D244336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F2B7FE-AA03-466C-90B8-47BEC339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07  Workflow、Goal、SDD、Solo、Quest深入对比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9E8AFE-4FC0-4F75-BFB6-677B26FB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五种模式分别解决流程复用、目标收敛、规范约束和自主执行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24194C-2C6D-42DB-B1F6-E4129BEC2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43025"/>
            <a:ext cx="1333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000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07C6AB-9B35-4347-9028-B2C149DB4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0175"/>
            <a:ext cx="1181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DB0AFF-5EC3-43C4-85FF-F0F59F6C6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343025"/>
            <a:ext cx="18573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000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50AFF2-1A9B-4477-B138-EEC149069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400175"/>
            <a:ext cx="1704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谁持有计划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0FF871-8D5B-488E-9E00-E89D5DFF0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1343025"/>
            <a:ext cx="2095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000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5B35C1-CF8E-40D7-9098-BAE83F02A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1400175"/>
            <a:ext cx="1943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核心输入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55DC04-3FD3-4123-B623-6B1FEF33F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1343025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000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DF0DE7-186A-4A61-8003-9B3A81A5B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1400175"/>
            <a:ext cx="2038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主要产物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49C2B3-2429-4622-B66F-7BDD7839B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1343025"/>
            <a:ext cx="1619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000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EF34A2-6ACE-4336-A9F1-EED069AF9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1400175"/>
            <a:ext cx="1466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人工闸门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749D4E-51F1-4FF5-80E0-0C1348D0D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1343025"/>
            <a:ext cx="19716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000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E0804F-BA41-4B26-8AF6-1F96F436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1400175"/>
            <a:ext cx="1819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最适用任务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6F0084-3176-4DB2-825A-29983B3B3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66900"/>
            <a:ext cx="1333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AB4B10-9B3E-45AF-BCBA-9FCAC7897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24050"/>
            <a:ext cx="1181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Workflow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89FAFE-FFE2-4A26-AFE1-AA761F337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866900"/>
            <a:ext cx="18573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9FF9D4-6419-4E4E-8827-3B5F80EB0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924050"/>
            <a:ext cx="1704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脚本/运行时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48673A-B582-40D0-A00C-C03E8CC81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1866900"/>
            <a:ext cx="2095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7CFE1C-439A-44FF-95A6-38CE0592B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1924050"/>
            <a:ext cx="1943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阶段、分支、Agent编排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D9EF09-800C-4DE3-A31C-684535C89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1866900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0C7AD1-B718-4AC0-81B0-88AD3FC9F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1924050"/>
            <a:ext cx="2038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可复用JS流程与汇总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FCED1B-FE76-4570-8F8B-FD202F51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1866900"/>
            <a:ext cx="1619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13A7AF-03E1-471F-B79B-50003F0BD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1924050"/>
            <a:ext cx="1466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运行前审脚本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BB481A-580E-4068-9E47-AD82E1A9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1866900"/>
            <a:ext cx="19716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4FB7BB-5A15-446F-88AF-743AF2708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1924050"/>
            <a:ext cx="1819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大规模审计、迁移、研究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0FC209-108D-4BD5-9BCE-4B9F61557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90775"/>
            <a:ext cx="1333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01485C-0016-45E6-80A3-94EAB93FD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47925"/>
            <a:ext cx="1181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Goal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2FBB4F-8427-454B-9A3F-FF1A84444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390775"/>
            <a:ext cx="18573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5DA79F-FCE9-4F58-961F-810B2C128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447925"/>
            <a:ext cx="1704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当前会话+评估器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E422D38-333C-4A71-A87D-1D0BC07D2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390775"/>
            <a:ext cx="2095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E63D683-EA9A-4593-A044-80B472AD1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447925"/>
            <a:ext cx="1943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可验证完成条件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66CA04E-E40C-4598-B79A-66012432D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390775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C021D32-8397-4E2E-B78A-6D0DC684F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447925"/>
            <a:ext cx="2038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连续多轮执行与状态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620E59A-D362-470B-9685-A12E6A273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390775"/>
            <a:ext cx="1619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E9E3AEB-792C-4D2C-8E29-637BF749C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447925"/>
            <a:ext cx="1466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可随时清除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312E85B-3314-4711-8E06-748C240E1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390775"/>
            <a:ext cx="19716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35B7D2A-C7EC-4F76-AA55-989E23A50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447925"/>
            <a:ext cx="1819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测试全绿、队列清空、迁移完成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2DFEC7A-46BE-4732-999C-61DF29C4E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14650"/>
            <a:ext cx="1333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865DD08-B301-4726-B788-8D251CEAA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71800"/>
            <a:ext cx="1181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SDD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7FCB071-BC87-4A70-BCFF-42F39A38B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914650"/>
            <a:ext cx="18573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7CE49A0-EA5B-4B39-9BF0-1505AF420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971800"/>
            <a:ext cx="1704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Spec文档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D0A3B39-9329-49AE-B41F-1BA8D918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914650"/>
            <a:ext cx="2095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A1BF407-7C38-4DB1-B536-FD310352E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971800"/>
            <a:ext cx="1943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需求、设计、任务、验收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5FEF8C5-682C-46C7-8FF6-03110985E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914650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2C3465C-8092-45EB-973F-38BC4495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971800"/>
            <a:ext cx="2038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可审查规格与实现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5CE87CF-BA04-4BED-A9CD-B2F1C2610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914650"/>
            <a:ext cx="1619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FE89A76-F645-476D-AD8B-DD93FF3DD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971800"/>
            <a:ext cx="1466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Spec批准后执行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74D9339-60CE-4AF2-99C8-3097A7FFA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914650"/>
            <a:ext cx="19716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F6101B4-618F-4FA1-BE1D-2B79EF19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971800"/>
            <a:ext cx="1819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跨文件功能、变更可追溯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6EF609F-F889-4404-9387-557D8555B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38525"/>
            <a:ext cx="1333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630F9A9-2B80-4D8E-8713-C9BDFAE2C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95675"/>
            <a:ext cx="1181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Solo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370F13E-B997-4A76-A4F9-500F518E5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438525"/>
            <a:ext cx="18573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ADC6704-A976-43BA-96D5-6F8743C63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495675"/>
            <a:ext cx="1704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产品内置自主Agent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2C5F6A2-C61B-45A7-931C-A1873C1D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438525"/>
            <a:ext cx="2095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3B0311C-11ED-4B3A-98C9-E912797C9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495675"/>
            <a:ext cx="1943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自然语言目标+项目上下文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F7F8771-D56C-470D-9BEC-6CD969A9A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3438525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13C7BE4-B08F-470B-8D7D-0BA091148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495675"/>
            <a:ext cx="2038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端到端应用与预览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355DD5E-3472-4417-B424-8F0FD69A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438525"/>
            <a:ext cx="1619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9DC36EC-D1F1-4014-9781-8257FA708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495675"/>
            <a:ext cx="1466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关键动作确认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CD5FFA0-CEDF-4BB2-A3F0-44CBADD05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3438525"/>
            <a:ext cx="19716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4C3D293-0F27-45DA-B6FE-D14A6CC1C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3495675"/>
            <a:ext cx="1819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快速原型、前后端一体任务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289DE1A-9EFB-4E06-896C-17EACCC7A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62400"/>
            <a:ext cx="1333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C756D0D-7925-4C69-A6CF-7F584BA47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19550"/>
            <a:ext cx="1181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Quest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21D88B8-1F81-4D9F-96B9-17B84FD7A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962400"/>
            <a:ext cx="18573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8AC808A-AEF4-4C52-BF8E-B4C802199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019550"/>
            <a:ext cx="1704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任务工作台/Agent团队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52B8BDD-7B78-42D9-899E-AA20F1B70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962400"/>
            <a:ext cx="2095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CB0548C-B04A-4F9E-8DA9-700AE44FF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4019550"/>
            <a:ext cx="1943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目标或Spec场景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3E02C12-2A80-4509-A343-982D3D162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3962400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736BB70-4E09-4F3C-B74A-AB0DEAE6C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019550"/>
            <a:ext cx="2038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任务、Artifacts、代码与评审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B84B4AA-BB2C-4BA6-BD0A-9E84AB1A8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962400"/>
            <a:ext cx="1619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C54C697-2605-4180-81B2-F002D0F6A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019550"/>
            <a:ext cx="1466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Accept/Reject/PR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5E0AB11-FE24-4421-A832-B373AA41E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3962400"/>
            <a:ext cx="19716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70A84AC-9754-4F53-9941-3DB330002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4019550"/>
            <a:ext cx="1819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长任务、多项目与多Agent协作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C030367-2599-4EF0-A54F-57ED02B2A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0"/>
            <a:ext cx="25527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9D83B63-C7DC-4CD9-AD83-FB28A5C5C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742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rPr>
              <a:t>要重复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A5639F9-D6E8-4B0B-AEAB-EF948E1BD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876800"/>
            <a:ext cx="1504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选 Workflow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55F97F7-BE39-4E54-BA01-D231448F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同一流程会重复运行，编排本身需要版本化。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C9F1078-84E2-45FD-9975-964D7FF4C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762500"/>
            <a:ext cx="25527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1B68F5A-1BB7-4E85-A1CC-661CF24D2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905375"/>
            <a:ext cx="742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rPr>
              <a:t>要完成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AA0E765-D973-4324-B07C-8322355FB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876800"/>
            <a:ext cx="1504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选 Goal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F7B6A44-53E5-4F6C-86CB-216D7EF3F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2578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终态可测量，但路径允许动态调整。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E6D0712-2332-4AB1-8D52-7157FA69D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762500"/>
            <a:ext cx="25527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6854411-E565-4B05-A2D3-F2CC322BF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905375"/>
            <a:ext cx="742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rPr>
              <a:t>要对齐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895B621-C477-46C5-8A39-4CE38C6DC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876800"/>
            <a:ext cx="1504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选 SDD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70172B2-1DDD-44C3-93FB-44621A6A8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2578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多人/多模块开发前必须冻结需求与验收。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87BE7F50-D781-41CC-A651-DB5D97280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762500"/>
            <a:ext cx="25527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5FA7BEF4-8CCB-4963-A6FB-B393F4BA7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905375"/>
            <a:ext cx="742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rPr>
              <a:t>要自主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3753158-0A9F-4934-883C-794BA8F09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876800"/>
            <a:ext cx="1504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选 Solo / Quest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9464BD5-FCD5-4AC7-81D8-F973E2130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2578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把较完整任务交给Agent，并保留关键审批点。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7ABDA3FE-1382-4F84-B14C-BF222E60F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91275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solidFill>
              <a:srgbClr val="D7DADF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B6191A7F-D9AB-40F7-A64A-6C83CDA54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rPr>
              <a:t>官网资料复核：2026-07-23  |  来源：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2b997ab582b42e3"/>
              </a:rPr>
              <a:t>Claude Workflow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741fa74f51d4662"/>
              </a:rPr>
              <a:t> · Claude Goal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74b7f23bc034fcd"/>
              </a:rPr>
              <a:t> · Qoder SDD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f523811c13346eb"/>
              </a:rPr>
              <a:t> · Trae SOLO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E0387A7-B290-40AD-9626-E9515C289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393233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4B4C616-AC13-4374-A490-77ADB17C7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0BFEF3-66E2-4EC8-A239-28FC5CF6E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08  多Agent协作技术深入分析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4ADEBC-B4CF-4334-B193-487626211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多Agent协作的核心不是数量，而是角色、隔离、依赖和汇总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CE1D9C-D1C7-46C5-B0BA-9FA3AB8B9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390650"/>
            <a:ext cx="3086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AE081F-1AFB-4F31-889D-8501BB957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543050"/>
            <a:ext cx="259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Lead / Supervisor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C5C712-E92D-499D-B685-619396B28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857375"/>
            <a:ext cx="2590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拆任务 · 管依赖 · 分配预算 · 汇总决策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6BB644-AB96-4774-B1F8-42E554D8D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71700"/>
            <a:ext cx="19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82F07E-0213-4AFA-9282-15188FD9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33650"/>
            <a:ext cx="2552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8E405A-6A81-4F5C-8372-AC0C4608E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探索Agent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315DA7-B09C-4E55-B97A-3CA80D467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209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代码结构 / 影响面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B00661-EA46-455C-AA65-5F007E0D0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533650"/>
            <a:ext cx="2552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2012AF-29EF-4169-81C9-26EAB1CAB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714625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实现Agent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190C9D-0060-4483-998D-642FC2F9D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124200"/>
            <a:ext cx="2209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模块开发 / 测试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26B0F3-D17E-42D1-BD3A-490B6E251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33650"/>
            <a:ext cx="2552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C21D4C-A5A9-47B3-8A3F-BF0D2A9AA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14625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审查Agent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5FE009-02AF-495B-875F-1BD319621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24200"/>
            <a:ext cx="2209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规范 / 质量 / 安全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70D5F4-ECCB-4AF5-ACAE-1CD03B63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533650"/>
            <a:ext cx="2552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183368-F303-4386-94FD-70961841B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714625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验证Agent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5FB33E-AAC0-4FF5-B3B2-F56F878BF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124200"/>
            <a:ext cx="2209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构建 / UI / 回归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043763-DDD8-49F5-8699-24054B79E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766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四个工程控制点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002338-C542-497D-99C7-894051D4F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76725"/>
            <a:ext cx="25527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CE3B5F-46BF-4E8C-819C-E3D041311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291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9180B3-0D75-4CC7-8C9F-B9EF4757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100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上下文隔离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13CFFF-BD75-4461-8C99-A04D8531D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2209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每个Agent只拿任务所需上下文，降低串扰与Token。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08BD22-6097-49FE-9027-8365BF433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4276725"/>
            <a:ext cx="25527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EE98DD-3372-4E2A-B522-7EECFEE16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44291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917557-A160-45E4-B3EC-F46ECC851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44100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代码隔离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5E43F6-389B-49DB-A3AC-22731F103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4762500"/>
            <a:ext cx="2209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Worktree/VM/容器分支，明确文件所有权，避免覆盖。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4E602A-3F7A-40C0-B602-C2B6A4830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76725"/>
            <a:ext cx="25527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2E6060-37B2-4E7C-8F1D-AAE7AA8EC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291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6DE108-E890-4430-A483-92DD56C6B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4100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依赖调度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751F9D-F8CC-4D2A-85A6-B92CFBEBE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62500"/>
            <a:ext cx="2209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任务DAG、状态机、重试与超时，禁止无边界并发。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67C95EA-F938-4601-BE36-67BB5A963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4276725"/>
            <a:ext cx="25527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702D343-B074-4BA4-A1F8-9B913E350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4291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7927037-0A28-4CBD-A6A2-01B96DAEC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44100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质量汇总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217DEA8-D3FC-43B6-BA7D-7F4ACA6C8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762500"/>
            <a:ext cx="2209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独立审查、证据合并、冲突裁决，Lead不盲信摘要。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E934D33-2447-440D-B8AD-7E696240B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67375"/>
            <a:ext cx="1104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9525">
            <a:solidFill>
              <a:srgbClr val="315A7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C092B53-F33F-4F3F-937F-4E4F82B3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706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315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315A7D"/>
                </a:solidFill>
                <a:latin typeface="Microsoft YaHei"/>
                <a:ea typeface="Microsoft YaHei"/>
                <a:cs typeface="Microsoft YaHei"/>
              </a:rPr>
              <a:t>适用：任务可分解且结果可独立验证；不适用：多人同时改同一核心文件、需求仍高度不确定。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9B5804E-B409-45B6-BC01-87757AB6C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91275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solidFill>
              <a:srgbClr val="D7DAD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64F8D2C-7239-4F16-BC8C-1A02C52ED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rPr>
              <a:t>官网资料复核：2026-07-23  |  来源：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14d50f393854577"/>
              </a:rPr>
              <a:t>Claude Agent Teams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abf7367b743496d"/>
              </a:rPr>
              <a:t> · Claude Workflows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5f31e173ce14a79"/>
              </a:rPr>
              <a:t> · Qoder Quest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964167e70e44940"/>
              </a:rPr>
              <a:t> · 码道 AgentTeam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05A29F2-675B-409E-A0B9-B6D022432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057473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B3B5056-46A9-4C6F-8FBB-D3257DD4B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AB78FF-E6A1-43F1-901D-CA6613673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09  最佳实践：Figma插件对接原型验证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AC0790-8839-4736-A8AD-FF2A53C3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Figma对接不是截图转代码，而是设计约束到视觉回归的闭环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52FC92-5BEF-4C36-84F4-A59CD4F30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445770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b3e5e3cb264d9e"/>
          <a:stretch xmlns:a="http://schemas.openxmlformats.org/drawingml/2006/main"/>
        </p:blipFill>
        <p:spPr>
          <a:xfrm xmlns:a="http://schemas.openxmlformats.org/drawingml/2006/main">
            <a:off x="1015276" y="1400175"/>
            <a:ext cx="3532048" cy="27432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1CE690-8428-4561-8E84-059C047EC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333500"/>
            <a:ext cx="285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55AE7F-67C2-4DB9-B4D5-E9B3DD703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4859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0816DE-70B0-4B1E-B579-451ADC61F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466850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选定Frame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35B926-BAB1-4952-A68A-2B5C507AB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819275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明确页面、状态与响应式范围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A741D8-5B8F-4112-A264-C32E06BB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333500"/>
            <a:ext cx="285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A923F3-0C09-4DEB-9319-85E0F177F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4859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C5B024-3B4B-4972-B625-6FE6A07E5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466850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读取语义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5196BE-3FA7-4A74-A256-04E26AD59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819275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组件、变量、Auto Layout、间距、字体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37F8B9-C1F9-4392-B0BE-B9807A1A7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57450"/>
            <a:ext cx="285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4CA73B-D2E8-49B6-85A6-A72A9F266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609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9CD210-8BC6-4E52-B0D1-E16375511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590800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映射工程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663C1E-3B22-4FF7-AD5C-DFC5EDC1B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943225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复用现有Design System与组件，不复制像素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7FC234-09B2-4E74-B6F6-8A298BCE3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57450"/>
            <a:ext cx="285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07BC0A-F66E-4FDF-85B6-808F94085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09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A7A553-82DE-402D-83D5-90E98A8DD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90800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生成实现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5FF0A5-EA7A-427D-A6B1-2CD395EAA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943225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页面结构、样式、交互、数据Mock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AE0A62-70E1-42A8-82D6-87663D280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581400"/>
            <a:ext cx="285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A1D202-6F41-4118-A4B6-C429A8D25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733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21D471-5654-4220-8376-FD4DE9093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714750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运行预览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8EB7CD-F182-47E1-9EC9-DB9C5A1EE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067175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桌面/移动视口，检查控制台与网络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A34654-838F-4E15-BFF4-6BF6D7C2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581400"/>
            <a:ext cx="285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D61FFE-F4BC-414A-8BF9-844034C12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33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4B2578-97D2-4D48-9419-9B59776D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714750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视觉回归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B193BA-1576-4CF7-AAD5-CB57A00A9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067175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截图Diff→定位差异→迭代至阈值内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319296-C672-4CF1-B071-CB163B92F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33900"/>
            <a:ext cx="110680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22F298-D5D6-48ED-A3A2-2396AC51E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验收清单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56499B1-72AB-4125-96B2-7A740972B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911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7000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F4A60EC-2EF2-455F-A0B5-122C78C8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53025"/>
            <a:ext cx="276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组件复用率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7FBBBDA-B510-4D21-806D-56FD41F9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1911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7000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0A6EA10-73C7-4D2E-868A-B172BB54B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153025"/>
            <a:ext cx="276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设计Token一致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1FC402F-7E42-45BB-9743-009C60FCA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1911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7000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C7CFA53-7579-4FA6-852B-AED6F75F1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153025"/>
            <a:ext cx="276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响应式断点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65D0F9A-C779-4045-8F06-26294EA7D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626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7000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2041FDB-C510-44DC-998B-A46BDA3A2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24500"/>
            <a:ext cx="276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交互/空态/错误态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A3E56FC-4980-4000-810F-1834D1055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5626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7000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5A2E33E-3F3F-46AF-B1B9-7790FEA77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524500"/>
            <a:ext cx="276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可访问性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2C91D17-C77C-4F00-8AB7-A132AE80E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5626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7000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45EBFD7-3367-4E6C-B5F9-CE45C3022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524500"/>
            <a:ext cx="276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视觉Diff阈值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41EB9FE-7496-4D18-BD80-90D66B2E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91275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solidFill>
              <a:srgbClr val="D7DAD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19E4205-34F9-4BFA-9A7D-184F0C2DE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rPr>
              <a:t>官网资料复核：2026-07-23  |  来源：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acd6414b8724566"/>
              </a:rPr>
              <a:t>Trae Figma to Code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bb482f97e134867"/>
              </a:rPr>
              <a:t> · Figma Dev Mode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41E46E2-3837-4CEF-808E-BE1748483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4294446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E84B986-6443-47E1-BEBE-38CC0C41F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E178C6-DA06-4DCA-ACD3-69CABB06B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10  最佳实践：Browser Use进行UI测试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0B564D-BF38-494B-890D-F0C52BE73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Browser Use要把“看起来正常”转成可重复、可定位的断言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1EB8A8-B5CF-4542-B31E-5397B31DA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16287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E1BFCE-22AA-4E81-9AD2-235781DDB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906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94DDD6-118A-46CB-B219-B72D61D20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71625"/>
            <a:ext cx="885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启动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599FAE-672D-49A4-8930-AB1D33DCD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1285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固定环境、账号、数据与视口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CD872C-DC7E-4966-A6A1-B16CC69F0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07645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4F9543-3178-4327-9B78-7163CD56C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257425" y="2009775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AA6266-D1B7-4DE9-A015-236BB30F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1438275"/>
            <a:ext cx="16287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699B57-E0D1-47CC-85B2-EC5A6E1A7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15906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00846C-0940-40CC-88AE-0BD88EF29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1571625"/>
            <a:ext cx="885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操作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B761B4-C3FF-4B6C-885B-5209C6DA6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1924050"/>
            <a:ext cx="1285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按真实用户路径点击、输入、上传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85030B-5EA4-445C-A90E-C0AF0A80E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07645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9C1841-D99E-4470-A421-605791CBD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095750" y="2009775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FA0B1F-599A-44EF-B63F-877A5726E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438275"/>
            <a:ext cx="16287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56EAC6-0C46-4E3F-BDF9-83AEEFB0F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5906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843DE0-CD6E-4E42-85C7-D5C6D7402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71625"/>
            <a:ext cx="885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观察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C3F434-9C78-4E93-AFCA-BED0AA8A6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924050"/>
            <a:ext cx="1285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DOM、截图、控制台、网络、存储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BB18F5-C59B-4B7D-A349-BDFBB9F1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07645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92C404-0B9D-45D1-AD46-232AD4206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934075" y="2009775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0E36D0-B937-459E-A853-04BB7F032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438275"/>
            <a:ext cx="16287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2B96FB-A0EF-45D6-B149-31478F0B0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5906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6C8E8C-4126-47DA-B46E-BD2E554E3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1571625"/>
            <a:ext cx="885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断言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9231E6-06B7-436C-9F63-07F8586F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24050"/>
            <a:ext cx="1285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功能、视觉、可访问性、性能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AF8B22-34A3-4E0C-AAD8-E81D5F860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07645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4E77BC-E7E9-4724-B035-2D75FBFE6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772400" y="2009775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086B24-25CB-4FF7-9EE0-DD62C22A1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438275"/>
            <a:ext cx="16287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B6FF3F-EB4C-454B-84E7-99D442CE6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5906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8B28D3-D677-4EA1-9A41-215F4EFF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571625"/>
            <a:ext cx="885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证据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62D4C9-B102-4114-8B29-18235B415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924050"/>
            <a:ext cx="1285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Trace、截图、日志、失败步骤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34EC92-FB71-4CA8-B325-A5431E883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07645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49D467B-4EF1-4931-B909-7264BD057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610725" y="2009775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6547D28-BDF7-4C0D-90D8-3CC9BFF61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1438275"/>
            <a:ext cx="16287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159BFF1-BBB0-422C-9B89-5D3AEE645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15906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C618A28-CBE3-4D21-BC05-0BD1BADEB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1571625"/>
            <a:ext cx="885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修复复测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0DC82BB-0869-4701-91B7-254BDC208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1924050"/>
            <a:ext cx="1285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最小改动→相关场景→回归集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857C6E2-F13C-48AA-BF4E-786C34702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051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测试组合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C3FEB0D-9FA5-4751-B7ED-090B4474C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2638" y="3524250"/>
            <a:ext cx="38576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4C51F29-669C-4CE8-8857-60446A5C7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4088" y="36480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关键旅程 E2E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27BACA9-CCF4-4AA8-9C7D-CE8676E02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0513" y="36576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1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登录、下单、发布、审批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D817327-AE23-4B10-94E7-48C4C2250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48150"/>
            <a:ext cx="5334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911D27E-7C56-4921-AF11-ADBCFEE3F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3719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组件 / 页面集成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DD35488-19FC-4C3F-95A0-76DE9FB01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381500"/>
            <a:ext cx="3095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1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状态切换、表单、路由、权限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32C3E82-8C78-4FFE-9253-BF6C7D359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72050"/>
            <a:ext cx="6858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806076C-B433-40B0-9E48-2D557B18A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958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静态与单元检查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FC10201-8BF4-48C5-9FC3-6D53CAC5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5105400"/>
            <a:ext cx="4619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1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类型、Lint、逻辑、可访问性规则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2FBC883-0F66-4C1F-A876-629C7B5BE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05150"/>
            <a:ext cx="373380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92B6D2E-391C-4A17-92E7-B2F060448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3337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Agent测试提示词必须包含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04F015A-3D5F-455C-AABB-48DD16F6A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8671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58E3E05-BE8C-478F-BFC9-0EB86388A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00475"/>
            <a:ext cx="2971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起始URL、账号、测试数据与禁止动作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DD5C01E-F036-4465-8A39-DDC9A6B8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005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E2B8255-3687-4AF1-99C6-3C98EDEF2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133850"/>
            <a:ext cx="2971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关键路径及每步预期可见结果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4555A6D-F1D0-4646-B1ED-94A318D38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5339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35F81C1-5BFB-4EED-B28F-05B22D5AF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467225"/>
            <a:ext cx="2971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桌面/移动视口与截图命名规则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83B9E7F-A891-4B3D-B226-0D927F358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8672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D319AC2-3BFC-4E59-8D58-1EAC591E3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00600"/>
            <a:ext cx="2971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控制台错误、失败请求、可访问性检查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38724B7-870F-4EA7-9B53-5BA50299B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2006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939C2E7-ABDF-4F21-B1DF-24D537B44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133975"/>
            <a:ext cx="2971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失败时保留证据，不自行跳过断言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6373C80-5311-4461-B0AD-854FD4305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9775"/>
            <a:ext cx="11068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结论：浏览器Agent负责探索与取证，Playwright脚本负责稳定回归。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C265741-55C5-460F-86AA-8429D310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91275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solidFill>
              <a:srgbClr val="D7DAD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0786F6F-9D65-446E-9793-754CB325D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rPr>
              <a:t>官网资料复核：2026-07-23  |  来源：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b0ad4c3db244aea"/>
              </a:rPr>
              <a:t>Codex Browser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b4d31ab5cbc49d5"/>
              </a:rPr>
              <a:t> · Trae Browser &amp; Preview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c1453f29d524248"/>
              </a:rPr>
              <a:t> · Playwright Best Practices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64DACA6-4A37-4387-AA7B-38EB799E5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8507887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5797432-F524-4824-9B31-8C325BB93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A61B9A-64D6-4302-A919-885DD101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11  产品 Superpowers 介绍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0E570D-EB04-466C-9C55-A4AD33F51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Superpowers把成熟研发方法封装成可组合、自动触发的Skills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55036A-DF08-4120-B039-5C44394C7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38275"/>
            <a:ext cx="14668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6AD2B8-6CD5-4C1B-9BA6-A3CC71D1B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62100"/>
            <a:ext cx="285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FB37F5-6211-4CA4-BBDC-48219FFB8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38325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Brainstorm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49E7CF-7A08-47CE-AD2D-EC09BB9BE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43125"/>
            <a:ext cx="1276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澄清需求与方案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BF3352-A989-4062-BD37-65C694A18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96215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936AB6-8BCF-4DE6-ABA2-6333D88C1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009775" y="1895475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EA1603-23C0-4058-BD92-064C6C3AC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438275"/>
            <a:ext cx="14668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4FB35C-2BF4-4E1D-BAC4-FEE8A0417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562100"/>
            <a:ext cx="285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9467AF-325A-4E54-BE56-B70D89F9B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838325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Design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8861B6-A7C7-4A05-9A6D-EAEA6DC17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143125"/>
            <a:ext cx="1276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分段评审设计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F1A736-E9AD-491F-96E2-32A0D2984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96215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F1FDEC-8D85-4F74-855B-96783FC6C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667125" y="1895475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FBE0DC-AAB4-445B-886F-90F63FAB0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438275"/>
            <a:ext cx="14668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1D772F-1FDC-43F4-853E-B9822D469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562100"/>
            <a:ext cx="285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3EFF83-31DA-420F-BBE4-5A02638C2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838325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Plan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7CD990-7C05-47ED-8507-98A36C313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143125"/>
            <a:ext cx="1276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拆成可执行小任务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C0CCCC-11FD-4B97-BF6E-1BB710BA4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96215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330F87-5BE8-419A-AF63-3237E8609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324475" y="1895475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62F9A9-61AD-4B4B-BDFE-6A6230D11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438275"/>
            <a:ext cx="14668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3AD54B-6D85-4598-9036-242B9E194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562100"/>
            <a:ext cx="285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E75A39-F7ED-417C-BE29-5F1BA65DE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838325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Worktree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CD4A99-6B57-4F1C-B9B3-C0FCBE17A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143125"/>
            <a:ext cx="1276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建立隔离工作区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345D3A-785A-4726-9B9D-C1FE7CD97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96215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16CFF1-3ACD-4BFF-9AAB-D40B22389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981825" y="1895475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144A5F-BB9B-429C-88D8-0AF8CD75C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438275"/>
            <a:ext cx="14668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E25473-2CA9-498E-81C1-8602BDF8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562100"/>
            <a:ext cx="285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8BF1B6-7811-48BD-B0B4-9BF00800F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838325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TDD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B32DB1-7456-4003-AF46-75CF1FA15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143125"/>
            <a:ext cx="1276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769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RED→GREEN→REFACTOR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EC94720-EAD2-45A7-A20F-43092D864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96215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6AD955-1011-4097-A42B-81CE54334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639175" y="1895475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7A4F5E4-A290-41A6-9CAF-067B028C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438275"/>
            <a:ext cx="14668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B319F55-DC71-4123-8BAE-0B6A90B97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562100"/>
            <a:ext cx="285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8408719-E0F8-4632-9A86-13DC2DD6F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38325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Subagents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24D02C5-27B0-4889-889C-F054C47E9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43125"/>
            <a:ext cx="1276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逐任务实现与双重审查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637A074-A3B4-48CE-BFED-FBDE99B12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96215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4F66F49-6574-456D-9D6E-0F130501B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0296525" y="1895475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D249F5C-683F-4A7D-B5D2-8559A8D1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1438275"/>
            <a:ext cx="14668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5491789-BDCA-4260-9F23-BE75C0467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562100"/>
            <a:ext cx="285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BBB1931-5921-4DF8-BFC5-FAF3678A2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1838325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Finish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BFD241A-2F5D-4A2A-B244-402277F64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143125"/>
            <a:ext cx="1276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测试、PR/合并、清理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DBE45F4-653E-456D-816B-54EFC05F1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28950"/>
            <a:ext cx="3448050" cy="2390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4950E70-3A4E-44CB-BDEC-9CCD3A1D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它是什么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BEA80D2-7CB9-4D41-98B7-C7658FA2D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909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137F8D7-8AFB-4C6E-889D-DA0EA6660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242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开源Agentic Skills框架 + 软件开发方法论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FFD4C3E-0654-4122-867B-2AFE46982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43801F9-4263-411C-AEF0-AB33242EA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95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通过技能触发器把流程变成强制检查点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E5C4CF4-4829-4AC1-8FF5-D2F5BDD19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815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A5D1DD9-52DB-4A3C-BE23-395094840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148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支持Claude Code、Codex、Cursor等多种Harness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0D84239-BE1D-420B-8C2A-CA7FA4382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28950"/>
            <a:ext cx="3448050" cy="2390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0AC6E5B-0763-4171-A7ED-3282BDDDF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2385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核心价值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2757EA9-8D80-41F1-9FF8-23823AEE1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7909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1159954-5F2D-4558-986C-54AD9ABB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7242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减少Agent跳过设计、测试和验证的随机性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F76BDB0-9B24-4146-8C56-DC13ECCC2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2862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3BBD6DB-E39E-4990-9B8E-EA5086BE0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2195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把团队方法沉淀为可版本化Skills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CBC2BB2-2543-421C-B59E-1E83C87A5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7815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8EA9237-16AD-4635-815B-448B00091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148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Subagent每任务新上下文，降低长会话漂移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8B97F0A-5E03-4D0A-8E18-47911C1AB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28950"/>
            <a:ext cx="3448050" cy="2390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A5D456A-048B-425C-8FCE-CE0D20562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385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边界与风险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85BD36F-94BC-4668-9184-749DA9A70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909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E166E38-B13C-4130-931C-A7D70AA33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242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不是模型、IDE或项目管理系统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9837EB2-8F9F-4DB6-85EE-B7237AAEF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862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C61F10B-3669-452B-8B10-9BC3A32A1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2195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强流程会增加小任务的时间与Token开销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C7004D1-F1DB-4454-B37B-9AF0895B7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7815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8D16AF5-9002-4534-AB11-FA23C4221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7148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需结合团队规范裁剪，避免机械执行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D27AA88-36B5-4017-95EB-F60EC222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72150"/>
            <a:ext cx="11068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落地建议：先在一个可测试项目启用 Brainstorm → Plan → TDD → Review 四项核心技能。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C4627EC-8146-4202-964A-713D8E2B6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91275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solidFill>
              <a:srgbClr val="D7DADF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2A2DAA2-36A8-4E52-AB7C-E587C32BA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rPr>
              <a:t>官网资料复核：2026-07-23  |  来源：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285020cd84049d7"/>
              </a:rPr>
              <a:t>Superpowers GitHub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ACD51EB-5E43-4504-B9BB-FE06CDE7F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3244605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210375F-B1C6-41B6-8553-AE8683677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1AF28E-4DD5-4EA2-9649-471653AB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12  产品 OpenSpec 介绍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8A5003-C2B5-42F8-9F26-3D0CEA34C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OpenSpec用“当前规范 + 变更提案”控制存量项目的需求漂移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DD7A9D-375E-483B-B9B4-72268A5D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71600"/>
            <a:ext cx="33718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9525">
            <a:solidFill>
              <a:srgbClr val="315A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D62707-0AB8-4D88-80BF-F93E0909F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90675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15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A7D"/>
                </a:solidFill>
                <a:latin typeface="Microsoft YaHei"/>
                <a:ea typeface="Microsoft YaHei"/>
                <a:cs typeface="Microsoft YaHei"/>
              </a:rPr>
              <a:t>openspec/specs/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1FCA41-AFE2-49C8-93C5-C20BFF28E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85975"/>
            <a:ext cx="29146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当前已生效的事实来源</a:t>
            </a:r>
          </a:p>
          <a:p xmlns:a="http://schemas.openxmlformats.org/drawingml/2006/main">
            <a:pPr algn="ctr">
              <a:defRPr sz="112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Requirements + Scenarios</a:t>
            </a:r>
          </a:p>
          <a:p xmlns:a="http://schemas.openxmlformats.org/drawingml/2006/main">
            <a:pPr algn="ctr">
              <a:defRPr sz="112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供所有Agent读取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EE9000-8EE6-4933-A869-F69F482F1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25742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097818-994D-4C5F-82D2-86DCDA62C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324350" y="2190750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A8CAC0-6F37-4988-9C25-513549F5E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371600"/>
            <a:ext cx="33718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F1A065-3982-485A-B345-26D65EC00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1590675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openspec/changes/&lt;id&gt;/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B495F8-5D46-413D-97B8-938F8D9BE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009775"/>
            <a:ext cx="29337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proposal.md  为什么/改什么</a:t>
            </a:r>
          </a:p>
          <a:p xmlns:a="http://schemas.openxmlformats.org/drawingml/2006/main">
            <a:pPr algn="ctr">
              <a:defRPr sz="1088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design.md  怎么实现</a:t>
            </a:r>
          </a:p>
          <a:p xmlns:a="http://schemas.openxmlformats.org/drawingml/2006/main">
            <a:pPr algn="ctr">
              <a:defRPr sz="1088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tasks.md  实施清单</a:t>
            </a:r>
          </a:p>
          <a:p xmlns:a="http://schemas.openxmlformats.org/drawingml/2006/main">
            <a:pPr algn="ctr">
              <a:defRPr sz="1088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specs/  规格增量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458996-203C-46A3-965F-8BA3D17B3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25742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C98DA3-D4DF-4136-9B65-E48730EE1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362950" y="2190750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D330BB-3750-4E65-A926-23F61F91A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371600"/>
            <a:ext cx="29908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207A5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C698E5-0424-4E7B-86B1-23D1EC6F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90675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07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07A52"/>
                </a:solidFill>
                <a:latin typeface="Microsoft YaHei"/>
                <a:ea typeface="Microsoft YaHei"/>
                <a:cs typeface="Microsoft YaHei"/>
              </a:rPr>
              <a:t>Archive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2083DE-0047-46A5-ABB6-2E28BABB4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05025"/>
            <a:ext cx="2533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实现并验证后归档变更</a:t>
            </a:r>
          </a:p>
          <a:p xmlns:a="http://schemas.openxmlformats.org/drawingml/2006/main">
            <a:pPr algn="ctr">
              <a:defRPr sz="112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把批准的规格增量合并回</a:t>
            </a:r>
          </a:p>
          <a:p xmlns:a="http://schemas.openxmlformats.org/drawingml/2006/main">
            <a:pPr algn="ctr">
              <a:defRPr sz="112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当前规范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AFC52E-8F67-4B93-8A8D-45074DD64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76650"/>
            <a:ext cx="2000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64BCAE-00F6-404F-B580-B912C9091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177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/opsx:explore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2146CA-63B7-4ED0-889E-145AA2F54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理解存量代码、权衡方案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740D40-AC54-4B45-9B28-43EE4FE36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76650"/>
            <a:ext cx="2000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1121BE-C8D2-4772-B8A2-F908A429E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857625"/>
            <a:ext cx="177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/opsx:propose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2C8A5C-E2AD-416C-AB4E-B3F159F81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26720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生成提案、规格、设计、任务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935C19-0918-4966-89AA-C2325C067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676650"/>
            <a:ext cx="2000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6564CE-6DBB-427C-8E81-6027BEA00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857625"/>
            <a:ext cx="177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/opsx:apply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BF4EEF-C702-4A76-842B-0FFC0C645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26720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按任务实现并持续更新状态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D04E93-066F-49FE-96E3-AED5740F5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676650"/>
            <a:ext cx="2000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E33E1C-009C-47FA-A361-D962FE233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857625"/>
            <a:ext cx="177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/opsx:verify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E1E307-7314-4735-BFDC-504EF5455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26720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核对实现、场景和验收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502D24-C732-4EDF-B282-68B84E566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676650"/>
            <a:ext cx="2000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329182-D4CA-4E0C-A28C-9A9C948AA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857625"/>
            <a:ext cx="177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/opsx:archive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3701B4-C246-4951-A40D-BE85A9874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26720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归档变更并更新当前规范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F500874-DD74-4CAA-A4F0-9101C7429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0"/>
            <a:ext cx="110680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BD77798-59D0-4E42-9307-4DC5A3F6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与其他机制的关系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F81355-22A4-43F6-B7F6-3F5F44A8D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5229225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AGENTS.md / Rules 管“Agent如何工作”；OpenSpec 管“系统当前应是什么、这次要改什么”；Quest/SDD 管“如何生成并执行任务”。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9C9E4DB-9FBD-4EDA-B929-6D1D911DD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91275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solidFill>
              <a:srgbClr val="D7DAD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0764781-C7EF-4C46-89A5-08F949E08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rPr>
              <a:t>官网资料复核：2026-07-23  |  来源：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c1697c041174d78"/>
              </a:rPr>
              <a:t>OpenSpec GitHub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A04D89E-FCD3-426C-AEFB-C563DED75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32062236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A212E21-8111-487C-ADCC-05A3680F7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0582EA-A9F8-4E28-AED9-FE9ADE7B4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13  最佳实践：如何省 Tokens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D97E2B-AC30-4107-B041-A6B9B2708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省Token的本质：减少无效上下文、重复推理和失败重试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4CB297-B035-4B91-BE1C-AC9A1DAE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23975"/>
            <a:ext cx="11068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8D78FA-193E-4050-BD2B-A1E2B62F3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10610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总消耗 = 稳定上下文 + 本次检索 + 对话历史 + 工具结果 + 输出 + 重试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945D2E-0CB7-4188-A2E8-7D965C07B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24100"/>
            <a:ext cx="2552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401FCC-E66B-4D51-AB50-45377E7D5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7650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01  控制输入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2AE0DC-F5BA-4008-8352-DB4CBF7D6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432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513BB4-BF7F-49AA-8ABE-DA108E445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2076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写清目标、范围、验收和禁止项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F61959-0C0B-41DB-A12A-2B7E7ACCE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528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46B530-92F1-490D-8235-C4F34E0BF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86125"/>
            <a:ext cx="2076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只附相关文件/章节，先定位再展开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E3DF48-62A6-4FAD-A4C1-BBD1B816F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324100"/>
            <a:ext cx="2552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E12A0C-92DB-4B7D-9FB8-A2CA70E5F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7650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02  分层规则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B44673-E433-4AC9-AABC-F9CA84D63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9432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2A58D7-3241-41DA-A69E-ACB95366D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876550"/>
            <a:ext cx="2076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根AGENTS.md保留全局约束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58B8BC-1F55-4644-80FD-104334132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3528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14D3ED-6FFF-4FE5-A174-115363679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286125"/>
            <a:ext cx="2076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子目录规则就近生效，避免全仓注入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34DD4C-5390-4991-A566-503E7EA0F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24100"/>
            <a:ext cx="2552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F219FA-3B07-4750-95DA-A14541C2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7650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03  检索替代粘贴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4529B2-5E39-4117-B477-A2243A25C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432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1A673B-3A4E-49E0-96DD-2A83696D5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76550"/>
            <a:ext cx="2076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用Codebase/Repo Wiki召回Top-K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4C2115-241B-466C-92F4-D6C6818D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3528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586251-DDB1-46B5-9335-C905A2F68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86125"/>
            <a:ext cx="2076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输出带引用，发现缺口再二次检索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7FDD48-86F2-46F1-9047-9E3A0E0BF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324100"/>
            <a:ext cx="2552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6EE031-AD26-48C7-9B9E-3A40A9D7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47650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04  复用稳定前缀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EAA76D-E87D-4761-8CB1-8FB74755A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9432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3304E4-B891-454B-9D33-AF78A7014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876550"/>
            <a:ext cx="2076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固定系统提示、工具定义和规则顺序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0BE707-EE5B-46E5-9EDF-A30CDE8BB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3528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3E374A-CF9B-44A3-90E5-972085367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286125"/>
            <a:ext cx="2076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利用Prompt Cache，避免轻微改写失效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EF6E5D-29D3-45FE-83DD-596135941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0"/>
            <a:ext cx="2552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46B8B5D-8D37-4CA9-BC9A-9857FBBC2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5290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05  控制工具结果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46BB4F5-F096-475C-A4EF-953F20E4E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196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1AFC39B-CED9-4B4E-8417-0B33DE664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52950"/>
            <a:ext cx="2076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日志先过滤、分页、聚合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661F0C3-B7AB-4227-9D13-835EF02BF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292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C24DF6B-BF4B-4BA3-BFC6-C874BF547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62525"/>
            <a:ext cx="2076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截图/DOM/Trace只在需要时展开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2304253-3956-488A-A2DB-B14C4700B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4000500"/>
            <a:ext cx="2552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8DC4D8F-5EC6-4657-A574-7256A3231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15290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06  模型与模式分级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EAB6CD4-E098-4C18-AEEC-94476A26A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6196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8A119E8-D341-4F36-9827-4280E15FF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552950"/>
            <a:ext cx="2076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小模型做搜索、分类、格式化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A5092A2-B2B9-42C0-B719-827975801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0292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4B633A9-32A1-460F-AF5B-BD3A719BC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962525"/>
            <a:ext cx="2076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高推理/多Agent只用于高价值复杂任务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6F0D8A8-1649-4D37-B057-7D13AFFAB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2552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B40F101-AA31-4520-8384-6477E75F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5290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07  缩短会话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8F0E7E6-4C73-4D31-9D51-EF0E54B28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6196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17754BE-DD73-4805-8DE1-1B67BFDD2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52950"/>
            <a:ext cx="2076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阶段结束写摘要/Artifact后新开任务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FF6B07A-C3A5-4A0F-94B9-37E3FBD84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0292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D86B8B3-0B3D-4FC7-9D6E-F869B2F9E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962525"/>
            <a:ext cx="2076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长任务使用Compaction，保留决策与证据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8E94640-0B9B-4B1F-891C-4C409A76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4000500"/>
            <a:ext cx="2552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371E603-7D59-48C0-BA4B-B772A0D60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15290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08  降低重试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09888A3-1FA5-416A-9D01-BF2F0A669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6196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5A4FBAF-1BB7-45CC-88D4-6772F683E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552950"/>
            <a:ext cx="2076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先跑最小验证，再扩大修改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F7ED79F-18DF-44F9-8544-C774B8A40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50292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58E88AE-B989-45F3-A89F-0E9604C62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962525"/>
            <a:ext cx="2076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失败必须读取错误根因，禁止盲目重复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E019EE5-ED70-48F3-984E-F702F6A9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62625"/>
            <a:ext cx="11068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207A52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B0FB24A-3513-43B9-B07C-DD1191233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38825"/>
            <a:ext cx="10744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207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207A52"/>
                </a:solidFill>
                <a:latin typeface="Microsoft YaHei"/>
                <a:ea typeface="Microsoft YaHei"/>
                <a:cs typeface="Microsoft YaHei"/>
              </a:rPr>
              <a:t>团队度量：每个成功任务的输入Token、输出Token、缓存命中率、工具结果量、重试次数和人工复核时间。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2841429-2AD1-4E98-B864-2E13E9E26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91275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solidFill>
              <a:srgbClr val="D7DAD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2FAFBBF-DBD5-45DE-8A3D-2B339666E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rPr>
              <a:t>官网资料复核：2026-07-23  |  来源：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b736a384806450c"/>
              </a:rPr>
              <a:t>Codex节省用量建议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af329c8e4f44687"/>
              </a:rPr>
              <a:t> · OpenAI Prompt Caching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a704eccaa144277"/>
              </a:rPr>
              <a:t> · Qoder Context Compression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89c06b91b1a4c37"/>
              </a:rPr>
              <a:t> · Anthropic Prompt Caching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5B12C28-A56F-4FAF-A37D-4F57BFDF5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522500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2026-07-23T03:08:34.1800000Z</dcterms:created>
  <dcterms:modified xsi:type="dcterms:W3CDTF">2026-07-23T03:08:34.1800000Z</dcterms:modified>
</coreProperties>
</file>