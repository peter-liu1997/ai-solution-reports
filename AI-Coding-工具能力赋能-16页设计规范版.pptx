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bin" ContentType="image/webp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41796446e46459d" /><Relationship Type="http://schemas.openxmlformats.org/officeDocument/2006/relationships/extended-properties" Target="/docProps/app.xml" Id="R73c3e959a4044627" /><Relationship Type="http://schemas.openxmlformats.org/officeDocument/2006/relationships/officeDocument" Target="/ppt/presentation.xml" Id="Rd4b8b8a600d7490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6ae4f89c05942c7"/>
  </p:sldMasterIdLst>
  <p:notesMasterIdLst>
    <p:notesMasterId xmlns:r="http://schemas.openxmlformats.org/officeDocument/2006/relationships" r:id="R3b69040c53bd454d"/>
  </p:notesMasterIdLst>
  <p:sldIdLst>
    <p:sldId xmlns:r="http://schemas.openxmlformats.org/officeDocument/2006/relationships" id="256" r:id="Rc904dbc8fecb4688"/>
    <p:sldId xmlns:r="http://schemas.openxmlformats.org/officeDocument/2006/relationships" id="257" r:id="R73b09188c374451d"/>
    <p:sldId xmlns:r="http://schemas.openxmlformats.org/officeDocument/2006/relationships" id="258" r:id="Re32f308959154a61"/>
    <p:sldId xmlns:r="http://schemas.openxmlformats.org/officeDocument/2006/relationships" id="259" r:id="R1f0c89111a9e458b"/>
    <p:sldId xmlns:r="http://schemas.openxmlformats.org/officeDocument/2006/relationships" id="260" r:id="Rfe2106e61c9e474c"/>
    <p:sldId xmlns:r="http://schemas.openxmlformats.org/officeDocument/2006/relationships" id="261" r:id="Ra4fdedffd2934615"/>
    <p:sldId xmlns:r="http://schemas.openxmlformats.org/officeDocument/2006/relationships" id="262" r:id="R7dd062da8f664996"/>
    <p:sldId xmlns:r="http://schemas.openxmlformats.org/officeDocument/2006/relationships" id="263" r:id="R930ad5a0f63b4d46"/>
    <p:sldId xmlns:r="http://schemas.openxmlformats.org/officeDocument/2006/relationships" id="264" r:id="R848c8acda4c84161"/>
    <p:sldId xmlns:r="http://schemas.openxmlformats.org/officeDocument/2006/relationships" id="265" r:id="R4869d26363554e75"/>
    <p:sldId xmlns:r="http://schemas.openxmlformats.org/officeDocument/2006/relationships" id="266" r:id="R2787772444974280"/>
    <p:sldId xmlns:r="http://schemas.openxmlformats.org/officeDocument/2006/relationships" id="267" r:id="R6bb1c063c73e43bf"/>
    <p:sldId xmlns:r="http://schemas.openxmlformats.org/officeDocument/2006/relationships" id="268" r:id="Rb0e707270c0f439c"/>
    <p:sldId xmlns:r="http://schemas.openxmlformats.org/officeDocument/2006/relationships" id="269" r:id="R69c057d6208b4d37"/>
    <p:sldId xmlns:r="http://schemas.openxmlformats.org/officeDocument/2006/relationships" id="270" r:id="Rbd15a7428f8646b6"/>
    <p:sldId xmlns:r="http://schemas.openxmlformats.org/officeDocument/2006/relationships" id="271" r:id="Rde420b69ea6d43e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42f7f51a399489f" /><Relationship Type="http://schemas.openxmlformats.org/officeDocument/2006/relationships/slideMaster" Target="/ppt/slideMasters/slideMaster1.xml" Id="R66ae4f89c05942c7" /><Relationship Type="http://schemas.openxmlformats.org/officeDocument/2006/relationships/notesMaster" Target="/ppt/notesMasters/notesMaster1.xml" Id="R3b69040c53bd454d" /><Relationship Type="http://schemas.openxmlformats.org/officeDocument/2006/relationships/presProps" Target="/ppt/presProps.xml" Id="Rc262f94b910e45bd" /><Relationship Type="http://schemas.openxmlformats.org/officeDocument/2006/relationships/tableStyles" Target="/ppt/tableStyles.xml" Id="R91a0b64eb02d4159" /><Relationship Type="http://schemas.openxmlformats.org/officeDocument/2006/relationships/slide" Target="/ppt/slides/slide1.xml" Id="Rc904dbc8fecb4688" /><Relationship Type="http://schemas.openxmlformats.org/officeDocument/2006/relationships/slide" Target="/ppt/slides/slide2.xml" Id="R73b09188c374451d" /><Relationship Type="http://schemas.openxmlformats.org/officeDocument/2006/relationships/slide" Target="/ppt/slides/slide3.xml" Id="Re32f308959154a61" /><Relationship Type="http://schemas.openxmlformats.org/officeDocument/2006/relationships/slide" Target="/ppt/slides/slide4.xml" Id="R1f0c89111a9e458b" /><Relationship Type="http://schemas.openxmlformats.org/officeDocument/2006/relationships/slide" Target="/ppt/slides/slide5.xml" Id="Rfe2106e61c9e474c" /><Relationship Type="http://schemas.openxmlformats.org/officeDocument/2006/relationships/slide" Target="/ppt/slides/slide6.xml" Id="Ra4fdedffd2934615" /><Relationship Type="http://schemas.openxmlformats.org/officeDocument/2006/relationships/slide" Target="/ppt/slides/slide7.xml" Id="R7dd062da8f664996" /><Relationship Type="http://schemas.openxmlformats.org/officeDocument/2006/relationships/slide" Target="/ppt/slides/slide8.xml" Id="R930ad5a0f63b4d46" /><Relationship Type="http://schemas.openxmlformats.org/officeDocument/2006/relationships/slide" Target="/ppt/slides/slide9.xml" Id="R848c8acda4c84161" /><Relationship Type="http://schemas.openxmlformats.org/officeDocument/2006/relationships/slide" Target="/ppt/slides/slide10.xml" Id="R4869d26363554e75" /><Relationship Type="http://schemas.openxmlformats.org/officeDocument/2006/relationships/slide" Target="/ppt/slides/slide11.xml" Id="R2787772444974280" /><Relationship Type="http://schemas.openxmlformats.org/officeDocument/2006/relationships/slide" Target="/ppt/slides/slide12.xml" Id="R6bb1c063c73e43bf" /><Relationship Type="http://schemas.openxmlformats.org/officeDocument/2006/relationships/slide" Target="/ppt/slides/slide13.xml" Id="Rb0e707270c0f439c" /><Relationship Type="http://schemas.openxmlformats.org/officeDocument/2006/relationships/slide" Target="/ppt/slides/slide14.xml" Id="R69c057d6208b4d37" /><Relationship Type="http://schemas.openxmlformats.org/officeDocument/2006/relationships/slide" Target="/ppt/slides/slide15.xml" Id="Rbd15a7428f8646b6" /><Relationship Type="http://schemas.openxmlformats.org/officeDocument/2006/relationships/slide" Target="/ppt/slides/slide16.xml" Id="Rde420b69ea6d43e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2d0e9cab891489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f29891b25d54bc3" /><Relationship Type="http://schemas.openxmlformats.org/officeDocument/2006/relationships/notesMaster" Target="/ppt/notesMasters/notesMaster1.xml" Id="R5b79a3d8d05948b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4479e2228ea4e14" /><Relationship Type="http://schemas.openxmlformats.org/officeDocument/2006/relationships/notesMaster" Target="/ppt/notesMasters/notesMaster1.xml" Id="Re149dac4f7a4489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3a1167b6b53444e" /><Relationship Type="http://schemas.openxmlformats.org/officeDocument/2006/relationships/notesMaster" Target="/ppt/notesMasters/notesMaster1.xml" Id="R9ef36339e2a64da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38111fe8994432c" /><Relationship Type="http://schemas.openxmlformats.org/officeDocument/2006/relationships/notesMaster" Target="/ppt/notesMasters/notesMaster1.xml" Id="R07301cee8c71436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b2cbb6974884cdb" /><Relationship Type="http://schemas.openxmlformats.org/officeDocument/2006/relationships/notesMaster" Target="/ppt/notesMasters/notesMaster1.xml" Id="R47a6a785e9784f6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5a0f32cafbd4006" /><Relationship Type="http://schemas.openxmlformats.org/officeDocument/2006/relationships/notesMaster" Target="/ppt/notesMasters/notesMaster1.xml" Id="R7c20f1d48dbf48f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00b583b16ac4534" /><Relationship Type="http://schemas.openxmlformats.org/officeDocument/2006/relationships/notesMaster" Target="/ppt/notesMasters/notesMaster1.xml" Id="Rf2c3f5d3df7946d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ab55a3acf7c4d50" /><Relationship Type="http://schemas.openxmlformats.org/officeDocument/2006/relationships/notesMaster" Target="/ppt/notesMasters/notesMaster1.xml" Id="R344ce050b2af455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2cac7c0011d4da7" /><Relationship Type="http://schemas.openxmlformats.org/officeDocument/2006/relationships/notesMaster" Target="/ppt/notesMasters/notesMaster1.xml" Id="R6030254394e943e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eb29108d6cc41ce" /><Relationship Type="http://schemas.openxmlformats.org/officeDocument/2006/relationships/notesMaster" Target="/ppt/notesMasters/notesMaster1.xml" Id="Rd1c52b06e20b4d0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660cbfac11a4264" /><Relationship Type="http://schemas.openxmlformats.org/officeDocument/2006/relationships/notesMaster" Target="/ppt/notesMasters/notesMaster1.xml" Id="R4785a58ee1d6413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cf9db24ebdd471f" /><Relationship Type="http://schemas.openxmlformats.org/officeDocument/2006/relationships/notesMaster" Target="/ppt/notesMasters/notesMaster1.xml" Id="R952469f07a2d445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fb5d190386d45db" /><Relationship Type="http://schemas.openxmlformats.org/officeDocument/2006/relationships/notesMaster" Target="/ppt/notesMasters/notesMaster1.xml" Id="Rfbc98635e223442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f2c2a14db584ec1" /><Relationship Type="http://schemas.openxmlformats.org/officeDocument/2006/relationships/notesMaster" Target="/ppt/notesMasters/notesMaster1.xml" Id="Re27b88a5ed22478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b15ce6714684fcc" /><Relationship Type="http://schemas.openxmlformats.org/officeDocument/2006/relationships/notesMaster" Target="/ppt/notesMasters/notesMaster1.xml" Id="Re020246735e24e9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8a7f1e8dcc94522" /><Relationship Type="http://schemas.openxmlformats.org/officeDocument/2006/relationships/notesMaster" Target="/ppt/notesMasters/notesMaster1.xml" Id="R6cc2ba075a824e0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0deab19b7b449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65fcbb5aada4c20" /><Relationship Type="http://schemas.openxmlformats.org/officeDocument/2006/relationships/slideLayout" Target="/ppt/slideLayouts/slideLayout1.xml" Id="R460da5498089401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60da5498089401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10122f828e4793" /><Relationship Type="http://schemas.openxmlformats.org/officeDocument/2006/relationships/image" Target="/ppt/media/image.png" Id="R82959866a0ee4532" /><Relationship Type="http://schemas.openxmlformats.org/officeDocument/2006/relationships/notesSlide" Target="/ppt/notesSlides/notesSlide1.xml" Id="R0e79d4a0c9c8429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8763fde13d4b59" /><Relationship Type="http://schemas.openxmlformats.org/officeDocument/2006/relationships/hyperlink" Target="https://support.huaweicloud.com/productdesc-codeartssnap/codeartsdoer_pd_0001.html" TargetMode="External" Id="R1563fceb69be4a1c" /><Relationship Type="http://schemas.openxmlformats.org/officeDocument/2006/relationships/hyperlink" Target="https://code.claude.com/docs/en/overview" TargetMode="External" Id="R1a39108f731f42f6" /><Relationship Type="http://schemas.openxmlformats.org/officeDocument/2006/relationships/hyperlink" Target="https://docs.qoder.com/" TargetMode="External" Id="R78452837e34d4bef" /><Relationship Type="http://schemas.openxmlformats.org/officeDocument/2006/relationships/hyperlink" Target="https://learn.chatgpt.com/docs" TargetMode="External" Id="R52f5bae2a9a64d66" /><Relationship Type="http://schemas.openxmlformats.org/officeDocument/2006/relationships/notesSlide" Target="/ppt/notesSlides/notesSlide2.xml" Id="R8fab222d9e0947a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47fc8ae2c94cf5" /><Relationship Type="http://schemas.openxmlformats.org/officeDocument/2006/relationships/hyperlink" Target="https://codearts.huaweicloud.com/pricing.html" TargetMode="External" Id="R76bceecb1b2143d9" /><Relationship Type="http://schemas.openxmlformats.org/officeDocument/2006/relationships/hyperlink" Target="https://support.claude.com/en/articles/11049762-choose-a-claude-plan" TargetMode="External" Id="Ra97cefa0b1994d58" /><Relationship Type="http://schemas.openxmlformats.org/officeDocument/2006/relationships/hyperlink" Target="https://docs.qoder.com/account/pricing" TargetMode="External" Id="R1ca38d46d80e4e20" /><Relationship Type="http://schemas.openxmlformats.org/officeDocument/2006/relationships/hyperlink" Target="https://learn.chatgpt.com/docs/pricing" TargetMode="External" Id="Rc86a49cae30540b1" /><Relationship Type="http://schemas.openxmlformats.org/officeDocument/2006/relationships/notesSlide" Target="/ppt/notesSlides/notesSlide3.xml" Id="Re671f61151784e7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4c6746782a4462" /><Relationship Type="http://schemas.openxmlformats.org/officeDocument/2006/relationships/hyperlink" Target="https://codearts.huaweicloud.com/pricing.html" TargetMode="External" Id="Rbe63a04f16f644ed" /><Relationship Type="http://schemas.openxmlformats.org/officeDocument/2006/relationships/hyperlink" Target="https://docs.qoder.com/account/pricing" TargetMode="External" Id="R71c994c170aa4b0d" /><Relationship Type="http://schemas.openxmlformats.org/officeDocument/2006/relationships/hyperlink" Target="https://cursor.com/pricing" TargetMode="External" Id="Ref71a228b2ac4e5e" /><Relationship Type="http://schemas.openxmlformats.org/officeDocument/2006/relationships/hyperlink" Target="https://www.trae.ai/pricing" TargetMode="External" Id="R64238b64049d4b36" /><Relationship Type="http://schemas.openxmlformats.org/officeDocument/2006/relationships/notesSlide" Target="/ppt/notesSlides/notesSlide4.xml" Id="Rfecda06bb0154ae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2ee060587e4434" /><Relationship Type="http://schemas.openxmlformats.org/officeDocument/2006/relationships/image" Target="/ppt/media/image.jpeg" Id="Rf7d084141ac04d9a" /><Relationship Type="http://schemas.openxmlformats.org/officeDocument/2006/relationships/hyperlink" Target="https://docs.qoder.com/account/enterprise/knowledge-base" TargetMode="External" Id="Raa3f01dda11b4c4b" /><Relationship Type="http://schemas.openxmlformats.org/officeDocument/2006/relationships/hyperlink" Target="https://qoder.com/blog/qoder-llm?type=%E6%8A%80%E6%9C%AF" TargetMode="External" Id="R12488e6a50d4498a" /><Relationship Type="http://schemas.openxmlformats.org/officeDocument/2006/relationships/hyperlink" Target="https://support.huaweicloud.com/usermanual-codeartssnap/codeartsagent_ug_0001.html" TargetMode="External" Id="R2eb1ed4b916d49c9" /><Relationship Type="http://schemas.openxmlformats.org/officeDocument/2006/relationships/notesSlide" Target="/ppt/notesSlides/notesSlide5.xml" Id="Re51e3cb31231487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9b1d5a837843fc" /><Relationship Type="http://schemas.openxmlformats.org/officeDocument/2006/relationships/image" Target="/ppt/media/image.bin" Id="R5e68a87c6cd74e9e" /><Relationship Type="http://schemas.openxmlformats.org/officeDocument/2006/relationships/hyperlink" Target="https://qoder.com/blog/qoder-v1-mega-rewrite" TargetMode="External" Id="R677784ebe5834ece" /><Relationship Type="http://schemas.openxmlformats.org/officeDocument/2006/relationships/hyperlink" Target="https://docs.qoder.com/user-guide/quest/execution-environments" TargetMode="External" Id="R38eae7b3637a4d4e" /><Relationship Type="http://schemas.openxmlformats.org/officeDocument/2006/relationships/notesSlide" Target="/ppt/notesSlides/notesSlide6.xml" Id="Rfa9867205d45442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0fdb235a9940b3" /><Relationship Type="http://schemas.openxmlformats.org/officeDocument/2006/relationships/hyperlink" Target="https://support.huaweicloud.com/usermanual-codeartssnap/codeartsagent_ug_0001.html" TargetMode="External" Id="Re84e0d45b11c49b7" /><Relationship Type="http://schemas.openxmlformats.org/officeDocument/2006/relationships/hyperlink" Target="https://docs.qoder.com/user-guide/indexing" TargetMode="External" Id="Red64aa9a63bc40ac" /><Relationship Type="http://schemas.openxmlformats.org/officeDocument/2006/relationships/hyperlink" Target="https://docs.qoder.com/user-guide/repo-wiki" TargetMode="External" Id="R8b7004d5db444efd" /><Relationship Type="http://schemas.openxmlformats.org/officeDocument/2006/relationships/hyperlink" Target="https://docs.qoder.com/account/enterprise/qmind" TargetMode="External" Id="R73074d23b4054d7c" /><Relationship Type="http://schemas.openxmlformats.org/officeDocument/2006/relationships/notesSlide" Target="/ppt/notesSlides/notesSlide7.xml" Id="Rf8274473d8504d5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03064623ef4b2a" /><Relationship Type="http://schemas.openxmlformats.org/officeDocument/2006/relationships/hyperlink" Target="https://code.claude.com/docs/en/workflows" TargetMode="External" Id="Rbe7ed1e70b5d4af8" /><Relationship Type="http://schemas.openxmlformats.org/officeDocument/2006/relationships/hyperlink" Target="https://code.claude.com/docs/en/goal" TargetMode="External" Id="R5493f740273a4923" /><Relationship Type="http://schemas.openxmlformats.org/officeDocument/2006/relationships/hyperlink" Target="https://docs.qoder.com/user-guide/quest/spec-driven" TargetMode="External" Id="Rc5d1ba9e49f347b6" /><Relationship Type="http://schemas.openxmlformats.org/officeDocument/2006/relationships/hyperlink" Target="https://docs.trae.ai/ide/solo-mode" TargetMode="External" Id="R771528087fe24851" /><Relationship Type="http://schemas.openxmlformats.org/officeDocument/2006/relationships/notesSlide" Target="/ppt/notesSlides/notesSlide8.xml" Id="Rc72a1994ebf44f9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a48e42697b4e50" /><Relationship Type="http://schemas.openxmlformats.org/officeDocument/2006/relationships/hyperlink" Target="https://code.claude.com/docs/en/agent-teams" TargetMode="External" Id="R697bbd920c324ba2" /><Relationship Type="http://schemas.openxmlformats.org/officeDocument/2006/relationships/hyperlink" Target="https://code.claude.com/docs/en/workflows" TargetMode="External" Id="R0b1853dde6f748d8" /><Relationship Type="http://schemas.openxmlformats.org/officeDocument/2006/relationships/hyperlink" Target="https://docs.qoder.com/user-guide/quest/overview" TargetMode="External" Id="R4ea8d5c17be54e94" /><Relationship Type="http://schemas.openxmlformats.org/officeDocument/2006/relationships/hyperlink" Target="https://support.huaweicloud.com/usermanual-codeartssnap/codeartsagent_ug_0052.html" TargetMode="External" Id="R00b2c11eaf6e4cb2" /><Relationship Type="http://schemas.openxmlformats.org/officeDocument/2006/relationships/notesSlide" Target="/ppt/notesSlides/notesSlide9.xml" Id="R583a2dd54b0d463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c52c3a3ba64fc2" /><Relationship Type="http://schemas.openxmlformats.org/officeDocument/2006/relationships/image" Target="/ppt/media/image2.png" Id="Re20d333369b7499a" /><Relationship Type="http://schemas.openxmlformats.org/officeDocument/2006/relationships/hyperlink" Target="https://docs.trae.ai/ide/figma-to-code" TargetMode="External" Id="R53586f0cf8104fa5" /><Relationship Type="http://schemas.openxmlformats.org/officeDocument/2006/relationships/hyperlink" Target="https://help.figma.com/hc/en-us/categories/14559151746583-Dev-Mode" TargetMode="External" Id="R1a0b2a0fb90c4fa0" /><Relationship Type="http://schemas.openxmlformats.org/officeDocument/2006/relationships/notesSlide" Target="/ppt/notesSlides/notesSlide10.xml" Id="Rb1e4be824aee4f9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19271bb0bf4893" /><Relationship Type="http://schemas.openxmlformats.org/officeDocument/2006/relationships/hyperlink" Target="https://learn.chatgpt.com/docs/browser" TargetMode="External" Id="Rc1fb7c4236a442a9" /><Relationship Type="http://schemas.openxmlformats.org/officeDocument/2006/relationships/hyperlink" Target="https://docs.trae.ai/ide/browser-and-preview" TargetMode="External" Id="R8e17377cdf3e4d95" /><Relationship Type="http://schemas.openxmlformats.org/officeDocument/2006/relationships/hyperlink" Target="https://playwright.dev/docs/best-practices" TargetMode="External" Id="R7c705590dea6435d" /><Relationship Type="http://schemas.openxmlformats.org/officeDocument/2006/relationships/notesSlide" Target="/ppt/notesSlides/notesSlide11.xml" Id="Rfd9397dbdeed4eb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9cd7290a424e3c" /><Relationship Type="http://schemas.openxmlformats.org/officeDocument/2006/relationships/hyperlink" Target="https://github.com/obra/superpowers" TargetMode="External" Id="R3ec14244be684087" /><Relationship Type="http://schemas.openxmlformats.org/officeDocument/2006/relationships/notesSlide" Target="/ppt/notesSlides/notesSlide12.xml" Id="R78029cc63e464d0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216e43b5604ba3" /><Relationship Type="http://schemas.openxmlformats.org/officeDocument/2006/relationships/hyperlink" Target="https://github.com/Fission-AI/OpenSpec" TargetMode="External" Id="R2640b99d7b0f4584" /><Relationship Type="http://schemas.openxmlformats.org/officeDocument/2006/relationships/notesSlide" Target="/ppt/notesSlides/notesSlide13.xml" Id="R090db0560eb24cf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9f9e77b26c4c03" /><Relationship Type="http://schemas.openxmlformats.org/officeDocument/2006/relationships/hyperlink" Target="https://learn.chatgpt.com/docs/pricing" TargetMode="External" Id="Ra198ae5928564371" /><Relationship Type="http://schemas.openxmlformats.org/officeDocument/2006/relationships/hyperlink" Target="https://platform.openai.com/docs/guides/prompt-caching" TargetMode="External" Id="R0b31f49c9d4d485e" /><Relationship Type="http://schemas.openxmlformats.org/officeDocument/2006/relationships/hyperlink" Target="https://docs.qoder.com/user-guide/context-compression" TargetMode="External" Id="Rd607714f105a418f" /><Relationship Type="http://schemas.openxmlformats.org/officeDocument/2006/relationships/hyperlink" Target="https://docs.anthropic.com/en/docs/build-with-claude/prompt-caching" TargetMode="External" Id="R8fb0bcadb6b64ca9" /><Relationship Type="http://schemas.openxmlformats.org/officeDocument/2006/relationships/notesSlide" Target="/ppt/notesSlides/notesSlide14.xml" Id="Rc1f531a06c33423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41bbe195924976" /><Relationship Type="http://schemas.openxmlformats.org/officeDocument/2006/relationships/image" Target="/ppt/media/image3.png" Id="R90c83fc819c74aa7" /><Relationship Type="http://schemas.openxmlformats.org/officeDocument/2006/relationships/hyperlink" Target="https://docs.bigmodel.cn/cn/coding-plan/learning-resources/how-coding-agent-works" TargetMode="External" Id="R49e2343e213c434c" /><Relationship Type="http://schemas.openxmlformats.org/officeDocument/2006/relationships/notesSlide" Target="/ppt/notesSlides/notesSlide15.xml" Id="Rb7c2debdfe0f4d2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278bcafe854af8" /><Relationship Type="http://schemas.openxmlformats.org/officeDocument/2006/relationships/hyperlink" Target="https://docs.bigmodel.cn/cn/coding-plan/learning-resources/common-workflow" TargetMode="External" Id="Rf9971e91607e4785" /><Relationship Type="http://schemas.openxmlformats.org/officeDocument/2006/relationships/notesSlide" Target="/ppt/notesSlides/notesSlide16.xml" Id="Rc4de2b49d0fb435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959866a0ee4532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4C8FFE-51DA-4D81-A75D-6F82419FE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94D2AC-A4D7-4ADB-AEED-E43C8C1DA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8105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AI Coding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C97D65-B40E-42A6-8A57-30028EC2E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38275"/>
            <a:ext cx="571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工具能力赋能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563699-4CF1-44E1-828F-9E7AACE3C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62200"/>
            <a:ext cx="1181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000F"/>
          </a:solidFill>
          <a:ln xmlns:a="http://schemas.openxmlformats.org/drawingml/2006/main" w="0">
            <a:solidFill>
              <a:srgbClr val="78000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5923B5-86F9-45CC-A65C-5C26C9ED1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28900"/>
            <a:ext cx="590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能力框架 · 编程模式 · Agent工程实践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18D3D3-79D2-44DC-BDF9-9CE26ACA1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05150"/>
            <a:ext cx="657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华为云码道 / Claude Code / Qoder / OpenAI Codex / Cursor / Trae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BB8F35-A5C5-4F76-9B46-E847E9A41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48125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部门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074F82-FB53-452B-B40D-C08DBF28A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48125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____________________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94E4E2-0925-4870-8299-57EE43117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434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F"/>
          </a:solidFill>
          <a:ln xmlns:a="http://schemas.openxmlformats.org/drawingml/2006/main" w="0">
            <a:solidFill>
              <a:srgbClr val="D7DA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AFF104-46E5-4049-BB2B-A840E424E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048125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作者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619727-0E2A-4AE9-8229-63761F838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048125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____________________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AF2232-DB4E-4A6C-8107-6D4925063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3434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F"/>
          </a:solidFill>
          <a:ln xmlns:a="http://schemas.openxmlformats.org/drawingml/2006/main" w="0">
            <a:solidFill>
              <a:srgbClr val="D7DAD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EA653C-ACE5-4BAC-8BB4-8368EF238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8630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日期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D40570-162F-4897-B164-1D4279DBF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68630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2026年7月23日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C0D4D4-ACA5-4BF5-926D-6FAA7D3B1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815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F"/>
          </a:solidFill>
          <a:ln xmlns:a="http://schemas.openxmlformats.org/drawingml/2006/main" w="0">
            <a:solidFill>
              <a:srgbClr val="D7DAD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412A88-765B-4124-A56D-D535B92D4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68630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安全级别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EFF0B7-2735-4BEF-8C3A-AA2F12A6F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68630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内部公开（可修改）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7202F5-5DD9-48A9-A40C-A625524D3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9815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F"/>
          </a:solidFill>
          <a:ln xmlns:a="http://schemas.openxmlformats.org/drawingml/2006/main" w="0">
            <a:solidFill>
              <a:srgbClr val="D7DAD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B032C5-6540-42B7-9E70-D2FDE850B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810250"/>
            <a:ext cx="1790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78000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9C3D37-BEE1-44F4-A805-2E9E4B921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5962650"/>
            <a:ext cx="1485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品牌标识占位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2E3664-3897-43C4-9145-4C97B8457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0077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rPr>
              <a:t>AI Coding 工具能力赋能 · 设计规范版</a:t>
            </a:r>
          </a:p>
        </p:txBody>
      </p:sp>
    </p:spTree>
    <p:extLst>
      <p:ext uri="{BB962C8B-B14F-4D97-AF65-F5344CB8AC3E}">
        <p14:creationId xmlns:p14="http://schemas.microsoft.com/office/powerpoint/2010/main" val="19349456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B2351F2-549F-4565-B7AA-169F39313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C42B7E-2BAE-4F55-B23D-285F5BCB1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01  能力分类总览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DAF7CD-7ED0-47E7-AA1E-BE9783A46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六类能力共同构成 AI Coding 的工程闭环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D1D440-C4B1-45BF-87B5-27C59D13F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66850"/>
            <a:ext cx="33337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58233E-2905-4693-AB4A-09F431715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DF0887-5A05-4A85-96A2-716DA4CD2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002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上下文与知识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665492-28BF-4477-A7A9-6C5840AA6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2990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Codebase · CodeWiki · 知识引擎 · 规则/记忆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429D76-AEBD-46A3-B195-41F1D605B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读懂仓库、业务和团队约束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8AEEB1-842F-45C0-9674-66D2854B3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466850"/>
            <a:ext cx="33337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D8E46A-F68C-43C9-A8B9-1D0316808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6192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4020CC-9A73-47C8-A0D0-00F15AB6E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6002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任务与编程模式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DEAFD6-11D9-49BF-8B8A-32FD1B1E6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47875"/>
            <a:ext cx="2990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Workflow · Goal · SDD · Solo · Quest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9BF85B-852F-474E-9F8E-0EB18069F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3365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把需求变成可跟踪执行过程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463FE7-EB63-4EB1-BD9E-327C94E1B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466850"/>
            <a:ext cx="33337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2568F2-EBAC-4984-9B61-EDCA0C71D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192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EA7D3E-E678-4666-853C-17BD69A60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002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工具与交互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50AB2B-4CCF-4B13-9A50-95F63DE46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47875"/>
            <a:ext cx="2990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CLI · MCP · Hooks · Browser · Figma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A1716D-3AF4-46CD-AD57-87FCF5DA1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3365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连接终端、浏览器和外部系统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5C504F-54F0-4F8F-B417-AB80E33D9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71850"/>
            <a:ext cx="33337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9EDB8B-155C-4C2C-9753-75EEF5D58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92B9BF-715A-4FD8-9E9D-65089278B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052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Agent协作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C4512D-DF16-42BF-84C5-293A11B7A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52875"/>
            <a:ext cx="2990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Sub Agent · Agent Team · Worktree · Cloud Agent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9B6DD9-B3D6-4117-B9CE-2A2D05E13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3865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并行分工并隔离上下文与代码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41736C-3329-4DAD-A28F-88A1C05B1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371850"/>
            <a:ext cx="33337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4A5FBF-396F-4B0F-ACD3-1CF25FD11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5242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E5CFA7-BA38-4328-94B8-9D1221C27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5052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质量与治理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3A61FD-9986-476D-B04C-F1EFC4B1E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952875"/>
            <a:ext cx="2990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Review · Security · Sandbox · 审计/配置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4E136C-3D57-4AEF-9546-0B22B7633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43865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让结果可验证、风险可追踪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8EE635-148E-4E38-981D-CBCEE3288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371850"/>
            <a:ext cx="33337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EBCE765-C8AA-4278-B053-6E74AF824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5242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87644FB-BAAD-4FE0-9431-17289D825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052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体验与交付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B690C8A-433F-4922-A6B1-50A0D1D17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52875"/>
            <a:ext cx="2990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Artifacts · Canvas · LSP · Debug · Channels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9319427-13B3-4A0A-839D-B2EE906FC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43865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缩短从想法到可运行成果的路径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26BA382-22AB-47C0-8D96-829FF4C6D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57825"/>
            <a:ext cx="10801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判断标准：上下文可靠 → 过程可控 → 结果可审 → 风险可追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A0FB0E7-0D38-499B-9B27-3BC464D85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91275"/>
            <a:ext cx="11068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F"/>
          </a:solidFill>
          <a:ln xmlns:a="http://schemas.openxmlformats.org/drawingml/2006/main" w="0">
            <a:solidFill>
              <a:srgbClr val="D7DAD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578152C-2AF1-41A5-8342-79B63CBED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13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rPr>
              <a:t>官网资料复核：2026-07-23  |  来源：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563fceb69be4a1c"/>
              </a:rPr>
              <a:t>码道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a39108f731f42f6"/>
              </a:rPr>
              <a:t> · Claude Code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78452837e34d4bef"/>
              </a:rPr>
              <a:t> · Qoder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52f5bae2a9a64d66"/>
              </a:rPr>
              <a:t> · Codex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0C15580-A47A-4464-83A2-8ACBA7855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405896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662B09F-6902-4F81-997E-076EB53F8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AF04F2-3FB3-4EA7-8B98-22DCED011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02  套餐差异总览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890D44-F686-46A0-B919-E90DA7736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套餐升级的本质：从个人用量走向团队资产与企业治理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D66CEB-0E25-4B2A-B1EB-13811E300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66687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000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1C163D-38A2-4DE1-B45C-FE8802C16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09700"/>
            <a:ext cx="151447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产品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DE4C08-31AA-4823-A657-E6DE9BDF9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1352550"/>
            <a:ext cx="233362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000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7438E3-2FE3-4727-9835-F7E3D57CD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1409700"/>
            <a:ext cx="218122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个人主线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F6A293-E419-4E02-BED8-F4B9B01BE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352550"/>
            <a:ext cx="252412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000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3D5FBC-6391-4479-BA3A-7F0616FE0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409700"/>
            <a:ext cx="237172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团队 / 企业主线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1849BC-6037-4F6E-A08D-C6DABDD4B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1352550"/>
            <a:ext cx="454342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000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31631E-846B-43C8-B3B3-F36C99039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1409700"/>
            <a:ext cx="439102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升级后获得的关键能力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1DE809-ACA9-4F8B-9225-8736BE56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3639"/>
            <a:ext cx="166687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97E77F-BBCD-4F02-B679-78DBCCF08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60789"/>
            <a:ext cx="151447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华为云码道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B38E9B-1B86-4E11-896E-C0B7AF398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1903639"/>
            <a:ext cx="233362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34032B-7CBD-4A64-AB1A-0AFEAD3DF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1960789"/>
            <a:ext cx="218122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体验版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E6A192-0EAE-45FB-8C43-974E57BD6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903639"/>
            <a:ext cx="252412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9999AB-03EF-40EF-B1E1-015E957DC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960789"/>
            <a:ext cx="237172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基础版 / 专业版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BC8325-4A32-4E88-9CF4-9369577A5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1903639"/>
            <a:ext cx="454342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F92BCD-1F55-4F53-8C86-7DCFE6FB0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1960789"/>
            <a:ext cx="439102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Token、Codebase容量；专业版增加SSO、日志、模型与用量管理、IP白名单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4DDAB3-C800-48D5-83AB-8547C4E20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54729"/>
            <a:ext cx="166687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513853-2DFA-4A87-A479-843705991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11879"/>
            <a:ext cx="151447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Claude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BAA716-D0A1-44A6-BC55-53FF891FC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2454729"/>
            <a:ext cx="233362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D32DD6-C8A1-4F36-89F9-1E0F5DB01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2511879"/>
            <a:ext cx="218122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Free / Pro / Max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E2EBB3-00D0-40A9-B146-527A56415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54729"/>
            <a:ext cx="252412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69A6E1-8346-45F6-861D-6446AFA6D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11879"/>
            <a:ext cx="237172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Team Standard / Premium / Enterprise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A83BD3-58E6-41B3-B348-3A95D1802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2454729"/>
            <a:ext cx="454342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8BD6B3-A6EB-4637-8ED3-4BF06760B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511879"/>
            <a:ext cx="439102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成员管理、RBAC、SSO、连接器、Spend Controls与更高用量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108903B-AD41-40AC-913C-3AFD0704E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05818"/>
            <a:ext cx="166687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C89511A-0A05-46B2-A22A-D798A78EB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62968"/>
            <a:ext cx="151447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Qoder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DD6653C-3060-4CF7-8A49-E15E5B35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3005818"/>
            <a:ext cx="233362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1AEA299-6964-4B92-9773-203A5114E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3062968"/>
            <a:ext cx="218122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Free / Pro / Pro+ / Ultra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E8B26F3-60FF-4F69-8B91-099B81C26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05818"/>
            <a:ext cx="252412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03336E7-42F9-41F3-9B00-C8D53DEB0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062968"/>
            <a:ext cx="237172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Teams / Enterprise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0D33ED6-C02F-4305-91BA-121BCEC73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005818"/>
            <a:ext cx="454342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A90C17E-44DE-4D4B-9A1C-D781D6606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062968"/>
            <a:ext cx="439102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每席Credits或共享池；集中分发、模型路由、内容安全、审计与OpenAPI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FF46C85-12C9-4436-A01A-94924610F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56907"/>
            <a:ext cx="166687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13300F7-0BC9-4ABB-AF7A-8645C7E69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4057"/>
            <a:ext cx="151447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Codex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38B6C6D-72DB-4068-9E5B-EA4899F23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3556907"/>
            <a:ext cx="233362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34B10B1-A24F-4E93-85BD-7ACDD131A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3614057"/>
            <a:ext cx="218122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Free / Go / Plus / Pro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AE6F7BE-BCB4-4DCC-A2CC-98B75C410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556907"/>
            <a:ext cx="252412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1BDD5F2-E96C-4A40-BDD2-9AFE979A6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614057"/>
            <a:ext cx="237172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Business / Enterprise / Edu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87828C0-AB4F-41E6-81AD-F7709C927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556907"/>
            <a:ext cx="454342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5743003-958F-4DBB-850E-21087DAFD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614057"/>
            <a:ext cx="439102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安全工作区、更大VM、SAML；再升级到SCIM、EKM、审计与数据驻留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7F07F01-8D3A-45B7-A3BE-84FC3432B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07996"/>
            <a:ext cx="166687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AF8D08C-E3F1-47FF-86B8-51C65AABD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65146"/>
            <a:ext cx="151447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Cursor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275A4E2-993C-467F-A0AB-01A08F22F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4107996"/>
            <a:ext cx="233362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DABE50D-ADED-4FFA-8147-EB68ED66D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4165146"/>
            <a:ext cx="218122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Hobby / Pro / Pro+ / Ultra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1250C1D-FB4B-493B-BEEA-4401BB4EA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107996"/>
            <a:ext cx="252412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8477BD1-E9D6-49C6-800D-CD7288F25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165146"/>
            <a:ext cx="237172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Teams / Enterprise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BF9DBD5-DD58-48AA-8CCF-8D973ED12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4107996"/>
            <a:ext cx="454342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9302E14-7710-4E95-B004-D70453D3E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165146"/>
            <a:ext cx="439102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共享上下文、内部Marketplace、Bugbot；企业级访问控制、审计与Pooled Usage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3EB3E1C-A5BF-4A24-84E4-74B7F8E64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59086"/>
            <a:ext cx="166687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7D20B14-01D5-40D7-8DEA-997550793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16236"/>
            <a:ext cx="151447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Trae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A045B3A-80DB-445C-AA21-D113683A2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4659086"/>
            <a:ext cx="233362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8C7EE1B-24AC-4560-A04E-38CC3E1A5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4716236"/>
            <a:ext cx="218122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Free / Lite / Pro / Pro+ / Ultra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994D6E6-6F89-4534-8609-31AD5FB0A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659086"/>
            <a:ext cx="252412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48B1101-2883-49E9-8DBB-5DECF7496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716236"/>
            <a:ext cx="237172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企业方案需询价确认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5246CE1-FF55-456D-8235-3B0D2ED59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4659086"/>
            <a:ext cx="454342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B194CE9-7973-434E-A4A5-98AC24672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716236"/>
            <a:ext cx="439102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个人档主要按Basic Usage与Solo并发分层；企业治理细节需单独核验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5EA7E00-1E54-4A53-8C49-F63619C78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10200"/>
            <a:ext cx="1106805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D7F44E9-DC37-4C75-AF42-7714105C3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选型顺序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E90AF3F-C502-4E3B-ABB9-345945998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610225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先看数据边界和治理要求，再看团队资产复用，最后按重度用户比例配置高额度席位。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6707AF5-FB07-4F75-92CB-1DA3F33E7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91275"/>
            <a:ext cx="11068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F"/>
          </a:solidFill>
          <a:ln xmlns:a="http://schemas.openxmlformats.org/drawingml/2006/main" w="0">
            <a:solidFill>
              <a:srgbClr val="D7DADF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0A0B0F1-F3C3-48BA-A262-E6DE945DF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13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rPr>
              <a:t>官网资料复核：2026-07-23  |  来源：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76bceecb1b2143d9"/>
              </a:rPr>
              <a:t>码道定价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a97cefa0b1994d58"/>
              </a:rPr>
              <a:t> · Claude Plans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ca38d46d80e4e20"/>
              </a:rPr>
              <a:t> · Qoder Pricing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c86a49cae30540b1"/>
              </a:rPr>
              <a:t> · Codex Pricing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0A368D4-73EC-4319-8B08-5A7332D9D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442407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0503E5A-854F-4F26-8C93-F262DFD43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2879B3-E5CA-42E3-B7BC-A77621AB8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03  计费对比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F11BF9-3963-4589-AD93-3FF6E1AD3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Tokens、Credits与Usage Limits不可直接等值横比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9A2E77-A2E1-455E-B2F5-7B7563C6D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71600"/>
            <a:ext cx="54673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9C3429-9FB6-4683-BD39-8F2416371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华为云码道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C19C70-6C23-43FA-847B-27CBFB95D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4859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ACBC8A-59EA-4D41-AD19-BF5D378AF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524000"/>
            <a:ext cx="1371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公开Token包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678F2A-FE27-4111-91DB-70977E90E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57375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¥0 / ¥39 / ¥139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1F2742-1DA7-4698-BF0E-58A254C86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838325"/>
            <a:ext cx="320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500万 / 2000万 / 6000万 Tokens/月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C805E0-5E99-4734-BC8D-EFF9148A8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14600"/>
            <a:ext cx="54673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D78A01-6728-4BAB-9E4C-5EF0F9FBB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Claude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AF1AD5-E6C5-4424-9069-B4DF20D07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6289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FC300C-B59F-46D1-80CC-9C5FBE405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667000"/>
            <a:ext cx="1371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订阅容量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90589E-4994-4204-9AF1-460027015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0375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$20 / $100 / $200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3EA779-E67B-41ED-90D3-4FA5DC279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981325"/>
            <a:ext cx="320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Pro；Max约5x / 20x会话容量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D3A81A-3B9A-4389-8437-05A56EA3A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57600"/>
            <a:ext cx="54673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9C3985-4B6E-432B-ACC3-86317BC7A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909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Qoder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932D99-2467-42E5-ACA3-C94325F1E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7719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BA17E5-E1B4-49D8-956F-4271A709C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810000"/>
            <a:ext cx="1371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Credits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E9BE0F-91E7-4C66-841B-3971A6F07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43375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$20 / $60 / $200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432031-8CF8-4AC6-B4AD-F12B9BEC3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124325"/>
            <a:ext cx="320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2,000 / 6,000 / 20,000 Credits/月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E5DFF5-A978-48A2-B541-7A80B44DC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371600"/>
            <a:ext cx="54673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448129-D252-471B-BC61-2622A1953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049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Codex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04BED6-B29E-42C5-A75F-BAEBC6789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14859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9BD662-C611-4EA4-A77F-AC8CD482C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1524000"/>
            <a:ext cx="1371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订阅+Credits/API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900501-06BA-448C-8C8D-76F5FA07B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57375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209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Plus $20；Business $20年付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33C37E-F07D-48CA-AE17-C5373457B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38325"/>
            <a:ext cx="320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订阅用量限制；API按输入/缓存/输出Token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698A03C-DF80-4912-B49C-3B66AC210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514600"/>
            <a:ext cx="54673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253338F-6EDC-43DD-8C67-C8027A99C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479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Cursor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04C07C2-56D3-4470-85AD-F5F882E1C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6289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2F96BA-4273-4184-ABE6-10FD69563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667000"/>
            <a:ext cx="1371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含量+按量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66CD08F-2A65-48ED-A777-B693140D8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00375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$20个人；$40团队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B38B9AA-2CCC-4154-B05A-4DC39FB89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81325"/>
            <a:ext cx="320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套餐含模型用量，超额可On-demand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987AB27-215D-431C-A763-88E638A28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657600"/>
            <a:ext cx="54673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95591F1-6471-456F-80C7-4EBB0E134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909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Trae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7409F72-35EB-4551-82F4-41C9E4614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7719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2040D53-31F8-4F92-82F2-103DD4400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810000"/>
            <a:ext cx="1371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Basic Usage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A584B24-0F60-4EA3-A94B-239D3AC87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143375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活动与档位动态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4BFBCD9-6AE7-4EB1-A9D2-97511F73F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124325"/>
            <a:ext cx="320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按模型API价格折算Dollar Usage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D6410BF-ADCA-4D48-A4D0-006572720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29200"/>
            <a:ext cx="110680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2E6"/>
          </a:solidFill>
          <a:ln xmlns:a="http://schemas.openxmlformats.org/drawingml/2006/main" w="9525">
            <a:solidFill>
              <a:srgbClr val="A5620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798184E-DF6C-4E83-B570-7CCD6DE32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19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A562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A56200"/>
                </a:solidFill>
                <a:latin typeface="Microsoft YaHei"/>
                <a:ea typeface="Microsoft YaHei"/>
                <a:cs typeface="Microsoft YaHei"/>
              </a:rPr>
              <a:t>建议统一核算单位：每个可验收任务的完全成本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8452A94-BB89-40E6-840C-4B26C504F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81650"/>
            <a:ext cx="5334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席位费 + 超额用量 + 云执行资源 + 人工复核时间 + 失败重试成本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E7CE092-8434-4F2A-9F23-E3CC30664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2197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562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A56200"/>
                </a:solidFill>
                <a:latin typeface="Microsoft YaHei"/>
                <a:ea typeface="Microsoft YaHei"/>
                <a:cs typeface="Microsoft YaHei"/>
              </a:rPr>
              <a:t>试点至少记录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DBDAF6E-BE9E-4781-B35C-86829D728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581650"/>
            <a:ext cx="4286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成功任务数 · 平均Tokens/Credits · 重试率 · 人工复核分钟数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CD75FFE-4CA3-45A6-B667-25535EA32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91275"/>
            <a:ext cx="11068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F"/>
          </a:solidFill>
          <a:ln xmlns:a="http://schemas.openxmlformats.org/drawingml/2006/main" w="0">
            <a:solidFill>
              <a:srgbClr val="D7DAD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F12E988-D4A4-4B8B-A482-2205B4AE8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13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rPr>
              <a:t>官网资料复核：2026-07-23  |  来源：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be63a04f16f644ed"/>
              </a:rPr>
              <a:t>码道定价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71c994c170aa4b0d"/>
              </a:rPr>
              <a:t> · Qoder Pricing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f71a228b2ac4e5e"/>
              </a:rPr>
              <a:t> · Cursor Pricing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4238b64049d4b36"/>
              </a:rPr>
              <a:t> · Trae Pricing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166D292-C565-4218-97F4-BD750D764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597830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4FFFD25-1288-4A30-9EB0-24631666E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3B129C-E01F-494B-87A7-0A818DB42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04  知识引擎的实践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8DAB3F-9E31-4CFD-BBB1-CDB9729DA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知识引擎让 Agent 从“每次重读”变成“持续积累与按需召回”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2C5E86-D997-47D3-85B6-A77815C7B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4810125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d084141ac04d9a"/>
          <a:stretch xmlns:a="http://schemas.openxmlformats.org/drawingml/2006/main"/>
        </p:blipFill>
        <p:spPr>
          <a:xfrm xmlns:a="http://schemas.openxmlformats.org/drawingml/2006/main">
            <a:off x="619125" y="2069012"/>
            <a:ext cx="4676775" cy="13102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50F6C0-E2B9-42E3-B25C-62FD2F5B0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428750"/>
            <a:ext cx="381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497AD2-EB43-44F1-A08E-78398C760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40017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采集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A6B2A0-F90D-4ECD-AE09-DBDDC4EF1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4097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代码、文档、提交、任务与人工知识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965D04-3FB3-4577-9E19-4ADC20492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876425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F"/>
          </a:solidFill>
          <a:ln xmlns:a="http://schemas.openxmlformats.org/drawingml/2006/main" w="0">
            <a:solidFill>
              <a:srgbClr val="D7DAD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3EFA95-5C00-4FB8-8DF4-242BDAADE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295525"/>
            <a:ext cx="381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FDB1BD-03F4-42B2-906E-DD2CC030E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2669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结构化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B66710-CF19-4354-B1D1-D83E59461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276475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解析符号/依赖/业务实体，生成可引用知识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8B12FC-BD76-4788-B861-CFFF53BC6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74320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F"/>
          </a:solidFill>
          <a:ln xmlns:a="http://schemas.openxmlformats.org/drawingml/2006/main" w="0">
            <a:solidFill>
              <a:srgbClr val="D7DAD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260955-E955-4017-A59E-5D22A4768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162300"/>
            <a:ext cx="381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3DD1B0-DFDA-4C47-9475-D4186002A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13372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索引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25C662-0E96-4922-941C-9CE558443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1432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关键词 + 向量 + 图关系，支持增量更新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A7C018-E8F2-4F1D-8E59-459AF9CD9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609975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F"/>
          </a:solidFill>
          <a:ln xmlns:a="http://schemas.openxmlformats.org/drawingml/2006/main" w="0">
            <a:solidFill>
              <a:srgbClr val="D7DAD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FD776A-BFD0-42D8-B06A-138AF8E7D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029075"/>
            <a:ext cx="381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71C9F6-7922-411A-9209-A23F31475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0005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检索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643283-8E09-4409-BB76-42E928582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010025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按任务、文件、角色和权限选择上下文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811A79-E37D-4FC0-BE32-97C13CB17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47675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F"/>
          </a:solidFill>
          <a:ln xmlns:a="http://schemas.openxmlformats.org/drawingml/2006/main" w="0">
            <a:solidFill>
              <a:srgbClr val="D7DAD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32A81B-6497-4F47-A140-5359FCCED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895850"/>
            <a:ext cx="381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67CEDB-F480-4E0B-BAEF-66A9753B2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86727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反馈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B4A347-DE63-4ECA-B5A0-7C552BA45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8768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把验证结果、修正与新知识写回资产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3141E1-0B35-48E0-99BD-A9ABCE530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33875"/>
            <a:ext cx="4810125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085776-9A8E-4627-BA8B-9E3EAD342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529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实践闭环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B99640B-F19B-461A-B8E6-A66A8BDEF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101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95C7B9-8804-46CF-AEE4-73EAF7826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43475"/>
            <a:ext cx="411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冷启动先生成Repo Wiki/知识卡，再由负责人校准关键领域。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4A86ACC-F6F7-483A-9FD7-7F3ACE790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340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1D13062-8A26-4F4F-9D7F-EF93339A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67325"/>
            <a:ext cx="411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任务只召回相关片段，输出必须保留文件、符号和版本依据。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A92D179-32E1-4689-BC94-3B8A5B4EA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578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99FF0F3-00A0-400E-BFF6-500BDD1EE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91175"/>
            <a:ext cx="411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用命中率、过期率、采纳率和任务成功率评估，而非只看索引规模。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25D0E9C-3951-4DBC-A747-2F880D068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91275"/>
            <a:ext cx="11068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F"/>
          </a:solidFill>
          <a:ln xmlns:a="http://schemas.openxmlformats.org/drawingml/2006/main" w="0">
            <a:solidFill>
              <a:srgbClr val="D7DAD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C42E674-E91E-4D24-8AC8-35F28F9E7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13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rPr>
              <a:t>官网资料复核：2026-07-23  |  来源：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aa3f01dda11b4c4b"/>
              </a:rPr>
              <a:t>Qoder Knowledge Engine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2488e6a50d4498a"/>
              </a:rPr>
              <a:t> · Qoder 技术博客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2eb1ed4b916d49c9"/>
              </a:rPr>
              <a:t> · 码道 Codebase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9872A9C-5231-43EE-8FF2-10E2AFC26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15050616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FD3E95E-D956-4C64-B79E-27464C784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A2E426-1A46-4189-8B98-355A657C6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05  存量项目重写的实践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B5EADA-89DD-4951-BBA5-EA5BF8BBC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存量项目重写应先建立认知与验证基线，再并行迁移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C42B89-45A5-4CEA-AA12-26AC24561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23975"/>
            <a:ext cx="47625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pic>
        <p:nvPicPr>
          <p:cNvPr id="8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68a87c6cd74e9e"/>
          <a:stretch xmlns:a="http://schemas.openxmlformats.org/drawingml/2006/main"/>
        </p:blipFill>
        <p:spPr>
          <a:xfrm xmlns:a="http://schemas.openxmlformats.org/drawingml/2006/main">
            <a:off x="619125" y="1398709"/>
            <a:ext cx="4629150" cy="2117482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397C0A-AC33-451D-AB29-6A199F46D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0"/>
            <a:ext cx="16287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61794F-171B-4CF0-BA44-FEF099199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43375"/>
            <a:ext cx="333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F63A90-D6FF-4E1C-81AE-4E26449FA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148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Baseline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626191-F191-4A33-9EA4-7284AD98C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1362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锁定现有行为、接口、性能和测试覆盖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CF8396-66B8-47CF-A5A5-AD63894D4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600575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1983AB-3FA1-42CC-9B5A-08335C95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257425" y="4533900"/>
            <a:ext cx="123825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4706C3-C52F-4E0A-9459-8436CD063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4000500"/>
            <a:ext cx="16287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10270D-71ED-4A68-9198-0062AF2A9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143375"/>
            <a:ext cx="333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BF5C77-0E68-422F-8A78-B85697B4F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41148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Understand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2B8427-EB46-459F-9340-35C1E480C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533900"/>
            <a:ext cx="1362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Codebase/图谱识别模块、依赖、热点和隐式约束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20B144-0E63-4F3F-9FF8-AD9F8D72F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600575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4C6480-D7C2-4543-B2D4-0AC56B643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095750" y="4533900"/>
            <a:ext cx="123825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5B2427-EE69-4039-B9AF-6DF7747E5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000500"/>
            <a:ext cx="16287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2A0FB2-4997-489D-8BA8-3C7409A7E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143375"/>
            <a:ext cx="333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E5B2A2-8D21-454D-968E-7B8F14CB1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1148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Plan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BB8F34-2D33-4818-9396-68CAB4584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533900"/>
            <a:ext cx="1362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按领域边界拆分迁移批次，定义验收与回滚点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B60D9B-D303-4030-87DC-A1C514FDE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600575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59FAA8-2F30-41C2-9C20-8D82A08E5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934075" y="4533900"/>
            <a:ext cx="123825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CA9A9E-5B0E-4891-9AD6-29FD35886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000500"/>
            <a:ext cx="16287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144A8C-AE3E-4AFE-9088-998FF67E5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4143375"/>
            <a:ext cx="333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E8438A-D43B-46F8-B42D-D3438720D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41148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Parallel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C3EC84-EF8C-4E79-A74F-2E1FB4018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4533900"/>
            <a:ext cx="1362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多Agent分模块实施，Worktree隔离文件冲突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CC6068-24C7-491A-A3DE-44A21D5C7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4600575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4C1FAF5-F7A9-4EA2-BF35-5323F2CCB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772400" y="4533900"/>
            <a:ext cx="123825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CD1783C-EC1B-47FC-BF5E-C5D82125B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00500"/>
            <a:ext cx="16287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0474940-8A52-41BA-836C-CCAF1375A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143375"/>
            <a:ext cx="333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C2DD197-5899-43AC-AB62-D6424174F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1148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Verify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0B7EF8F-BB37-4ECE-A04A-F6CF89B6D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533900"/>
            <a:ext cx="1362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双跑、契约/回归/性能/安全测试和人工审查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8F78F87-AC4C-4293-A88D-62AC97BD0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600575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D44134F-DAA9-4083-B29C-DAED03F04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610725" y="4533900"/>
            <a:ext cx="123825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956283D-3B0F-4640-9A62-8E05E8657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4000500"/>
            <a:ext cx="16287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B744524-1CF3-4419-B357-0DC5DF320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4143375"/>
            <a:ext cx="333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35758F0-A8CF-4FAE-9EC1-40E3DB184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1148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Cutover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289B5A1-3B3E-4434-B115-198706977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4533900"/>
            <a:ext cx="1362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小流量切换、指标观察、问题回写知识资产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BDB9BB6-D6A0-4CD4-9999-C1E3B0E4D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323975"/>
            <a:ext cx="59055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AEF54EC-9964-46C8-80E7-C11FBD4F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5525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必须设置的四道闸门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BF498C1-5819-4571-BFE1-B27153365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81200"/>
            <a:ext cx="1238250" cy="2705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000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3C0D17A-0DF4-4A4C-A652-47E3C004A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38350"/>
            <a:ext cx="1085850" cy="156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闸门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0D0D83F-606A-43CE-8E1D-F545ED40F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981200"/>
            <a:ext cx="2619375" cy="2705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000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469C699-EB50-4AE3-AB6E-EB0B91E5A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038350"/>
            <a:ext cx="2466975" cy="156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通过条件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467BA78-2455-4851-83CA-D9874DD2F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1981200"/>
            <a:ext cx="1524000" cy="2705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000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1D03C80-2307-4AF5-8AED-6509CE484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2038350"/>
            <a:ext cx="1371600" cy="156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失败动作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8E60ABD-48EA-4D90-BF4A-B762F8357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251710"/>
            <a:ext cx="1238250" cy="2705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74AB2CB-E6D6-4081-9ADD-33BD0C123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308860"/>
            <a:ext cx="1085850" cy="156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行为一致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E26C62F-BF0B-48BD-9573-DC6FD054A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251710"/>
            <a:ext cx="2619375" cy="2705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E7ED183-4A45-4DBC-A1D2-A7067E758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308860"/>
            <a:ext cx="2466975" cy="156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契约/黄金样本通过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CC966B6-EAE5-4649-8FE5-F309F2B65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251710"/>
            <a:ext cx="1524000" cy="2705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29D282B-4285-4A03-9E43-5D68A5C3A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2308860"/>
            <a:ext cx="1371600" cy="156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回到模块级修复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99B130D-6D64-4DAC-B48C-37C55819C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522220"/>
            <a:ext cx="1238250" cy="2705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C9C2AFD-539D-49B0-969C-A0CC7323A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579370"/>
            <a:ext cx="1085850" cy="156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质量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FBB867D-44A3-4EAC-A6DD-A99B76C24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522220"/>
            <a:ext cx="2619375" cy="2705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5209229-ED5E-4F05-B8AB-4673939C1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579370"/>
            <a:ext cx="2466975" cy="156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回归、性能、静态扫描达标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E0FA135-2D9C-42B4-BC74-003CF27E7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522220"/>
            <a:ext cx="1524000" cy="2705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56435D1-15D4-4D2E-B3BE-C4D953775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2579370"/>
            <a:ext cx="1371600" cy="156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阻断合并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178668D-F907-45FA-A86C-926621DC6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92730"/>
            <a:ext cx="1238250" cy="2705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A256EB4-DADC-49BA-A5C3-C7EBBF904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849880"/>
            <a:ext cx="1085850" cy="156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可回滚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FC395A9-4317-401D-BADA-535259595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792730"/>
            <a:ext cx="2619375" cy="2705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59F9326-A7B0-4C8C-B4CD-1F5C11CCD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849880"/>
            <a:ext cx="2466975" cy="156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旧版本与数据路径可恢复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17EFE4F-DAC6-4E52-8DEF-BAAF28129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792730"/>
            <a:ext cx="1524000" cy="2705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9BA16D0-FC3F-4387-A3AC-62B3A08AE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2849880"/>
            <a:ext cx="1371600" cy="156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禁止切流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20ED220-38A9-4A56-9783-2AE9A148E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063240"/>
            <a:ext cx="1238250" cy="2705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12A514C-ED36-42E8-8A76-655D359D4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120390"/>
            <a:ext cx="1085850" cy="156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可观测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8E73C1F-5ED8-4F90-8D93-357D21EF3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063240"/>
            <a:ext cx="2619375" cy="2705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C29E551-536C-4B5E-9123-8486D599F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120390"/>
            <a:ext cx="2466975" cy="156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指标、日志、告警完整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55337F2-1AC2-4D48-A3DA-196C245E4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063240"/>
            <a:ext cx="1524000" cy="2705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C794DB7-E20F-4576-AF88-0C9C30F59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3120390"/>
            <a:ext cx="1371600" cy="156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延长双跑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D91B31A-9B3F-44E3-8F72-0EE4E9546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81650"/>
            <a:ext cx="11068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关键原则：Agent提升并行度，人负责边界、验收和切换决策。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037AEEC-2ED2-4B74-9E3A-30977F7FB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91275"/>
            <a:ext cx="11068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F"/>
          </a:solidFill>
          <a:ln xmlns:a="http://schemas.openxmlformats.org/drawingml/2006/main" w="0">
            <a:solidFill>
              <a:srgbClr val="D7DADF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DD10C4B-130E-40E4-82CE-396B579C8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13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rPr>
              <a:t>官网资料复核：2026-07-23  |  来源：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77784ebe5834ece"/>
              </a:rPr>
              <a:t>Qoder 存量重写案例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38eae7b3637a4d4e"/>
              </a:rPr>
              <a:t> · Quest Worktree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F77E2BB-84D9-4541-A392-512FEDCAF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9984643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C264798D-AE9B-43A0-BFE6-E435C0F6A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8064AA-0B5D-4426-BD6F-E50561928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06  Codebase及CodeWiki技术深入分析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965DC6-7FA1-4F27-88C0-7C16E8809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Codebase解决“找得到”，CodeWiki解决“看得懂”，图谱解决“串得起”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92A11C-6254-48E8-BEBF-D63526237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38275"/>
            <a:ext cx="2000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5859CC-CF96-4BE9-AE93-971D589B7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6002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源数据层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3E62BC-FDBB-46BA-B626-297A2F8A1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98120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代码 / 文档 / 提交 / Issue / 配置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E3FE4D-734F-4923-99D3-8736992DB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057400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7A804B-ED82-476F-BE11-3B0B45FD6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638425" y="1990725"/>
            <a:ext cx="123825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2301AB-1151-4A4A-9D59-6513C0FAA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438275"/>
            <a:ext cx="2000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2E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2ED1CB-57A5-4487-98F4-DF26814EE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6002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解析层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A11F62-E58A-43E7-ACF4-52C6ABA5E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98120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Tree-sitter / AST / LSP / 符号表 / 依赖解析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F51EA5-D20B-43B4-8A1F-066D06641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57400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B6FFD3-0A59-4B03-9FB1-4CD4FD2C4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848225" y="1990725"/>
            <a:ext cx="123825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52446D-2A5F-4104-9A9A-9641981D2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438275"/>
            <a:ext cx="2000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CFCBEF-B116-4AAB-A6FA-37405BB4D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16002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索引层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725E0C-EE49-4969-A4B3-782C5D6F2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198120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倒排索引 + 向量索引 + 图数据库 + 增量更新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FA1FAE-431E-4766-B461-ED6474485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57400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42E412-D019-4202-97A0-E78E8CE67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058025" y="1990725"/>
            <a:ext cx="123825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EFB0A6-ADA1-4286-80E8-3D0235A04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438275"/>
            <a:ext cx="2000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8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7B75C8-073C-4CC5-896E-9ACDEB5B6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16002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知识层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05180F-65BA-44D2-8668-ABD3788F9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198120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模块摘要 / API说明 / Repo Wiki / 知识卡片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1C15C3-D74B-4DA4-8C3D-FF5D76FBA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057400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8BA9FF-784A-452A-B029-DBF13A94C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267825" y="1990725"/>
            <a:ext cx="123825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FB03AF-7E73-4607-B4F8-F2B841531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438275"/>
            <a:ext cx="2000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D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C4F367-9765-4196-83A3-D8B941A9C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16002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运行时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E4DEBC-64C5-4426-A075-804BD7AD7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198120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意图理解 → 混合检索 → 重排 → 上下文装配 → 引用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83394FD-B5D5-4D0F-9B6E-9B26B3774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099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技术能力对比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AFEC596-8793-468F-ACAA-489E82C78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71850"/>
            <a:ext cx="1857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000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4F79105-9883-4EC6-9785-F5251186B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29000"/>
            <a:ext cx="1704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能力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84D8A5D-5A2A-4BB4-A67B-7B36C26FF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337185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000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876F0C0-8322-4B50-84A6-C07D87EF5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3429000"/>
            <a:ext cx="222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核心输出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0E2B5E9-444C-4D59-94E7-4B5EBAA5F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3371850"/>
            <a:ext cx="228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000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EC9CA41-0BC9-4D8A-859E-FB85EC128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3429000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优势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2600280-6944-4E70-9689-F68BFC8D9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37185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000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EC39F47-FF02-4339-A72B-046CAAED0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429000"/>
            <a:ext cx="222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主要风险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FF36B94-6DDB-461D-813D-9C1A6467F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3371850"/>
            <a:ext cx="21621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000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CFA5F45-52B8-4938-9B8E-F31226045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3429000"/>
            <a:ext cx="20097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关键指标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AAB6DE6-E2BE-4CAC-B5DD-27FBCBAA0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71900"/>
            <a:ext cx="1857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2AA75D0-69A7-4DFF-AB51-ED3B96C4E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29050"/>
            <a:ext cx="1704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Codebase Index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B0CF251-6963-4D44-AF40-981E2C12F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377190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88481E3-B3E3-4FD7-8364-810F7C01A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3829050"/>
            <a:ext cx="222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相关文件/符号/片段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689C3D8-3386-4B5B-B76B-E12B6FD8C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3771900"/>
            <a:ext cx="228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953A0B0-CC24-4B73-9014-8976D6C7A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3829050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实时任务召回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2E0EEE9-9491-4922-BF84-1284814FD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77190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20EF2A2-70D9-4EF5-835C-D95019457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829050"/>
            <a:ext cx="222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噪声、遗漏、权限越界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6B1A52D-15EA-446B-AE4A-36C184BD5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3771900"/>
            <a:ext cx="21621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BD44180-8CEF-4D62-AC16-69939A601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3829050"/>
            <a:ext cx="20097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Recall@K、MRR、时效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69B4FE5-1D82-47EC-98BD-00EBB1254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71950"/>
            <a:ext cx="1857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3F17A50-668B-442F-A087-D482DBF13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29100"/>
            <a:ext cx="1704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CodeWiki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B9F15B3-468B-45E3-A437-8C97B1A17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417195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27CDEDB-D28B-4553-B166-75B0C09BE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4229100"/>
            <a:ext cx="222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架构/模块/API解释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4B78EE6-4A69-4C1F-BD9F-5DDD43C59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4171950"/>
            <a:ext cx="228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2809274-68D2-453A-B9ED-D35B3F04D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4229100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新人和存量项目理解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6987CFF-380A-4670-8373-8181F580A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417195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9028508-5CB1-4CC7-A950-573FF440B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229100"/>
            <a:ext cx="222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摘要过期、事实失真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56A3340-3539-4CCF-9AC1-AC7EB68D1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4171950"/>
            <a:ext cx="21621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8772413-0FE8-46D8-A5F1-19E400E31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4229100"/>
            <a:ext cx="20097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覆盖率、引用率、过期率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B412B2F-2F71-48C7-8E30-D2CE69D52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0"/>
            <a:ext cx="1857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E7F4CDC-5647-4421-8658-02E90B35C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29150"/>
            <a:ext cx="1704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Knowledge Graph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4873059-4A5C-40F1-8DCA-3256271CF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457200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5DFAC57-E373-4B84-B959-EE6466C15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4629150"/>
            <a:ext cx="222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实体、依赖与调用关系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42ABD9F-D5EA-4252-8023-0E6C31C66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4572000"/>
            <a:ext cx="228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36FA36E-0211-4DAC-998B-D474F2933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4629150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跨模块影响分析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8AE5FDD-0AC9-446F-BD51-5D5AFFAD4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457200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74EAE51-EDB5-4367-8DD9-278925E19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629150"/>
            <a:ext cx="222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关系抽取成本高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55B5DCD-4064-45E3-BF6A-4CA6B5356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4572000"/>
            <a:ext cx="21621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5680C2E-BE15-4E76-AB3E-23EED55A7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4629150"/>
            <a:ext cx="20097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边准确率、路径命中率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6634720-1C74-42E6-A771-4EB50B760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72050"/>
            <a:ext cx="1857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44B7D48-B42B-436F-B51A-9383415C7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29200"/>
            <a:ext cx="1704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Knowledge Card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F47EC03-27C1-42E1-B344-F48BEDD28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497205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D727B91-0253-4733-9EBD-B900DC798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5029200"/>
            <a:ext cx="222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可审阅的经验单元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6B6FC2C-246B-4484-BBAF-8F0898F86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4972050"/>
            <a:ext cx="228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489835E-56E2-4A4D-8D66-F7D9D3017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5029200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人工治理与复用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0FECC43-82CB-40B6-AD99-50024EFC3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497205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B7C51CE-7E17-4D90-B690-C672795C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5029200"/>
            <a:ext cx="222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维护负担、重复知识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8E47573-8FA7-48A4-A5FF-83601C5E9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4972050"/>
            <a:ext cx="21621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55CA39F-73F4-4809-9964-A9B003852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5029200"/>
            <a:ext cx="20097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采纳率、修正率、复用率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38F69FF2-BA43-4E2C-AA10-F46BCD25E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67375"/>
            <a:ext cx="11068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工程结论：索引必须增量更新；生成内容必须带源码引用；权限过滤必须发生在检索前。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CB53A915-3153-4ED6-87BF-1B1F73995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91275"/>
            <a:ext cx="11068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F"/>
          </a:solidFill>
          <a:ln xmlns:a="http://schemas.openxmlformats.org/drawingml/2006/main" w="0">
            <a:solidFill>
              <a:srgbClr val="D7DADF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D0CAB529-E1CE-4E2A-B9A3-FBE1A6F5A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13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rPr>
              <a:t>官网资料复核：2026-07-23  |  来源：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84e0d45b11c49b7"/>
              </a:rPr>
              <a:t>码道 Codebase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d64aa9a63bc40ac"/>
              </a:rPr>
              <a:t> · Qoder Indexing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8b7004d5db444efd"/>
              </a:rPr>
              <a:t> · Qoder Repo Wiki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73074d23b4054d7c"/>
              </a:rPr>
              <a:t> · QMind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52176DFD-4315-458F-91B7-FB304BC08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01871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B7B63A8C-C032-4A96-9B66-C2BFE8688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9089BE-1D8C-4FC4-8211-18135492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07  Workflow、Goal、SDD、Solo、Quest深入对比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1E7093-2D99-439C-BA16-2093A92C1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五种模式分别解决流程复用、目标收敛、规范约束和自主执行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67034D-3145-470C-BD94-172CAB95A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43025"/>
            <a:ext cx="1333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000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3D2731-028D-41BD-B9D1-5E5003224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00175"/>
            <a:ext cx="1181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152CC1-8734-44E0-A43F-60C185905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343025"/>
            <a:ext cx="18573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000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AB162E-DB24-41E7-8BB3-E5ACA5B86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400175"/>
            <a:ext cx="17049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谁持有计划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77EFB0-081C-4A4C-9254-90427E060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1343025"/>
            <a:ext cx="2095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000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A5773E-B237-40D1-ADD7-2EE94E02F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1400175"/>
            <a:ext cx="1943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核心输入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F1F55C-9528-4C44-936D-EDF55989A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1343025"/>
            <a:ext cx="2190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000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4E7880-8A14-43FA-81D6-81C858B52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1400175"/>
            <a:ext cx="20383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主要产物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1D41AC-8482-4CB0-B611-5BA642A50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1343025"/>
            <a:ext cx="1619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000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9448E9-9BE9-4D0E-BF63-1794F6BFE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1400175"/>
            <a:ext cx="14668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人工闸门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DFA8F4-6748-484E-BA5C-7730E9F8D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1343025"/>
            <a:ext cx="19716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000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E3BDB7-61B0-4362-8B45-CFEA99290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1400175"/>
            <a:ext cx="18192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最适用任务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D901B5-7415-4B48-AED2-D725E6566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66900"/>
            <a:ext cx="1333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0F4714-A4B0-4E2D-B0CE-A24D4A06C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24050"/>
            <a:ext cx="1181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Workflow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7FEACE-7BB4-4C9D-A1BA-D73E2200F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866900"/>
            <a:ext cx="18573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2BE891-0957-4B31-B9A1-241738578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924050"/>
            <a:ext cx="17049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脚本/运行时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5B60F6-AEF8-455F-9D45-3F00E169B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1866900"/>
            <a:ext cx="2095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32D596-D3F3-44EE-954F-2D28C2ECD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1924050"/>
            <a:ext cx="1943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阶段、分支、Agent编排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D7A55C-E981-4B4A-9EC5-AC53B1D1B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1866900"/>
            <a:ext cx="2190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14C007-69B8-444A-9D35-65C5E62BF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1924050"/>
            <a:ext cx="20383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可复用JS流程与汇总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ADC896-FDC1-4498-A80C-8006748E1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1866900"/>
            <a:ext cx="1619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20A38E-83B9-4939-9A23-1D61F5E86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1924050"/>
            <a:ext cx="14668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运行前审脚本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3B6E59-C0B7-42AD-8474-07EBD1D65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1866900"/>
            <a:ext cx="19716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FC4201-1323-4247-B579-4976DFD32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1924050"/>
            <a:ext cx="18192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大规模审计、迁移、研究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CC2C69-9284-4006-957D-69C6FFA98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90775"/>
            <a:ext cx="1333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A5F7D7-B6D2-4097-B09E-FBD3C4342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47925"/>
            <a:ext cx="1181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Goal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F5DB169-E025-4F14-A82C-B003E7F5D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390775"/>
            <a:ext cx="18573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444407B-22D3-4AF6-B562-C1DA4056E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447925"/>
            <a:ext cx="17049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当前会话+评估器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3ED5919-29B0-4980-8148-B62538E0E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390775"/>
            <a:ext cx="2095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8D85543-D183-4BB5-A688-86DC110AE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2447925"/>
            <a:ext cx="1943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可验证完成条件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9247AC1-AE8C-4874-A95F-9D477C77D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2390775"/>
            <a:ext cx="2190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71DD632-ED53-42B1-A158-FB3E3B80E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447925"/>
            <a:ext cx="20383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连续多轮执行与状态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4298939-56B3-46B4-8996-E8AD1C77C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390775"/>
            <a:ext cx="1619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72B99CA-7352-4A45-9CB0-EF4C8E2EE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447925"/>
            <a:ext cx="14668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可随时清除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AFC29D4-5D59-4114-B6CC-FE51E361B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2390775"/>
            <a:ext cx="19716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7B05341-5A20-484C-BD93-A51CDF75F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2447925"/>
            <a:ext cx="18192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测试全绿、队列清空、迁移完成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15A598E-432A-4F0D-B9CD-C563C198B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14650"/>
            <a:ext cx="1333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35C803A-6BEE-4878-AB0D-76EA65EC2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71800"/>
            <a:ext cx="1181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SDD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FCC4410-11EF-4E4A-8165-B7F3BDC69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914650"/>
            <a:ext cx="18573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F187988-F971-4798-B8EE-EF49B4EF8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971800"/>
            <a:ext cx="17049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Spec文档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528148B-7B25-4AF8-940B-86FA9C611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914650"/>
            <a:ext cx="2095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48044C1-90FC-47F8-827E-CEA5C5D2A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2971800"/>
            <a:ext cx="1943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需求、设计、任务、验收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730128A-0C3A-43EB-BB69-8E1F6B5D1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2914650"/>
            <a:ext cx="2190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F299D2D-8187-445D-81B9-4A38C650F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971800"/>
            <a:ext cx="20383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可审查规格与实现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836FB37-7822-469F-8D75-B468CA9CA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914650"/>
            <a:ext cx="1619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274E6AD-A9B1-4450-B7A8-774D33074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971800"/>
            <a:ext cx="14668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Spec批准后执行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C909685-E164-4B7E-B13B-ED51900A1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2914650"/>
            <a:ext cx="19716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5E7E8FC-02F7-487A-B495-2A5B6F248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2971800"/>
            <a:ext cx="18192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跨文件功能、变更可追溯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167D9CE-6314-4670-B3BF-D68C16374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38525"/>
            <a:ext cx="1333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F876150-FE90-4398-AD16-BE93B80EF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95675"/>
            <a:ext cx="1181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Solo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7764BA6-9C80-4A08-B999-67706C91C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438525"/>
            <a:ext cx="18573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B32834E-810B-4D6B-9C22-AB3DA9627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495675"/>
            <a:ext cx="17049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产品内置自主Agent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A13BE3E-B399-4C15-A354-293C03B9C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438525"/>
            <a:ext cx="2095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35EDF1F-207E-4068-9D25-2787BBA86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3495675"/>
            <a:ext cx="1943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自然语言目标+项目上下文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3CFB5CB-2423-4803-8EF8-C0B1B7A10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3438525"/>
            <a:ext cx="2190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1D79365-BB94-45E4-BC5A-8D3D2E5C4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3495675"/>
            <a:ext cx="20383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端到端应用与预览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53950DA-37B8-4074-9A5C-AB7CF916C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438525"/>
            <a:ext cx="1619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FCAD009-B3DB-4E59-9357-62B32C54C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3495675"/>
            <a:ext cx="14668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关键动作确认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D98847B-FB96-4550-969D-88C03A36F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3438525"/>
            <a:ext cx="19716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6BEC3EC-7883-426C-851D-3568537AA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3495675"/>
            <a:ext cx="18192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快速原型、前后端一体任务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E5B390B-8859-48FA-9230-70C73A847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62400"/>
            <a:ext cx="1333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3A849A8-796C-415F-961A-1CF57FEFB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19550"/>
            <a:ext cx="1181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Quest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1EF80D2-E391-40C6-B3D6-2F403DDA2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962400"/>
            <a:ext cx="18573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FAB6C0B-F5F7-4A90-81F0-4B28763AB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019550"/>
            <a:ext cx="17049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任务工作台/Agent团队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63E3BA9-E8E9-47BB-8311-3E3E01F4B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962400"/>
            <a:ext cx="2095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F965C1B-D9A9-4447-8CFD-FF1226EBD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4019550"/>
            <a:ext cx="1943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目标或Spec场景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66F98C9-4A40-44C4-BEE4-0FDB7E7AB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3962400"/>
            <a:ext cx="2190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ABC1DAF-DAA6-4BAD-9A03-11FE9613D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4019550"/>
            <a:ext cx="20383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任务、Artifacts、代码与评审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51C6E7E-6B27-4B14-AFDD-3914CA55D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962400"/>
            <a:ext cx="1619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9940108-A5C1-488A-9232-5569B023F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4019550"/>
            <a:ext cx="14668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Accept/Reject/PR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2EFC37F-8D7E-4DF5-BF08-68C5960E4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3962400"/>
            <a:ext cx="19716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080ECBE-7F03-4040-9857-BEFC1EDA2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4019550"/>
            <a:ext cx="18192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长任务、多项目与多Agent协作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C215A46-981B-459D-AD33-FED04046E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0"/>
            <a:ext cx="25527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A2F007A8-17CB-4007-9D7C-4D6BF1CE8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05375"/>
            <a:ext cx="742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rPr>
              <a:t>要重复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290A8BF-B368-4958-9AE4-EB973E0F8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876800"/>
            <a:ext cx="1504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选 Workflow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00CC027-6C9D-42F0-8DFF-C98FFA8E7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同一流程会重复运行，编排本身需要版本化。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99C04EC-6127-4D4B-A2F3-61A7D151F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762500"/>
            <a:ext cx="25527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001C0274-4670-4E3F-9F89-6BC300431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905375"/>
            <a:ext cx="742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rPr>
              <a:t>要完成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B46C9CB7-5FD3-47F9-81EB-56C8FD727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876800"/>
            <a:ext cx="1504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选 Goal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BE323C3C-056D-4DE3-83E4-9E9D5B17E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25780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终态可测量，但路径允许动态调整。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F5341452-1FED-49B0-A42B-791395D01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762500"/>
            <a:ext cx="25527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055AFED8-4E28-4186-ABC4-9E8058A54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905375"/>
            <a:ext cx="742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rPr>
              <a:t>要对齐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D0323EB4-4EAC-4FCB-ACB2-D7180B39B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876800"/>
            <a:ext cx="1504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选 SDD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DF78427F-A0DC-4069-9F9A-130D42A48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25780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多人/多模块开发前必须冻结需求与验收。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93795356-E6CF-433C-93B9-C7CDD5268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762500"/>
            <a:ext cx="25527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B014AE51-CDC9-457C-9EB5-E051BF124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905375"/>
            <a:ext cx="742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rPr>
              <a:t>要自主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73A4301F-6E94-4069-A194-27BD78681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876800"/>
            <a:ext cx="1504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选 Solo / Quest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37A8638A-DC54-4F9A-98A0-47FAD7D7D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25780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把较完整任务交给Agent，并保留关键审批点。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407609EC-446F-454A-9867-2B5D7C036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91275"/>
            <a:ext cx="11068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F"/>
          </a:solidFill>
          <a:ln xmlns:a="http://schemas.openxmlformats.org/drawingml/2006/main" w="0">
            <a:solidFill>
              <a:srgbClr val="D7DADF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B757B3A3-C1C2-4E3C-BB90-0DB504352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13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rPr>
              <a:t>官网资料复核：2026-07-23  |  来源：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be7ed1e70b5d4af8"/>
              </a:rPr>
              <a:t>Claude Workflow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5493f740273a4923"/>
              </a:rPr>
              <a:t> · Claude Goal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c5d1ba9e49f347b6"/>
              </a:rPr>
              <a:t> · Qoder SDD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771528087fe24851"/>
              </a:rPr>
              <a:t> · Trae SOLO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66DDBDF0-0EB3-423A-BD88-0B8AC05FE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2136798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43072D6-8764-4095-BB48-A633A98F8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5B84C0-9CC7-42BF-8AB4-600E44D20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08  多Agent协作技术深入分析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C6C1F0-AF62-4AF9-AF65-BE50F16BF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多Agent协作的核心不是数量，而是角色、隔离、依赖和汇总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2F25B0-2C09-4D9D-AF37-DCC341410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390650"/>
            <a:ext cx="30861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DDDAAF-86E1-44C2-ABE6-BC1A522C4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543050"/>
            <a:ext cx="259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Lead / Supervisor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330155-E829-4C0C-974A-F66B4E0A4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857375"/>
            <a:ext cx="2590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拆任务 · 管依赖 · 分配预算 · 汇总决策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E8AE93-B24C-4C99-96A8-0A68FC611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171700"/>
            <a:ext cx="19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75BF4F-DD0F-4E8D-AD01-74AC0E432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33650"/>
            <a:ext cx="2552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82BE87-BC93-4037-BEEF-40BDFBBB2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14625"/>
            <a:ext cx="220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探索Agent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35BD6D-DE45-4A98-B630-C35CA2F2A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2209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代码结构 / 影响面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5F0E3B-4A57-4530-A793-47F095B56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533650"/>
            <a:ext cx="2552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FBB668-C3B1-48D5-BB64-54E7A149E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714625"/>
            <a:ext cx="220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实现Agent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E0ECD3-9364-4621-9728-E73DAEA5B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3124200"/>
            <a:ext cx="2209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模块开发 / 测试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A0E497-58B0-4119-8D41-FEB975271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33650"/>
            <a:ext cx="2552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BD4747-ECCC-47C1-BE5D-22DFC2C7C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14625"/>
            <a:ext cx="220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审查Agent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B30961-8C73-4882-9003-24576C93D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124200"/>
            <a:ext cx="2209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规范 / 质量 / 安全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18F782-E9EC-4757-B597-8C512FC7B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533650"/>
            <a:ext cx="2552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C79B4A-C1DB-4799-871F-B8179C11A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714625"/>
            <a:ext cx="220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验证Agent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EF4CDC-CE6E-4E9C-A50C-5C014AFC4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124200"/>
            <a:ext cx="2209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构建 / UI / 回归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062D69-7738-41D9-92DE-7386FC55D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7667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四个工程控制点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79F6DB-77E8-4543-80EA-8DF2D38C7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76725"/>
            <a:ext cx="25527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079B87-6192-4AD3-838B-18E0F54EA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291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0591C8-D458-4EA8-80AE-10A79FC67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1007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上下文隔离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28D371-17CF-4065-A96D-41E289929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2209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每个Agent只拿任务所需上下文，降低串扰与Token。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859464-5015-4508-8EBB-654D2021E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4276725"/>
            <a:ext cx="25527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ED7979-A4F8-40FA-ABA2-30958E3BD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44291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CA1DC2-C079-47FC-847A-1689B8293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441007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代码隔离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3E8375-F612-4EFB-9D15-9F7E077FE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4762500"/>
            <a:ext cx="2209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Worktree/VM/容器分支，明确文件所有权，避免覆盖。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235F3B9-DD1F-4675-B805-C8CED9DCB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76725"/>
            <a:ext cx="25527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1054713-D4B5-467A-9953-1E050EC4B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4291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3C718FD-BA0A-4491-B188-FDC988DC5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41007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依赖调度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822AA81-4FA4-4C91-BA6F-380B826DE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762500"/>
            <a:ext cx="2209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任务DAG、状态机、重试与超时，禁止无边界并发。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15ACF3D-22FC-4642-BA67-E09393960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4276725"/>
            <a:ext cx="25527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3A0B643-B28B-4409-966B-6659865B5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4291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0EB7989-B9A1-4A7E-BCCB-64F4358AF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441007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质量汇总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0104913-32E2-4B75-AC84-936C95691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4762500"/>
            <a:ext cx="2209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独立审查、证据合并、冲突裁决，Lead不盲信摘要。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70179C0-00E8-4A65-863F-3B13F9ACE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67375"/>
            <a:ext cx="11049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2E6"/>
          </a:solidFill>
          <a:ln xmlns:a="http://schemas.openxmlformats.org/drawingml/2006/main" w="9525">
            <a:solidFill>
              <a:srgbClr val="A5620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C2BB534-0641-490C-88C0-0B626D0E7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706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A562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A56200"/>
                </a:solidFill>
                <a:latin typeface="Microsoft YaHei"/>
                <a:ea typeface="Microsoft YaHei"/>
                <a:cs typeface="Microsoft YaHei"/>
              </a:rPr>
              <a:t>适用：任务可分解且结果可独立验证；不适用：多人同时改同一核心文件、需求仍高度不确定。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E02483C-6217-4FA8-B1C6-CF017F35F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91275"/>
            <a:ext cx="11068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F"/>
          </a:solidFill>
          <a:ln xmlns:a="http://schemas.openxmlformats.org/drawingml/2006/main" w="0">
            <a:solidFill>
              <a:srgbClr val="D7DAD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09C9317-4D06-41CC-B165-92B4EC646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13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rPr>
              <a:t>官网资料复核：2026-07-23  |  来源：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97bbd920c324ba2"/>
              </a:rPr>
              <a:t>Claude Agent Teams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0b1853dde6f748d8"/>
              </a:rPr>
              <a:t> · Claude Workflows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ea8d5c17be54e94"/>
              </a:rPr>
              <a:t> · Qoder Quest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00b2c11eaf6e4cb2"/>
              </a:rPr>
              <a:t> · 码道 AgentTeam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06F684D-CDAD-49FE-9F9E-A3CEE4779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7597208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44DD3D1-981B-4BF6-92AC-C57B6279C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5F38F5-34EC-4B5B-B052-4DEE1C990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09  最佳实践：Figma插件对接原型验证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D762CB-02FA-4E4C-94C4-B340158B8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Figma对接不是截图转代码，而是设计约束到视觉回归的闭环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7F90C2-C0C0-4B4D-8218-7495B5E8B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4457700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0d333369b7499a"/>
          <a:stretch xmlns:a="http://schemas.openxmlformats.org/drawingml/2006/main"/>
        </p:blipFill>
        <p:spPr>
          <a:xfrm xmlns:a="http://schemas.openxmlformats.org/drawingml/2006/main">
            <a:off x="1015276" y="1400175"/>
            <a:ext cx="3532048" cy="27432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64F287-C02C-4747-A3F4-EF9A7941A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333500"/>
            <a:ext cx="2857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C3E74A-5FA6-4F20-920B-3DC2D9A5E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14859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7291EA-2AE2-47EA-9575-BC2471344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466850"/>
            <a:ext cx="2114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选定Frame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7A5EF9-912C-4A5F-9826-304DD53A8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819275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明确页面、状态与响应式范围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8A027B-DFC2-4DBE-A017-6D85AD6F3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333500"/>
            <a:ext cx="2857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16EDF1-2EB3-418A-9343-96E5C4CAC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4859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81A818-A51E-4096-8331-215980B8F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466850"/>
            <a:ext cx="2114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读取语义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55F160-650F-4F3C-A16D-803211A2C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819275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组件、变量、Auto Layout、间距、字体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C55FBE-59DE-4EB1-B680-9F2C98491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57450"/>
            <a:ext cx="2857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525EDE-CC8C-42A2-82D5-8FD472EF5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6098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A4FA40-A08D-407C-99A1-378DBC887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590800"/>
            <a:ext cx="2114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映射工程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EA6B8B-BCC6-4FDA-BBBE-7559B19DD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943225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复用现有Design System与组件，不复制像素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B10B4F-2980-4E57-AAC6-A3DA6F9FC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457450"/>
            <a:ext cx="2857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19A9CE-7064-4152-A7A0-6B39664EF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098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C4C3DB-5AAA-43A8-9752-AA971E50E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590800"/>
            <a:ext cx="2114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生成实现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953034-09DD-4C86-AE57-A4408522E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943225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页面结构、样式、交互、数据Mock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C574FA-EC35-44C7-9D60-C98FD1CED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581400"/>
            <a:ext cx="2857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2AB580-1385-4E62-95DD-82BE62794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7338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C4F08D-222B-4928-92EA-5D43E41AF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714750"/>
            <a:ext cx="2114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运行预览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DB1ED4-B802-4BC9-9318-9A95854CE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067175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桌面/移动视口，检查控制台与网络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B645FE-3E3A-4400-B6CD-45DC43DBD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581400"/>
            <a:ext cx="2857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EBFAC9-77CB-43E0-99C0-E5EEE9C49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338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1F0DA2-AD0F-42F8-BD07-A43CEE2E2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714750"/>
            <a:ext cx="2114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视觉回归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93FEE1-A631-4C84-9E80-B02070FEF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067175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截图Diff→定位差异→迭代至阈值内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3739490-C203-4837-B348-779BB9F80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33900"/>
            <a:ext cx="110680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C43DF97-EFF3-4945-AB09-05F318613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434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验收清单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EFDF9C9-B970-403F-818E-19254C431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911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7000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D62B378-B196-418A-882C-B8F096A4A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53025"/>
            <a:ext cx="276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组件复用率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7AABCBA-650A-446F-885B-58CB68421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1911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7000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5FD68AC-E7BE-47BA-A140-7EDCE758C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153025"/>
            <a:ext cx="276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设计Token一致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806754A-2985-454B-9292-B9B67AD27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1911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7000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C1F31A3-61E6-4C8E-925F-1AFE68F58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153025"/>
            <a:ext cx="276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响应式断点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52B80F0-B583-415C-8FB3-8D34CC080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626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7000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1D15457-C90C-4BCA-B149-2EA98B0C4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524500"/>
            <a:ext cx="276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交互/空态/错误态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0F8F807-B518-45A5-861B-CFBEEAE54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5626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7000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B954372-2E5A-4AD2-8E4F-771B80DCE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524500"/>
            <a:ext cx="276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可访问性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F12B5DC-E9A1-4FCE-87D9-78D7EDF2B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5626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7000B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270EB6D-A782-4285-A3ED-2D4141727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524500"/>
            <a:ext cx="276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视觉Diff阈值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DC98124-F35C-4310-A8C7-BDAC1D050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91275"/>
            <a:ext cx="11068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F"/>
          </a:solidFill>
          <a:ln xmlns:a="http://schemas.openxmlformats.org/drawingml/2006/main" w="0">
            <a:solidFill>
              <a:srgbClr val="D7DAD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DDEF22B-3B2D-4830-B38E-B3DD02CB9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13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rPr>
              <a:t>官网资料复核：2026-07-23  |  来源：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53586f0cf8104fa5"/>
              </a:rPr>
              <a:t>Trae Figma to Code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a0b2a0fb90c4fa0"/>
              </a:rPr>
              <a:t> · Figma Dev Mode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658221E-CE69-43C7-BE6C-11204641C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7958756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497D275-A376-49CD-93C4-4C9E7D44B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E1AC60-DF04-4A62-BCC9-0F9A778E4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10  最佳实践：Browser Use进行UI测试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CBFBF7-8351-4083-AC13-44038450A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Browser Use要把“看起来正常”转成可重复、可定位的断言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700231-4229-4A8F-8FF4-533E2CD90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38275"/>
            <a:ext cx="16287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666872-6B1A-4514-85EB-6D1843902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906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B0710E-A36B-4769-8AFC-408D020C8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571625"/>
            <a:ext cx="885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启动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B2879A-A7F6-471D-B584-E95D45F65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24050"/>
            <a:ext cx="1285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固定环境、账号、数据与视口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ACD952-66FF-4497-915C-5B34811AE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07645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8FAC84-7C34-4556-AC4F-BC7D4CC80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257425" y="2009775"/>
            <a:ext cx="123825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435E4B-8B92-4F4B-830B-8AB1957FC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1438275"/>
            <a:ext cx="16287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4CC20A-319B-4F73-B592-1FF52259D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15906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896D73-421C-4FBD-A0A3-EBD2F7C47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1571625"/>
            <a:ext cx="885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操作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E55049-61B5-4CEC-8212-2F63B5F92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1924050"/>
            <a:ext cx="1285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按真实用户路径点击、输入、上传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327069-C87D-45FA-8B95-0B04B9330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07645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5B42F4-3166-4003-B5F1-7233EFB37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095750" y="2009775"/>
            <a:ext cx="123825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B2337B-F2D0-4EE1-8390-C1F4B57E9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438275"/>
            <a:ext cx="16287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5985F2-989D-4004-9789-2A4FDD2ED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5906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7F1463-E2B5-43A4-990D-E97BEF789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71625"/>
            <a:ext cx="885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观察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02D08E-79EA-43D5-9D20-8EFEFB009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924050"/>
            <a:ext cx="1285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DOM、截图、控制台、网络、存储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4EC8E6-C596-4FCE-83AD-18B5218F5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07645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624B01-CD4D-4FD2-B78E-CC2CB8FA5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934075" y="2009775"/>
            <a:ext cx="123825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CF7AB0-5129-4110-B1F6-5BBB50F1E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1438275"/>
            <a:ext cx="16287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B92D26-31D4-43FE-A520-CFC2500BB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5906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CB013B-3A2E-46A5-8857-B03558011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1571625"/>
            <a:ext cx="885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断言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C4C853-BC62-4133-AC22-2C5FC96FC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924050"/>
            <a:ext cx="1285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功能、视觉、可访问性、性能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9D9EB6-890D-4665-BAC3-7FB09B8FB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207645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C528FD-AAAE-4DC5-B078-ACD14F45F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772400" y="2009775"/>
            <a:ext cx="123825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C4ED79-73DF-4E0E-8D1C-5CA558598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438275"/>
            <a:ext cx="16287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B28FC02-A94D-4667-8C1E-E3C641273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5906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A680C69-463A-4A9C-A71B-05A930618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571625"/>
            <a:ext cx="885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证据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2BC6F10-E493-45AD-A1B1-B0008A3A8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924050"/>
            <a:ext cx="1285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Trace、截图、日志、失败步骤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2CF8B33-F697-4F8D-8788-864FBC98B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07645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019F2B2-F6A7-47CF-BC28-58BFC85AA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610725" y="2009775"/>
            <a:ext cx="123825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25877B5-3EE4-4946-8B98-27238E0DC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1438275"/>
            <a:ext cx="16287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3EDD346-4678-4A7B-BAAA-45CBDEDD1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15906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95964BE-4AB7-4397-B03B-A553F2A9B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1571625"/>
            <a:ext cx="885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修复复测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CA46236-727C-4CE2-B0F4-390B0A534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1924050"/>
            <a:ext cx="1285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最小改动→相关场景→回归集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33C9387-E663-40F0-A007-DD6C5E2AB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051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测试组合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CF543E7-C929-4767-8489-B4ABA219E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2638" y="3524250"/>
            <a:ext cx="38576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445E9EE-C88F-4E0D-B791-19390B581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4088" y="36480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关键旅程 E2E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9147E0B-D1E7-49B2-B6E9-3F92608F1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0513" y="36576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13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登录、下单、发布、审批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59CCF69-67E9-47B7-AA44-515593239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248150"/>
            <a:ext cx="5334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2E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4B679AD-DE0A-4354-881D-20E120BF0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3719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组件 / 页面集成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A08C065-BD39-4842-8BEB-EACB44EED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381500"/>
            <a:ext cx="3095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13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状态切换、表单、路由、权限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FCA0D07-B61F-4006-84F1-89EB7D8EF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72050"/>
            <a:ext cx="6858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8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D8E578E-D32E-4E26-9213-14AAA82AB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958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静态与单元检查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32AF034-649A-45A8-92AE-CDCA124E1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5105400"/>
            <a:ext cx="4619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13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类型、Lint、逻辑、可访问性规则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7CCB901-F1AC-40AC-9930-2143C0149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105150"/>
            <a:ext cx="3733800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1355362-59C0-4089-87D2-54232B64C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3337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Agent测试提示词必须包含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1CF8466-5221-43E3-BD80-A9C2593AD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8671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3428664-669F-455A-96BF-36A1A0D43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00475"/>
            <a:ext cx="2971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起始URL、账号、测试数据与禁止动作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172B0A9-DEB6-4BCA-BAAA-91E928E5F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005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255D6DB-7BEF-4BE6-8526-8A4992DA5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133850"/>
            <a:ext cx="2971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关键路径及每步预期可见结果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899EBD6-61C8-45F3-9F96-BE1969169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5339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3D06ADD-D39B-49E3-B147-3F1E2E400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467225"/>
            <a:ext cx="2971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桌面/移动视口与截图命名规则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BE88C4A-8634-4013-8692-78D208447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8672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CC601AE-0408-4040-8EB4-0985559F8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00600"/>
            <a:ext cx="2971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控制台错误、失败请求、可访问性检查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5EFCD76-3294-4171-9404-3C7DD04B9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2006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A6ED945-3E79-4649-9F58-D5C05218D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133975"/>
            <a:ext cx="2971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失败时保留证据，不自行跳过断言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B4F19C2-B576-41A2-8E42-3B3376DEB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9775"/>
            <a:ext cx="11068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结论：浏览器Agent负责探索与取证，Playwright脚本负责稳定回归。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190C1DE-D261-4F94-8FE4-2D2F081F6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91275"/>
            <a:ext cx="11068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F"/>
          </a:solidFill>
          <a:ln xmlns:a="http://schemas.openxmlformats.org/drawingml/2006/main" w="0">
            <a:solidFill>
              <a:srgbClr val="D7DADF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0FC4088-C7CB-4BF2-B73E-D8D9BB786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13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rPr>
              <a:t>官网资料复核：2026-07-23  |  来源：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c1fb7c4236a442a9"/>
              </a:rPr>
              <a:t>Codex Browser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8e17377cdf3e4d95"/>
              </a:rPr>
              <a:t> · Trae Browser &amp; Preview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7c705590dea6435d"/>
              </a:rPr>
              <a:t> · Playwright Best Practices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545B090-33F5-45AA-82C9-145F22765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6009070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5677781-041E-4730-A3D3-EE8D5FA3F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914197-5142-4D2B-B4F2-0DB270474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11  产品 Superpowers 介绍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64E9F9-BB71-4DEA-84B9-674B75B78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Superpowers把成熟研发方法封装成可组合、自动触发的Skills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CBD266-6635-44C4-819A-879086F59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38275"/>
            <a:ext cx="14668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7FAC76-E7B6-46FC-B962-6CCA19D09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62100"/>
            <a:ext cx="285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E3B064-C52C-412B-B4C0-E19F111D8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38325"/>
            <a:ext cx="1276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Brainstorm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2CEF70-B067-45EF-97E8-037B4E45F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43125"/>
            <a:ext cx="1276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澄清需求与方案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4DE5E8-EE21-4E18-B66B-2473C4FB2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96215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83193B-7A83-4BB0-9DA7-B0C64EE50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009775" y="1895475"/>
            <a:ext cx="123825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8E7873-E4FB-41F7-821D-78C9A1F3A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438275"/>
            <a:ext cx="14668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9317D7-3B04-4E03-AE81-1717A8E74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562100"/>
            <a:ext cx="285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C44FA3-D3D2-40CA-92E3-9EE31BAD2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1838325"/>
            <a:ext cx="1276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Design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982F35-734A-4732-8147-FA408142A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143125"/>
            <a:ext cx="1276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分段评审设计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8DD7CD-4452-4386-AD39-D8F49E7E5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96215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E0998F-CA36-44C3-9ADB-6B291D709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667125" y="1895475"/>
            <a:ext cx="123825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BC8BE3-CCD6-4E16-A600-E9C18061A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438275"/>
            <a:ext cx="14668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980030-28BC-479A-87B4-21897C59C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562100"/>
            <a:ext cx="285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5B3ED3-1A05-4606-B8B1-DFB5AE2B5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838325"/>
            <a:ext cx="1276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Plan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EB0A74-440D-49F3-BB65-00305B117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143125"/>
            <a:ext cx="1276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拆成可执行小任务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DD06FB-4168-442D-BA3D-23D150EFD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96215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6E0DED-76CF-4E19-A892-0A0395EB6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324475" y="1895475"/>
            <a:ext cx="123825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A53163-44F2-490F-98E6-CF4594D08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438275"/>
            <a:ext cx="14668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5E8BEA-C626-41C8-B0D7-AB98E4C97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562100"/>
            <a:ext cx="285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01779A-1D82-42A3-A8AD-0854CF89D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838325"/>
            <a:ext cx="1276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Worktree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BB2A86-2644-4260-8E93-54230DAAC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143125"/>
            <a:ext cx="1276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建立隔离工作区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807CDD-F0C9-4917-AB1D-6BF57A758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96215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1664564-B845-4A4E-8FCE-BED7387CA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981825" y="1895475"/>
            <a:ext cx="123825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D29BBA-DDF8-4C54-83EC-3A241E8F6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438275"/>
            <a:ext cx="14668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E979C97-43DC-418D-8C7D-939FDA7E3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562100"/>
            <a:ext cx="285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929FA61-3A81-4773-88C5-F1280EE6B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838325"/>
            <a:ext cx="1276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TDD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75DC529-EF36-4770-A03A-1F4B18705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143125"/>
            <a:ext cx="1276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769"/>
          </a:bodyPr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RED→GREEN→REFACTOR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49E16A9-739C-47DE-801E-EEF1F0919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96215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66990E9-13E9-40AD-9BE6-9BC66DE88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639175" y="1895475"/>
            <a:ext cx="123825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F325878-A73E-4397-B42F-56F782F72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438275"/>
            <a:ext cx="14668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5E0E431-ABBD-4C0B-B4A5-E490AD94D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562100"/>
            <a:ext cx="285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7AB6CFB-7E1D-41D7-87D3-072C636E2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38325"/>
            <a:ext cx="1276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Subagents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11FB0B8-1097-4958-975E-B19B0B3F7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43125"/>
            <a:ext cx="1276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逐任务实现与双重审查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93D3D37-1B1A-4F60-8D85-31C4C2DA3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196215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2EAAF7A-FA11-4BF0-B2E5-E18AC7A89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0296525" y="1895475"/>
            <a:ext cx="123825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D9EE045-D511-4D03-8A42-68F4EB097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1438275"/>
            <a:ext cx="14668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E3E8367-9CB0-4DA0-BA0F-443DA930B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1562100"/>
            <a:ext cx="285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B0B30B5-641E-4412-8B86-8A537C160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1838325"/>
            <a:ext cx="1276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Finish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E25F17C-312D-499E-ADA5-DB82631C1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2143125"/>
            <a:ext cx="1276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测试、PR/合并、清理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E5311B2-A4E4-46BA-AE62-C8F26A1A3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28950"/>
            <a:ext cx="3448050" cy="2390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B2887B0-9ACE-4486-8D8F-E048BF7B1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它是什么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E604053-C00E-4B78-AC0A-FA9106C84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909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D3B6507-5174-40A7-BDAD-EED124F4A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242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开源Agentic Skills框架 + 软件开发方法论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139FAD9-2E7D-4609-955E-9DE720FCF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1FCC68C-327E-437F-B7E8-D3D1CBCD6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195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通过技能触发器把流程变成强制检查点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68B7203-3564-4DE0-978D-7A8FF4AE3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815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7742784-B3EB-4CF2-B58E-02AE50DF5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148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支持Claude Code、Codex、Cursor等多种Harness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75443AB-F526-42CC-971F-8F814F98C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028950"/>
            <a:ext cx="3448050" cy="2390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0224C61-CBAF-4F9C-92CF-4FA5F72AC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23850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核心价值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7D96518-7DD6-4CEF-819B-CE74BA972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7909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DB78FE5-9393-4C1E-AB1E-6550E6224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7242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减少Agent跳过设计、测试和验证的随机性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3090CCA-29ED-4B1F-886B-A729BB3B1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2862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37E1CBC-707B-4F5C-A983-A11294361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2195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把团队方法沉淀为可版本化Skills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B6D75C7-DEA3-4BB7-9448-EC8AD5F01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7815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B1354B8-85BB-48FD-98CD-E5537F625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7148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Subagent每任务新上下文，降低长会话漂移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33C7747-F40C-41E3-9E20-302DC09C7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028950"/>
            <a:ext cx="3448050" cy="2390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CAB1D4B-41E6-4405-B7B6-552637AFE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23850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边界与风险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144E4C1-B313-42B1-8194-8376C4201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7909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4EE245C-FAA6-41C1-9DF8-B1C6A51DA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7242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不是模型、IDE或项目管理系统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E3577B0-F920-4977-A087-0FAAEA483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862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DC4655D-5B68-4520-9A0C-8675F7B76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2195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强流程会增加小任务的时间与Token开销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4CD0ACD-5BC0-466D-BDD9-FD0717882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7815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E50A6B5-606C-4240-8D80-DE087D95E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7148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需结合团队规范裁剪，避免机械执行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3238E28-35ED-409F-9DD0-954672B8B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72150"/>
            <a:ext cx="11068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落地建议：先在一个可测试项目启用 Brainstorm → Plan → TDD → Review 四项核心技能。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697DCB2-A4BC-414E-AF5E-8637FBC42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91275"/>
            <a:ext cx="11068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F"/>
          </a:solidFill>
          <a:ln xmlns:a="http://schemas.openxmlformats.org/drawingml/2006/main" w="0">
            <a:solidFill>
              <a:srgbClr val="D7DADF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9FAD2E1-99BD-4B83-9391-9A338664F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13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rPr>
              <a:t>官网资料复核：2026-07-23  |  来源：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3ec14244be684087"/>
              </a:rPr>
              <a:t>Superpowers GitHub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1763677-73B2-4794-9DCD-D97B983D0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59938073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28E51B3-C466-4EC2-8B1E-BA6F155C3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A65098-2B49-491E-B707-47B1F1C83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12  产品 OpenSpec 介绍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3BFE30-2E6B-40EE-9ECD-065D7F19B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OpenSpec用“当前规范 + 变更提案”控制存量项目的需求漂移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52C59A-F374-4CA6-840A-4EA0E4DA5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71600"/>
            <a:ext cx="337185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2E6"/>
          </a:solidFill>
          <a:ln xmlns:a="http://schemas.openxmlformats.org/drawingml/2006/main" w="9525">
            <a:solidFill>
              <a:srgbClr val="A562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2BDB9B-173B-4B3D-A7AD-AFC618583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90675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A562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A56200"/>
                </a:solidFill>
                <a:latin typeface="Microsoft YaHei"/>
                <a:ea typeface="Microsoft YaHei"/>
                <a:cs typeface="Microsoft YaHei"/>
              </a:rPr>
              <a:t>openspec/specs/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6E9C67-BDE8-4F22-A364-9ADFBB13A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85975"/>
            <a:ext cx="29146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当前已生效的事实来源</a:t>
            </a:r>
          </a:p>
          <a:p xmlns:a="http://schemas.openxmlformats.org/drawingml/2006/main">
            <a:pPr algn="ctr">
              <a:defRPr sz="112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Requirements + Scenarios</a:t>
            </a:r>
          </a:p>
          <a:p xmlns:a="http://schemas.openxmlformats.org/drawingml/2006/main">
            <a:pPr algn="ctr">
              <a:defRPr sz="112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供所有Agent读取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2F6958-257B-4455-B509-85618193B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257425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ABEE30-8EEC-42AC-A7F2-D15DAEE8D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324350" y="2190750"/>
            <a:ext cx="123825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40173D-1CF1-4047-83E0-AFCD24B0B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371600"/>
            <a:ext cx="337185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BA887D-39E1-4015-B494-BB1BDD9C2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1590675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openspec/changes/&lt;id&gt;/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B7C99B-98AA-439B-8C82-B23DB81DB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009775"/>
            <a:ext cx="29337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88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proposal.md  为什么/改什么</a:t>
            </a:r>
          </a:p>
          <a:p xmlns:a="http://schemas.openxmlformats.org/drawingml/2006/main">
            <a:pPr algn="ctr">
              <a:defRPr sz="1088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design.md  怎么实现</a:t>
            </a:r>
          </a:p>
          <a:p xmlns:a="http://schemas.openxmlformats.org/drawingml/2006/main">
            <a:pPr algn="ctr">
              <a:defRPr sz="1088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tasks.md  实施清单</a:t>
            </a:r>
          </a:p>
          <a:p xmlns:a="http://schemas.openxmlformats.org/drawingml/2006/main">
            <a:pPr algn="ctr">
              <a:defRPr sz="1088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specs/  规格增量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00AFF1-DDF5-4306-A484-DEF3068CC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257425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A1F6BC-799A-4781-B3CE-C84531E44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362950" y="2190750"/>
            <a:ext cx="123825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CD581E-9133-42A5-8222-2D259C510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371600"/>
            <a:ext cx="299085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8"/>
          </a:solidFill>
          <a:ln xmlns:a="http://schemas.openxmlformats.org/drawingml/2006/main" w="9525">
            <a:solidFill>
              <a:srgbClr val="9A62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C6BC2F-6AE7-4D60-B896-240EC8896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90675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9A62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9A6200"/>
                </a:solidFill>
                <a:latin typeface="Microsoft YaHei"/>
                <a:ea typeface="Microsoft YaHei"/>
                <a:cs typeface="Microsoft YaHei"/>
              </a:rPr>
              <a:t>Archive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2D4B9F-9020-4455-B548-A0C8299C4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05025"/>
            <a:ext cx="2533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实现并验证后归档变更</a:t>
            </a:r>
          </a:p>
          <a:p xmlns:a="http://schemas.openxmlformats.org/drawingml/2006/main">
            <a:pPr algn="ctr">
              <a:defRPr sz="112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把批准的规格增量合并回</a:t>
            </a:r>
          </a:p>
          <a:p xmlns:a="http://schemas.openxmlformats.org/drawingml/2006/main">
            <a:pPr algn="ctr">
              <a:defRPr sz="112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当前规范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6E813D-BA5B-4505-B772-841D7CA27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76650"/>
            <a:ext cx="2000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B581BD-F7C8-4513-9A7A-378C0E3D4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57625"/>
            <a:ext cx="1771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/opsx:explore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B18485-1A63-42E8-B36D-55B7C2D01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177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理解存量代码、权衡方案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E7794F-FD35-4DB9-B76C-11FCA098C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676650"/>
            <a:ext cx="2000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2099D4-1ACD-4EFE-BAC2-2BC15A315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857625"/>
            <a:ext cx="1771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/opsx:propose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6670F9-BB8C-49A8-A553-427465024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267200"/>
            <a:ext cx="177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生成提案、规格、设计、任务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BC8804-2680-4DF9-BA86-2E00FF024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676650"/>
            <a:ext cx="2000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3C619E-1533-469D-AE0A-331FA7534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857625"/>
            <a:ext cx="1771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/opsx:apply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25B34E-C150-40C4-9207-19FD34FD7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267200"/>
            <a:ext cx="177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按任务实现并持续更新状态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480E8E-CC20-459A-A0B7-890FB7483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676650"/>
            <a:ext cx="2000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4BD082-1BEC-49CD-8162-629E5D1C3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857625"/>
            <a:ext cx="1771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/opsx:verify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DE0B1A-3550-4A14-8AD8-9F7FFB3BD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267200"/>
            <a:ext cx="177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核对实现、场景和验收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CE372A-1233-4255-A219-B1B17FC53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676650"/>
            <a:ext cx="2000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BD79DA-25EA-4260-A3D5-194510AD3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857625"/>
            <a:ext cx="1771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/opsx:archive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7FB7EBE-F742-41D5-9C32-EB5D5E217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267200"/>
            <a:ext cx="177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归档变更并更新当前规范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4CB6F29-F448-4C95-9DAD-152597245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0"/>
            <a:ext cx="110680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AEFB6ED-B095-4688-AEBE-D66481DE2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1857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与其他机制的关系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2FA0118-9E12-4BFE-BA1B-2FAF34D9B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5229225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AGENTS.md / Rules 管“Agent如何工作”；OpenSpec 管“系统当前应是什么、这次要改什么”；Quest/SDD 管“如何生成并执行任务”。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3721CF2-E1D7-4435-A52A-39F37C6C7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91275"/>
            <a:ext cx="11068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F"/>
          </a:solidFill>
          <a:ln xmlns:a="http://schemas.openxmlformats.org/drawingml/2006/main" w="0">
            <a:solidFill>
              <a:srgbClr val="D7DAD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C5329A2-4B1A-43AC-A741-16ED708B1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13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rPr>
              <a:t>官网资料复核：2026-07-23  |  来源：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2640b99d7b0f4584"/>
              </a:rPr>
              <a:t>OpenSpec GitHub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8C4D0D7-4127-4EEC-B541-2018CC678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83253985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B2752BC-35F3-42DE-9747-F0ADE2821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8CA64B-DA6E-4A2E-AC4A-34579C484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13  最佳实践：如何省 Tokens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F15B28-49C4-4D33-8C6A-0D8AFBB92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省Token的本质：减少无效上下文、重复推理和失败重试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1E78B4-2557-4DF0-A58A-2BEA8B5E7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23975"/>
            <a:ext cx="110680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628705-EF55-4408-A267-4307EF85B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10610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总消耗 = 稳定上下文 + 本次检索 + 对话历史 + 工具结果 + 输出 + 重试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D29E93-977C-4E0E-A122-75AB3A54A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24100"/>
            <a:ext cx="25527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0B5706-5A72-4484-A35C-FE98E6EF3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7650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01  控制输入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5FEA28-4F82-417A-BD13-DE5FFB499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432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75B34E-4923-426F-8630-80942B437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76550"/>
            <a:ext cx="2076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写清目标、范围、验收和禁止项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A38C4C-E9B4-48A4-8CD3-1B27DED83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528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ECBE17-19A3-4A90-9FC7-5AB023E73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86125"/>
            <a:ext cx="2076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只附相关文件/章节，先定位再展开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BF976D-3560-4627-BED8-5C005D50F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324100"/>
            <a:ext cx="25527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0095AC-F036-4DAD-9155-9FBA2BFA6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47650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02  分层规则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EE4F6D-2DC5-4B1A-BFC7-2EAFE5805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9432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748063-4B57-4701-9962-859F254E2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876550"/>
            <a:ext cx="2076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根AGENTS.md保留全局约束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C51AF1-09D6-4855-9D1A-F412D9646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3528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96C4E5-B847-454F-B57D-21663D609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286125"/>
            <a:ext cx="2076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子目录规则就近生效，避免全仓注入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04CE72-4D63-427B-96B9-E7DFB04C1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24100"/>
            <a:ext cx="25527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EBA780-DE8F-400E-90C7-85D88A96A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7650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03  检索替代粘贴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DC138F-B8DA-47D5-B177-7FC2523DA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432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FEEAD3-01D1-4225-9B91-3FD0E4F3F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76550"/>
            <a:ext cx="2076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用Codebase/Repo Wiki召回Top-K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4D2241-32F5-450D-AA1B-9CE117384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3528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B5F550-F6C6-4038-8321-ECD9EDCA1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86125"/>
            <a:ext cx="2076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输出带引用，发现缺口再二次检索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435E2D-81AF-44E8-8D52-BD39B0DB1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324100"/>
            <a:ext cx="25527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EA5451-6C48-4294-8F4F-0A4544BE6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47650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04  复用稳定前缀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7DAB9B-5966-40D2-B929-5ECACA850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9432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B939DB-C77E-4880-B2DC-C1494D772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876550"/>
            <a:ext cx="2076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固定系统提示、工具定义和规则顺序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CD5121-1F5E-451F-A615-B17DB5654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3528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129A1B0-7823-4887-B91A-DD5DBEA00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286125"/>
            <a:ext cx="2076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利用Prompt Cache，避免轻微改写失效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CB1407C-C7EA-42BF-B8DF-B9566F2EB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0"/>
            <a:ext cx="25527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2E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FF4AEF3-C852-4669-B955-8BC403446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5290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05  控制工具结果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22D976E-EB76-4D26-BB1C-49622422F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196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7BB3119-AB9F-4B2B-B1ED-0992529E3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52950"/>
            <a:ext cx="2076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日志先过滤、分页、聚合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F44EFE1-F753-4C13-A7BE-1B8D9F8C2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292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39CD998-556E-48C8-8D24-BE046699A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62525"/>
            <a:ext cx="2076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截图/DOM/Trace只在需要时展开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4048E1F-8240-4386-8BF1-842666B13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4000500"/>
            <a:ext cx="25527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2E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D125070-93B0-474D-9DE4-0411BAF16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15290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06  模型与模式分级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8D13208-52E5-4BBB-933F-A8B6EC348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6196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E8B5C37-0721-49B9-9421-8E819EC7E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552950"/>
            <a:ext cx="2076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小模型做搜索、分类、格式化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4357A16-C74D-496D-B3B7-A05D1203A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0292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AEA777B-F0F6-49A6-8E85-AEE895513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962525"/>
            <a:ext cx="2076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高推理/多Agent只用于高价值复杂任务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EB091B8-85EE-4D10-AD58-EDD665BC3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00500"/>
            <a:ext cx="25527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2E6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1FF796E-E25A-46BF-A0B9-B1B9CDA8E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5290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07  缩短会话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0612BBB-EA93-4063-9AFE-61DCD2E56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6196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61C5A8D-BD46-41FC-B19E-FCFC4DE22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552950"/>
            <a:ext cx="2076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阶段结束写摘要/Artifact后新开任务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59313FA-08D1-439C-A356-DEFB8135D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0292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3825BAD-D3F2-4254-A0F1-37B85DDFA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962525"/>
            <a:ext cx="2076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长任务使用Compaction，保留决策与证据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F88965B-B187-4F0A-8C76-7D6652B74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4000500"/>
            <a:ext cx="25527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2E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735BE06-9270-44FF-9AA6-835FB575B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15290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08  降低重试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5792BD8-7CC0-48B5-9CC9-6790EDF07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6196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47DE3A2-C7F3-47A7-A26D-AEBCC2329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552950"/>
            <a:ext cx="2076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先跑最小验证，再扩大修改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032F9A2-0D0D-4470-8755-8D36F39B7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50292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9055580-5A2E-4200-B209-8C7D1B9C3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962525"/>
            <a:ext cx="2076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失败必须读取错误根因，禁止盲目重复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0C23857-D1DD-4102-BED7-9D6B7CC35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62625"/>
            <a:ext cx="11068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8"/>
          </a:solidFill>
          <a:ln xmlns:a="http://schemas.openxmlformats.org/drawingml/2006/main" w="9525">
            <a:solidFill>
              <a:srgbClr val="9A6200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34CEAE7-F4C9-4DD6-AA6A-8BA8A4DB6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38825"/>
            <a:ext cx="10744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9A62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9A6200"/>
                </a:solidFill>
                <a:latin typeface="Microsoft YaHei"/>
                <a:ea typeface="Microsoft YaHei"/>
                <a:cs typeface="Microsoft YaHei"/>
              </a:rPr>
              <a:t>团队度量：每个成功任务的输入Token、输出Token、缓存命中率、工具结果量、重试次数和人工复核时间。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D8C2877-225B-4FAA-A491-FEB25C73F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91275"/>
            <a:ext cx="11068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F"/>
          </a:solidFill>
          <a:ln xmlns:a="http://schemas.openxmlformats.org/drawingml/2006/main" w="0">
            <a:solidFill>
              <a:srgbClr val="D7DADF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E961FF5-8403-4060-885F-CFCFA8529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13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rPr>
              <a:t>官网资料复核：2026-07-23  |  来源：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a198ae5928564371"/>
              </a:rPr>
              <a:t>Codex节省用量建议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0b31f49c9d4d485e"/>
              </a:rPr>
              <a:t> · OpenAI Prompt Caching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d607714f105a418f"/>
              </a:rPr>
              <a:t> · Qoder Context Compression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8fb0bcadb6b64ca9"/>
              </a:rPr>
              <a:t> · Anthropic Prompt Caching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DC16562-CAC3-40C8-BA77-8FE2AF3DC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9103144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D86567A-96FB-455F-8865-946652E22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14C898-7A4E-4EA3-80CD-F7D845EDA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14  Agentic Loop 工作原理总结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EA2FA4-0BD9-4232-ACA9-6BE7D77F7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Agentic Loop把模型推理转化为可执行、可观察、可收敛的工程循环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4788CB-0BC3-4199-9E91-5C603108C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23975"/>
            <a:ext cx="54673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pic>
        <p:nvPicPr>
          <p:cNvPr id="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c83fc819c74aa7"/>
          <a:stretch xmlns:a="http://schemas.openxmlformats.org/drawingml/2006/main"/>
        </p:blipFill>
        <p:spPr>
          <a:xfrm xmlns:a="http://schemas.openxmlformats.org/drawingml/2006/main">
            <a:off x="722173" y="1390650"/>
            <a:ext cx="5127905" cy="25908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68DCFA-82D7-4517-98F9-F67E4FE7F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323975"/>
            <a:ext cx="5238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B31025-6DAC-4A1C-940E-79178A437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4763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C78A7C-763B-45A5-9AD1-7AB02512C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457325"/>
            <a:ext cx="449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获取上下文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2DCABA-D348-4AB4-BCE2-BED894B1B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809750"/>
            <a:ext cx="4895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搜索代码、读取文件、项目规则、历史状态与用户补充信息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CBF136-61EE-4663-8540-AF08315BE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38375"/>
            <a:ext cx="5238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24FD23-3573-4FEF-8FF5-F5A5E17ED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907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69590E-84FC-4085-9C8F-7028070C9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71725"/>
            <a:ext cx="449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执行操作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CE61EB-7BA2-40E9-A4FA-97E0DC2B6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24150"/>
            <a:ext cx="4895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模型选择工具：修改文件、运行命令、访问Web或调用外部服务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784D00-8843-44F3-A788-6564F1A10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52775"/>
            <a:ext cx="5238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40E3B8-9806-4618-970F-0FCA6A549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3051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AD873F-4C6D-44B4-8D49-E00B2222E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286125"/>
            <a:ext cx="449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验证结果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8328A7-58D7-45C5-A9D5-A7509CC7C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638550"/>
            <a:ext cx="4895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读取工具观察值，以测试、构建、Diff和验收条件判断下一步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685C18-BAEA-4EED-A5C1-CFCE24D39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62450"/>
            <a:ext cx="110680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2E6"/>
          </a:solidFill>
          <a:ln xmlns:a="http://schemas.openxmlformats.org/drawingml/2006/main" w="9525">
            <a:solidFill>
              <a:srgbClr val="A562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6FD321-D540-450B-A7EA-63439D091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43425"/>
            <a:ext cx="1238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562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A56200"/>
                </a:solidFill>
                <a:latin typeface="Microsoft YaHei"/>
                <a:ea typeface="Microsoft YaHei"/>
                <a:cs typeface="Microsoft YaHei"/>
              </a:rPr>
              <a:t>循环状态机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82F801-6541-428E-BAF3-302AAB47F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495800"/>
            <a:ext cx="1066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A683C9-2C01-4C74-9072-C0F265C3D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533900"/>
            <a:ext cx="91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任务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4572AA-D9D5-428F-8256-212E728ED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6577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97B728-7BE1-4560-95C2-51B0CC7B6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248025" y="4591050"/>
            <a:ext cx="123825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94F2E6-E29C-4BBF-923A-40E522952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495800"/>
            <a:ext cx="1066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921C9D-91B2-453F-B8E3-35A03B056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4533900"/>
            <a:ext cx="91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检索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D2B289-FFC7-4C88-B34A-41D557C1A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6577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038888-9FBA-4A8C-A6F5-F07E4C1EB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533900" y="4591050"/>
            <a:ext cx="123825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94DD31B-E5D9-42E4-89FE-7921B8724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495800"/>
            <a:ext cx="1066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8F68B2-A394-4321-9221-36AC8B8CC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533900"/>
            <a:ext cx="91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决策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D9A0367-D258-471C-A93F-D7BD9502B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6577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797AF64-95FE-43B0-B399-551F2E9EE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819775" y="4591050"/>
            <a:ext cx="123825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2292559-F0DC-4E77-AD36-049A37101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495800"/>
            <a:ext cx="1066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B2FA7CE-3F78-4267-9F54-73B66DC5B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4533900"/>
            <a:ext cx="91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工具调用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E2497B7-A4BD-446C-BCCB-CE9831C8A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46577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1A437C7-4D95-40FA-ACD1-E2B3FE97A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105650" y="4591050"/>
            <a:ext cx="123825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88811E0-1D52-411E-8735-78AB5940F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95800"/>
            <a:ext cx="1066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3F1568A-10AB-4CD4-83A2-58865E8A1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533900"/>
            <a:ext cx="91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观察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CA8475F-7DC8-4C53-84E3-9300F1D97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6577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9935ADB-EE49-4DC2-A273-C7CCA5D32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391525" y="4591050"/>
            <a:ext cx="123825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95853A4-A04B-44CB-A762-144BA3BC1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95800"/>
            <a:ext cx="1066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DF320B2-CE73-4B02-9925-31AC68A5E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533900"/>
            <a:ext cx="91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评估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0155E0E-43F5-434B-8D14-5A2D31D42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6577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E244823-CAC4-403D-B58B-EFD0613B8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677400" y="4591050"/>
            <a:ext cx="123825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8B08E95-4BFE-4E3A-A98E-80973ED2D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495800"/>
            <a:ext cx="1066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8E27C93-6BB2-4E5E-9B61-98113BDA1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533900"/>
            <a:ext cx="91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继续 / 结束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6CB0970-F17A-4004-9325-1FBBAF9B6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914900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观察结果会更新上下文并触发重新规划；用户可随时中断、补充上下文或改变方向。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E8E5BA3-21A2-4EAE-82AE-C55528C8C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29250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Goal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640BFC2-EA61-42E7-B04E-DC8F3F5B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429250"/>
            <a:ext cx="2038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定义可验证停止条件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1D1E8A4-7CCF-43D6-8DA2-FC64E69A9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429250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Workflow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B730603-BC23-4B64-AF56-ABDDC1B0E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429250"/>
            <a:ext cx="2038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在外层编排多个Loop/阶段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0C55B97-6DBD-41A8-96A5-0B38ABDA7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429250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Subagent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6A6796D-0B1F-4122-AB4C-DE2FBBA11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429250"/>
            <a:ext cx="2038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形成嵌套且隔离的子Loop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58E93FB-70EF-4170-B103-4C0E72FAD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9775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Skills / MCP / Hooks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BEDD7DE-34F4-4DAB-B918-1AE4D4D62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819775"/>
            <a:ext cx="2038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扩展决策、工具和生命周期动作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AA0504F-1561-440C-8C87-FC2110D42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819775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Memory / Rules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4CA3A1A-30A2-4329-9354-DA6093311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819775"/>
            <a:ext cx="2038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提供跨轮次稳定上下文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6E22666-19A8-403A-87F9-A9E902D7D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819775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Sandbox / Review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081B4A7-D6EB-41F8-ACBE-CD56E8258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819775"/>
            <a:ext cx="2038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限制动作并形成质量闸门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9E69632-A04E-496A-80D8-696702099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91275"/>
            <a:ext cx="11068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F"/>
          </a:solidFill>
          <a:ln xmlns:a="http://schemas.openxmlformats.org/drawingml/2006/main" w="0">
            <a:solidFill>
              <a:srgbClr val="D7DAD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6C4B495-9C45-4547-86BD-0F2CEA7FF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13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rPr>
              <a:t>官网资料复核：2026-07-23  |  来源：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9e2343e213c434c"/>
              </a:rPr>
              <a:t>智谱：Coding Agent工作原理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F43945F-607E-4C1E-B9A9-B42E795F7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9912800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25A27CD-84C4-4A05-90A0-CABAE3762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5FED5A-7589-4C89-8EB3-F554CC9DC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15  Coding Agent 常见工作流总结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C2D0E5-68D7-46E9-B5D3-C2B9C94C8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常见工作流共享同一主线：探索 → 计划 → 执行 → 验证 → 交付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F813C7-367E-4BD4-9A24-269AE02C8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23975"/>
            <a:ext cx="200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825E26-1A60-4F6E-8F83-60C7B4293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57325"/>
            <a:ext cx="323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95D7A5-266A-411A-A9E0-0A8950773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438275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探索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618D5B-155C-411B-BABC-C1E20D253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0225"/>
            <a:ext cx="1733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从宽到窄理解上下文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CB5B37-0FA4-4488-B74B-D0391733D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17240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463872-C647-400F-9DBA-AE5FF16EA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628900" y="1657350"/>
            <a:ext cx="123825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852ADC-9BFD-4A62-9AB4-6D84FB766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323975"/>
            <a:ext cx="200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EC3AEB-0FCF-45A1-B531-59AE12942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457325"/>
            <a:ext cx="323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1C1FEC-AA64-4A69-AAEC-C6D0EA076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438275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计划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E844D1-5670-49F7-BA9E-1904F95E6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800225"/>
            <a:ext cx="1733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明确范围、风险与验收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C8D0B3-CE90-4357-89EA-3A548E04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17240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6660FB-D671-4511-A36B-E634D77CA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838700" y="1657350"/>
            <a:ext cx="123825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158CD2-69C8-44D7-B9BD-61C9A848F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323975"/>
            <a:ext cx="200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CE6D1E-429B-4D7C-AE2D-AF9C51DCF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457325"/>
            <a:ext cx="323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A44F9B-82A4-4D44-83E6-97CEEB9AF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438275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执行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970084-7807-46F6-ADC2-9C4FAD9DD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00225"/>
            <a:ext cx="1733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小步修改或委派子Agent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78D9F0-68C0-48F1-8C6C-8DA0277EA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17240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6E1B78-9B07-4141-B4CF-3EB9FC96C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048500" y="1657350"/>
            <a:ext cx="123825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AAB690-B436-418B-B282-A8B3851BE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323975"/>
            <a:ext cx="200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E00BBD-D7E5-4EE6-8917-9793C1F88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457325"/>
            <a:ext cx="323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9C1D99-AA57-461E-9C0B-849FD6614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438275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验证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D9DB97-A07C-4CE9-9783-5ED9F6B63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800225"/>
            <a:ext cx="1733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测试、构建、Diff和规则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04CA03-DD84-45F6-BF55-E9CDCABED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7240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5CD5C5-3093-41E0-B1CE-679975826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258300" y="1657350"/>
            <a:ext cx="123825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ED2FB0-5ABB-4711-A4A5-F7585B03B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323975"/>
            <a:ext cx="200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F9265C6-DEB7-4726-9A07-CFE568D18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457325"/>
            <a:ext cx="323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1FA036-1D61-4C8D-85ED-65EE93EAA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1438275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交付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8F864B9-12A5-4C8B-BDDB-9F5A34BF8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800225"/>
            <a:ext cx="1733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PR、文档、证据与回写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5B8DBFD-7F74-4003-93C2-F33B8F9BE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34480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4508A33-9648-4C0C-AE9D-63D49A908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3105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理解新代码库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F9579B6-D4F8-4D20-A8F1-1BB42E483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9900"/>
            <a:ext cx="3105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概览→架构/术语→相关文件→追踪端到端流程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2E611F1-B70A-4835-815A-1B1DEF98D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71850"/>
            <a:ext cx="3105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F"/>
          </a:solidFill>
          <a:ln xmlns:a="http://schemas.openxmlformats.org/drawingml/2006/main" w="0">
            <a:solidFill>
              <a:srgbClr val="D7DAD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F29C178-A1B3-4A0E-92EC-EDAA3B1E8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57575"/>
            <a:ext cx="3105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完成标准：架构图、入口、关键模型与调用链可解释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DD5F329-3797-4D0C-86AE-DDC51556C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533650"/>
            <a:ext cx="34480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AFE2221-AC0D-464F-9BCB-DC66FDE9D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667000"/>
            <a:ext cx="3105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修复 Bug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960F3C7-5939-4091-9EF1-85D1DA254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09900"/>
            <a:ext cx="3105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复现→堆栈/日志→提出假设→最小修复→回归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4173DCA-4F30-46E3-839D-9F68524DF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71850"/>
            <a:ext cx="3105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F"/>
          </a:solidFill>
          <a:ln xmlns:a="http://schemas.openxmlformats.org/drawingml/2006/main" w="0">
            <a:solidFill>
              <a:srgbClr val="D7DAD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A9C6321-5C54-400E-AA6A-B36C6C6C7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457575"/>
            <a:ext cx="3105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完成标准：原问题不再复现，相关测试通过且无新增错误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01CE6EB-CA0E-45FA-A7EA-DBAF74E70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533650"/>
            <a:ext cx="34480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122BC80-BEF2-4197-A3CE-1F3A8842A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667000"/>
            <a:ext cx="3105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重构代码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79A3C7D-73B2-404C-977B-E999DA031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009900"/>
            <a:ext cx="3105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识别遗留→评估兼容性→小步迁移→行为验证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53C816B-5CAA-4EE7-AC72-983E843DF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71850"/>
            <a:ext cx="3105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F"/>
          </a:solidFill>
          <a:ln xmlns:a="http://schemas.openxmlformats.org/drawingml/2006/main" w="0">
            <a:solidFill>
              <a:srgbClr val="D7DAD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2E7B3E3-F4EE-4C83-A42B-33F3ECED2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457575"/>
            <a:ext cx="3105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完成标准：行为保持一致，接口/性能/兼容性满足约束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F0AABEC-EDEF-4840-A608-CA15DA9E1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71925"/>
            <a:ext cx="34480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2E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BD240BA-5BEE-4137-B66E-2D646C0C2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05275"/>
            <a:ext cx="3105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编写测试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774F5C9-5566-412B-A6C7-441DCF257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48175"/>
            <a:ext cx="3105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找覆盖缺口→生成框架→边界/异常→运行修复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6463E0D-5D3F-4D14-BE27-8E4E49927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0125"/>
            <a:ext cx="3105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F"/>
          </a:solidFill>
          <a:ln xmlns:a="http://schemas.openxmlformats.org/drawingml/2006/main" w="0">
            <a:solidFill>
              <a:srgbClr val="D7DAD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5E3325F-FE92-4848-BF5C-D3C92106E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95850"/>
            <a:ext cx="3105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完成标准：测试有意义、可重复，失败能定位真实问题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DC99295-2543-4B60-91E8-023AF9BB3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971925"/>
            <a:ext cx="34480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2E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ABEBE30-8723-4D97-8032-A83C2E3E2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105275"/>
            <a:ext cx="3105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创建 PR / Review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28F0DA7-C32F-41EA-AC56-20A163A23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448175"/>
            <a:ext cx="3105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总结Diff→识别风险→完善说明→运行CI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03BF59A-71CB-4B89-9069-49728E079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810125"/>
            <a:ext cx="3105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F"/>
          </a:solidFill>
          <a:ln xmlns:a="http://schemas.openxmlformats.org/drawingml/2006/main" w="0">
            <a:solidFill>
              <a:srgbClr val="D7DAD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0E136C4-C841-497A-B0FB-40C9B8581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895850"/>
            <a:ext cx="3105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完成标准：审查者能理解目的、影响面、验证和回滚方式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C1B7E1F-02E4-43F4-8CDA-DCF9A763F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971925"/>
            <a:ext cx="34480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2E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997D08D-7580-4439-9811-DA9BBD4C2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105275"/>
            <a:ext cx="3105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处理文档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9579AB9-8D00-4E67-BB46-88DBDDD09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448175"/>
            <a:ext cx="3105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找未记录接口→补说明/示例→规范检查→验证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88294FF-0244-4CE6-995C-52C2FDB10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810125"/>
            <a:ext cx="3105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F"/>
          </a:solidFill>
          <a:ln xmlns:a="http://schemas.openxmlformats.org/drawingml/2006/main" w="0">
            <a:solidFill>
              <a:srgbClr val="D7DADF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7F56757-5D56-414D-9353-0AF02E47E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895850"/>
            <a:ext cx="3105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完成标准：公共API与复杂逻辑有准确、可维护的说明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B16AB61-4EF2-4DC2-A569-6DDF84756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72125"/>
            <a:ext cx="11068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8"/>
          </a:solidFill>
          <a:ln xmlns:a="http://schemas.openxmlformats.org/drawingml/2006/main" w="9525">
            <a:solidFill>
              <a:srgbClr val="9A6200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A9E05CC-AE5A-4CB2-A6F6-3E79BEDD6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24525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A62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9A6200"/>
                </a:solidFill>
                <a:latin typeface="Microsoft YaHei"/>
                <a:ea typeface="Microsoft YaHei"/>
                <a:cs typeface="Microsoft YaHei"/>
              </a:rPr>
              <a:t>三项横向控制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2F138F4-68DE-4E5B-9190-523EC7013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715000"/>
            <a:ext cx="9220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6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Plan Mode：复杂任务先只读分析  |  Subagents：按角色和最小工具权限委派  |  @文件/目录：精准注入上下文，避免全仓粘贴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27685F4-1851-40D2-9561-ADF79606D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91275"/>
            <a:ext cx="11068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F"/>
          </a:solidFill>
          <a:ln xmlns:a="http://schemas.openxmlformats.org/drawingml/2006/main" w="0">
            <a:solidFill>
              <a:srgbClr val="D7DADF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CEB7CB2-EBBC-43DE-8800-09BDF29BF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13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rPr>
              <a:t>官网资料复核：2026-07-23  |  来源：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9971e91607e4785"/>
              </a:rPr>
              <a:t>智谱：常用工作流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0FEBF7B-12FE-4513-B0F9-7A8F76721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7665882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2026-07-23T03:23:25.9630000Z</dcterms:created>
  <dcterms:modified xsi:type="dcterms:W3CDTF">2026-07-23T03:23:25.9630000Z</dcterms:modified>
</coreProperties>
</file>